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I'm &lt;name&gt;. Today, understanding a new codebase means opening five different tools. We built RepoScope to make it one. And we built the entire thing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developer tool we use does one thing well — but nothing talks to anything else. You switch tabs, rebuild context, and lose the thread. The problem isn't missing tools. It's that they don't share a brain.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realized: GitDiagram, GitReverse, Gitingest, Explain GitHub, tour tools — they all need the same foundation. So we built that foundation. Once the graph exists, everything else becomes cheap.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RepoScope. Paste any GitHub URL. You get an architecture graph, a chat that answers questions with citations, and a tracking view that tells you what changed since you last looked. All powered by one knowledge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features, one graph. The graph is the same object in every view — that's why switching modes never loses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 talks to FastAPI over SSE for streaming. FastAPI talks to three sources: a code graph MCP server, the GitHub API, and an LLM. Groq is primary, NVIDIA NIM is fallback. Zero cold starts, zero rate-limit failures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feature in RepoScope exists somewhere else as a single-purpose tool. None of them share context. We do. That's the moat.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didn't just use Bob for autocomplete. Bob designed the architecture, wrote the backend, wrote the frontend, hardened the whole thing, and wrote the documentation. This is a Bob-native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moments from the demo. Graph. Chat. Impact. If you remember one thing, remember the graph — it's what makes everything else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RepoScope is open source. Link to the repo, the live demo, and the video are in the deck.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75522" y="1432322"/>
            <a:ext cx="792956" cy="7929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274320" y="2428875"/>
            <a:ext cx="8595360" cy="337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458"/>
              </a:lnSpc>
              <a:buNone/>
            </a:pPr>
            <a:r>
              <a:rPr lang="en-US" sz="2138" b="1" spc="-64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RepoScope</a:t>
            </a:r>
            <a:endParaRPr lang="en-US" sz="2138" dirty="0"/>
          </a:p>
        </p:txBody>
      </p:sp>
      <p:sp>
        <p:nvSpPr>
          <p:cNvPr id="5" name="Text 2"/>
          <p:cNvSpPr/>
          <p:nvPr/>
        </p:nvSpPr>
        <p:spPr>
          <a:xfrm>
            <a:off x="3532491" y="2855268"/>
            <a:ext cx="2079019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See your repo. Understand it. Track it.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371975" y="4414838"/>
            <a:ext cx="400050" cy="10716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0" y="4586288"/>
            <a:ext cx="8636000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t>Built with IBM Bob + Z Code · IBM Bob 2.0 Hackathon · lablab.ai · 2026</a:t>
            </a:r>
          </a:p>
        </p:txBody>
      </p:sp>
      <p:sp>
        <p:nvSpPr>
          <p:cNvPr id="8" name="Text 5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800" dirty="0"/>
          </a:p>
        </p:txBody>
      </p:sp>
      <p:pic>
        <p:nvPicPr>
          <p:cNvPr id="9" name="Picture 8" descr="pitch-assets-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5278" y="1543050"/>
            <a:ext cx="590883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3056565" cy="249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Understanding a repo is broken.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382191" y="967978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tmp/h2p-svg-1790434702994-46dd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0056" y="1035844"/>
            <a:ext cx="171450" cy="1714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82191" y="1653778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1" descr="/tmp/h2p-svg-1790434702995-eq7cb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56" y="1721644"/>
            <a:ext cx="171450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82191" y="2339578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2" descr="/tmp/h2p-svg-1790434702995-3l42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56" y="2407444"/>
            <a:ext cx="171450" cy="17145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82191" y="3025378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3" descr="/tmp/h2p-svg-1790434702995-mdwhl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056" y="3093244"/>
            <a:ext cx="171450" cy="17145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382191" y="3711178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2" name="Image 4" descr="/tmp/h2p-svg-1790434702995-9s7jzj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056" y="3779044"/>
            <a:ext cx="171450" cy="17145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412794" y="1041536"/>
            <a:ext cx="768325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GitDiagram</a:t>
            </a:r>
            <a:endParaRPr lang="en-US" sz="900" dirty="0"/>
          </a:p>
        </p:txBody>
      </p:sp>
      <p:sp>
        <p:nvSpPr>
          <p:cNvPr id="14" name="Text 7"/>
          <p:cNvSpPr/>
          <p:nvPr/>
        </p:nvSpPr>
        <p:spPr>
          <a:xfrm>
            <a:off x="2052042" y="1041536"/>
            <a:ext cx="2716969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renders the graph, doesn't answer questions.</a:t>
            </a:r>
            <a:endParaRPr lang="en-US" sz="900" dirty="0"/>
          </a:p>
        </p:txBody>
      </p:sp>
      <p:sp>
        <p:nvSpPr>
          <p:cNvPr id="15" name="Text 8"/>
          <p:cNvSpPr/>
          <p:nvPr/>
        </p:nvSpPr>
        <p:spPr>
          <a:xfrm>
            <a:off x="1405469" y="1727336"/>
            <a:ext cx="768325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GitReverse</a:t>
            </a:r>
            <a:endParaRPr lang="en-US" sz="900" dirty="0"/>
          </a:p>
        </p:txBody>
      </p:sp>
      <p:sp>
        <p:nvSpPr>
          <p:cNvPr id="16" name="Text 9"/>
          <p:cNvSpPr/>
          <p:nvPr/>
        </p:nvSpPr>
        <p:spPr>
          <a:xfrm>
            <a:off x="2039541" y="1727336"/>
            <a:ext cx="2729471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generates a prompt, doesn't show structure.</a:t>
            </a:r>
            <a:endParaRPr lang="en-US" sz="900" dirty="0"/>
          </a:p>
        </p:txBody>
      </p:sp>
      <p:sp>
        <p:nvSpPr>
          <p:cNvPr id="17" name="Text 10"/>
          <p:cNvSpPr/>
          <p:nvPr/>
        </p:nvSpPr>
        <p:spPr>
          <a:xfrm>
            <a:off x="1410582" y="2413136"/>
            <a:ext cx="684703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Gitingest</a:t>
            </a:r>
            <a:endParaRPr lang="en-US" sz="900" dirty="0"/>
          </a:p>
        </p:txBody>
      </p:sp>
      <p:sp>
        <p:nvSpPr>
          <p:cNvPr id="18" name="Text 11"/>
          <p:cNvSpPr/>
          <p:nvPr/>
        </p:nvSpPr>
        <p:spPr>
          <a:xfrm>
            <a:off x="1931268" y="2413136"/>
            <a:ext cx="2837743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dumps text, no visualization.</a:t>
            </a:r>
            <a:endParaRPr lang="en-US" sz="900" dirty="0"/>
          </a:p>
        </p:txBody>
      </p:sp>
      <p:sp>
        <p:nvSpPr>
          <p:cNvPr id="19" name="Text 12"/>
          <p:cNvSpPr/>
          <p:nvPr/>
        </p:nvSpPr>
        <p:spPr>
          <a:xfrm>
            <a:off x="1435894" y="3098936"/>
            <a:ext cx="960087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Explain GitHub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2255081" y="3098936"/>
            <a:ext cx="2513930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Q&amp;A, no tour, no tracking.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397131" y="3784736"/>
            <a:ext cx="722467" cy="172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Tour tools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1986186" y="3784736"/>
            <a:ext cx="2782825" cy="1727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guided walkthroughs, disconnected from everything.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1435894" y="4514850"/>
            <a:ext cx="2359058" cy="14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b="1" dirty="0">
                <a:solidFill>
                  <a:srgbClr val="D4AF3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Five tabs. Five mental models. Zero cohesion.</a:t>
            </a:r>
            <a:endParaRPr lang="en-US" sz="788" dirty="0"/>
          </a:p>
        </p:txBody>
      </p:sp>
      <p:sp>
        <p:nvSpPr>
          <p:cNvPr id="24" name="Text 17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2105888" cy="249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Five tools become one.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3068241" y="1017984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tmp/h2p-svg-1790434702986-hc12g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50394" y="1100138"/>
            <a:ext cx="142875" cy="1428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68241" y="1389459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1" descr="/tmp/h2p-svg-1790434702988-i21mk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394" y="1471613"/>
            <a:ext cx="142875" cy="14287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068241" y="1760934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2" descr="/tmp/h2p-svg-1790434702988-93fsk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394" y="1843088"/>
            <a:ext cx="142875" cy="14287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068241" y="2132409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0" name="Image 3" descr="/tmp/h2p-svg-1790434702988-qwta8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0394" y="2214563"/>
            <a:ext cx="142875" cy="14287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3068241" y="2503884"/>
            <a:ext cx="307181" cy="3071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2" name="Image 4" descr="/tmp/h2p-svg-1790434702988-soypcq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0394" y="2586038"/>
            <a:ext cx="142875" cy="142875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3807619" y="1803797"/>
            <a:ext cx="914400" cy="200025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7"/>
          <p:cNvSpPr/>
          <p:nvPr/>
        </p:nvSpPr>
        <p:spPr>
          <a:xfrm>
            <a:off x="3807619" y="1807369"/>
            <a:ext cx="914400" cy="0"/>
          </a:xfrm>
          <a:prstGeom prst="line">
            <a:avLst/>
          </a:prstGeom>
          <a:noFill/>
          <a:ln w="7144">
            <a:solidFill>
              <a:srgbClr val="1A1A1A"/>
            </a:solidFill>
            <a:prstDash val="solid"/>
          </a:ln>
        </p:spPr>
      </p:sp>
      <p:sp>
        <p:nvSpPr>
          <p:cNvPr id="15" name="Shape 8"/>
          <p:cNvSpPr/>
          <p:nvPr/>
        </p:nvSpPr>
        <p:spPr>
          <a:xfrm>
            <a:off x="3807619" y="2000250"/>
            <a:ext cx="914400" cy="0"/>
          </a:xfrm>
          <a:prstGeom prst="line">
            <a:avLst/>
          </a:prstGeom>
          <a:noFill/>
          <a:ln w="7144">
            <a:solidFill>
              <a:srgbClr val="1A1A1A"/>
            </a:solidFill>
            <a:prstDash val="solid"/>
          </a:ln>
        </p:spPr>
      </p:sp>
      <p:sp>
        <p:nvSpPr>
          <p:cNvPr id="16" name="Shape 9"/>
          <p:cNvSpPr/>
          <p:nvPr/>
        </p:nvSpPr>
        <p:spPr>
          <a:xfrm>
            <a:off x="3811191" y="1803797"/>
            <a:ext cx="0" cy="200025"/>
          </a:xfrm>
          <a:prstGeom prst="line">
            <a:avLst/>
          </a:prstGeom>
          <a:noFill/>
          <a:ln w="7144">
            <a:solidFill>
              <a:srgbClr val="1A1A1A"/>
            </a:solidFill>
            <a:prstDash val="solid"/>
          </a:ln>
        </p:spPr>
      </p:sp>
      <p:sp>
        <p:nvSpPr>
          <p:cNvPr id="17" name="Text 10"/>
          <p:cNvSpPr/>
          <p:nvPr/>
        </p:nvSpPr>
        <p:spPr>
          <a:xfrm>
            <a:off x="3626069" y="2128838"/>
            <a:ext cx="1520386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810"/>
              </a:lnSpc>
              <a:buNone/>
            </a:pPr>
            <a:r>
              <a:rPr lang="en-US" sz="800" spc="27" kern="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graph</a:t>
            </a:r>
            <a:endParaRPr lang="en-US" sz="800" dirty="0"/>
          </a:p>
        </p:txBody>
      </p:sp>
      <p:sp>
        <p:nvSpPr>
          <p:cNvPr id="18" name="Text 11"/>
          <p:cNvSpPr/>
          <p:nvPr/>
        </p:nvSpPr>
        <p:spPr>
          <a:xfrm>
            <a:off x="5397103" y="1575197"/>
            <a:ext cx="678656" cy="6786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9" name="Image 5" descr="/tmp/h2p-svg-1790434702989-vzy3c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6406" y="1714500"/>
            <a:ext cx="400050" cy="40005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857375" y="3128963"/>
            <a:ext cx="5429250" cy="39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one of those tools needs the same thing: a knowledge graph of the repo — files, functions, imports, commits, PRs, issues, owners, incidents.</a:t>
            </a:r>
            <a:endParaRPr lang="en-US" sz="900" dirty="0"/>
          </a:p>
        </p:txBody>
      </p:sp>
      <p:sp>
        <p:nvSpPr>
          <p:cNvPr id="21" name="Text 13"/>
          <p:cNvSpPr/>
          <p:nvPr/>
        </p:nvSpPr>
        <p:spPr>
          <a:xfrm>
            <a:off x="1857375" y="3580358"/>
            <a:ext cx="5429250" cy="19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Build that graph once. Then every feature is a view on top.</a:t>
            </a:r>
            <a:endParaRPr lang="en-US" sz="900" dirty="0"/>
          </a:p>
        </p:txBody>
      </p:sp>
      <p:sp>
        <p:nvSpPr>
          <p:cNvPr id="22" name="Text 14"/>
          <p:cNvSpPr/>
          <p:nvPr/>
        </p:nvSpPr>
        <p:spPr>
          <a:xfrm>
            <a:off x="2842766" y="4182666"/>
            <a:ext cx="3458468" cy="459991"/>
          </a:xfrm>
          <a:prstGeom prst="rect">
            <a:avLst/>
          </a:prstGeom>
          <a:solidFill>
            <a:srgbClr val="FAF7F0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5"/>
          <p:cNvSpPr/>
          <p:nvPr/>
        </p:nvSpPr>
        <p:spPr>
          <a:xfrm>
            <a:off x="3017788" y="4329113"/>
            <a:ext cx="3108424" cy="167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The graph is the product. Everything else is a lens.</a:t>
            </a:r>
            <a:endParaRPr lang="en-US" sz="1013" dirty="0"/>
          </a:p>
        </p:txBody>
      </p:sp>
      <p:sp>
        <p:nvSpPr>
          <p:cNvPr id="24" name="Text 16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4788422" cy="249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RepoScope — the workspace for any GitHub repo.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1432322" y="1017984"/>
            <a:ext cx="6279356" cy="2778919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78619" y="4171950"/>
            <a:ext cx="3909049" cy="157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b="1" spc="-29" kern="0" dirty="0">
                <a:solidFill>
                  <a:srgbClr val="10B98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Ask.</a:t>
            </a:r>
            <a:endParaRPr lang="en-US" sz="956" dirty="0"/>
          </a:p>
        </p:txBody>
      </p:sp>
      <p:sp>
        <p:nvSpPr>
          <p:cNvPr id="8" name="Text 6"/>
          <p:cNvSpPr/>
          <p:nvPr/>
        </p:nvSpPr>
        <p:spPr>
          <a:xfrm>
            <a:off x="378619" y="4374766"/>
            <a:ext cx="24740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Natural-language Q&amp;A with file, function, and commit citations.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167025" y="4171950"/>
            <a:ext cx="10716" cy="48142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492066" y="4171950"/>
            <a:ext cx="3412415" cy="157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b="1" spc="-29" kern="0" dirty="0">
                <a:solidFill>
                  <a:srgbClr val="10B98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See.</a:t>
            </a:r>
            <a:endParaRPr lang="en-US" sz="956" dirty="0"/>
          </a:p>
        </p:txBody>
      </p:sp>
      <p:sp>
        <p:nvSpPr>
          <p:cNvPr id="11" name="Text 9"/>
          <p:cNvSpPr/>
          <p:nvPr/>
        </p:nvSpPr>
        <p:spPr>
          <a:xfrm>
            <a:off x="3492066" y="4374766"/>
            <a:ext cx="21597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Interactive architecture graph that groups nodes by layer.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66147" y="4171950"/>
            <a:ext cx="10716" cy="48142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291188" y="4171950"/>
            <a:ext cx="2852812" cy="1573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956" b="1" spc="-29" kern="0" dirty="0">
                <a:solidFill>
                  <a:srgbClr val="10B98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Track.</a:t>
            </a:r>
            <a:endParaRPr lang="en-US" sz="956" dirty="0"/>
          </a:p>
        </p:txBody>
      </p:sp>
      <p:sp>
        <p:nvSpPr>
          <p:cNvPr id="14" name="Text 12"/>
          <p:cNvSpPr/>
          <p:nvPr/>
        </p:nvSpPr>
        <p:spPr>
          <a:xfrm>
            <a:off x="6291188" y="4374766"/>
            <a:ext cx="24741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Commits, PRs, issues, and releases — checked on demand.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800" dirty="0"/>
          </a:p>
        </p:txBody>
      </p:sp>
      <p:pic>
        <p:nvPicPr>
          <p:cNvPr id="16" name="Picture 15" descr="pitch-assets-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3896" y="1033271"/>
            <a:ext cx="6245352" cy="2743200"/>
          </a:xfrm>
          <a:prstGeom prst="rect">
            <a:avLst/>
          </a:prstGeom>
          <a:ln w="19050">
            <a:solidFill>
              <a:srgbClr val="141414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2307124" cy="249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What you get on day one.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382191" y="1010841"/>
            <a:ext cx="2693194" cy="17073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tmp/h2p-svg-1790434708810-dj73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638" y="1157288"/>
            <a:ext cx="185738" cy="1857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8638" y="1471613"/>
            <a:ext cx="1271570" cy="163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956" b="1" spc="-1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Architecture Graph</a:t>
            </a:r>
            <a:endParaRPr lang="en-US" sz="956" dirty="0"/>
          </a:p>
        </p:txBody>
      </p:sp>
      <p:sp>
        <p:nvSpPr>
          <p:cNvPr id="6" name="Text 3"/>
          <p:cNvSpPr/>
          <p:nvPr/>
        </p:nvSpPr>
        <p:spPr>
          <a:xfrm>
            <a:off x="528638" y="1680567"/>
            <a:ext cx="24003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Interactive layered diagram — client, backend, storage, external, compute.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225403" y="1010841"/>
            <a:ext cx="2693194" cy="17073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1" descr="/tmp/h2p-svg-1790434708810-1hb7y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1850" y="1157288"/>
            <a:ext cx="185738" cy="18573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71850" y="1471613"/>
            <a:ext cx="1358565" cy="163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956" b="1" spc="-1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Conversational Q&amp;A</a:t>
            </a:r>
            <a:endParaRPr lang="en-US" sz="956" dirty="0"/>
          </a:p>
        </p:txBody>
      </p:sp>
      <p:sp>
        <p:nvSpPr>
          <p:cNvPr id="10" name="Text 6"/>
          <p:cNvSpPr/>
          <p:nvPr/>
        </p:nvSpPr>
        <p:spPr>
          <a:xfrm>
            <a:off x="3371850" y="1680567"/>
            <a:ext cx="24003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Ask anything. Answers cite files, functions, and commit SHAs.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6068616" y="1010841"/>
            <a:ext cx="2693194" cy="17073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2" name="Image 2" descr="/tmp/h2p-svg-1790434708810-42p8x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063" y="1157288"/>
            <a:ext cx="185738" cy="18573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207127" y="1471613"/>
            <a:ext cx="781952" cy="163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956" b="1" spc="-1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Code Tours</a:t>
            </a:r>
            <a:endParaRPr lang="en-US" sz="956" dirty="0"/>
          </a:p>
        </p:txBody>
      </p:sp>
      <p:sp>
        <p:nvSpPr>
          <p:cNvPr id="14" name="Text 9"/>
          <p:cNvSpPr/>
          <p:nvPr/>
        </p:nvSpPr>
        <p:spPr>
          <a:xfrm>
            <a:off x="6215063" y="1680567"/>
            <a:ext cx="2224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Guided walkthroughs of any module, step by step.</a:t>
            </a:r>
            <a:endParaRPr lang="en-US" sz="731" dirty="0"/>
          </a:p>
        </p:txBody>
      </p:sp>
      <p:sp>
        <p:nvSpPr>
          <p:cNvPr id="15" name="Text 10"/>
          <p:cNvSpPr/>
          <p:nvPr/>
        </p:nvSpPr>
        <p:spPr>
          <a:xfrm>
            <a:off x="382191" y="2868216"/>
            <a:ext cx="2693194" cy="17073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3" descr="/tmp/h2p-svg-1790434708810-rysvf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638" y="3014663"/>
            <a:ext cx="185738" cy="18573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8638" y="3328988"/>
            <a:ext cx="1057156" cy="163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956" b="1" spc="-1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Impact Analysis</a:t>
            </a:r>
            <a:endParaRPr lang="en-US" sz="956" dirty="0"/>
          </a:p>
        </p:txBody>
      </p:sp>
      <p:sp>
        <p:nvSpPr>
          <p:cNvPr id="18" name="Text 12"/>
          <p:cNvSpPr/>
          <p:nvPr/>
        </p:nvSpPr>
        <p:spPr>
          <a:xfrm>
            <a:off x="528638" y="3537942"/>
            <a:ext cx="24003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"What breaks if I change this?" — with blast radius on the graph.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3225403" y="2868216"/>
            <a:ext cx="2693194" cy="17073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0" name="Image 4" descr="/tmp/h2p-svg-1790434708810-qlb3t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850" y="3014663"/>
            <a:ext cx="185738" cy="18573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371850" y="3328988"/>
            <a:ext cx="1458642" cy="163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956" b="1" spc="-1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Reverse Build Prompt</a:t>
            </a:r>
            <a:endParaRPr lang="en-US" sz="956" dirty="0"/>
          </a:p>
        </p:txBody>
      </p:sp>
      <p:sp>
        <p:nvSpPr>
          <p:cNvPr id="22" name="Text 15"/>
          <p:cNvSpPr/>
          <p:nvPr/>
        </p:nvSpPr>
        <p:spPr>
          <a:xfrm>
            <a:off x="3371850" y="3537942"/>
            <a:ext cx="23454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731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Turn any repo into an agent-ready prompt that rebuilds it.</a:t>
            </a:r>
            <a:endParaRPr lang="en-US" sz="731" dirty="0"/>
          </a:p>
        </p:txBody>
      </p:sp>
      <p:sp>
        <p:nvSpPr>
          <p:cNvPr id="23" name="Text 16"/>
          <p:cNvSpPr/>
          <p:nvPr/>
        </p:nvSpPr>
        <p:spPr>
          <a:xfrm>
            <a:off x="6068616" y="2868216"/>
            <a:ext cx="2693194" cy="17073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4" name="Image 5" descr="/tmp/h2p-svg-1790434708810-9izu7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5063" y="3014663"/>
            <a:ext cx="185738" cy="18573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215063" y="3328988"/>
            <a:ext cx="1137479" cy="163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95"/>
              </a:lnSpc>
              <a:buNone/>
            </a:pPr>
            <a:r>
              <a:rPr lang="en-US" sz="956" b="1" spc="-10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BYOK + Tracking</a:t>
            </a:r>
            <a:endParaRPr lang="en-US" sz="956" dirty="0"/>
          </a:p>
        </p:txBody>
      </p:sp>
      <p:sp>
        <p:nvSpPr>
          <p:cNvPr id="26" name="Text 18"/>
          <p:cNvSpPr/>
          <p:nvPr/>
        </p:nvSpPr>
        <p:spPr>
          <a:xfrm>
            <a:off x="6215063" y="3537942"/>
            <a:ext cx="24003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Paste your GitHub PAT to access private repos. Track commits, PRs, and releases on demand.</a:t>
            </a:r>
            <a:endParaRPr lang="en-US" sz="800" dirty="0"/>
          </a:p>
        </p:txBody>
      </p:sp>
      <p:sp>
        <p:nvSpPr>
          <p:cNvPr id="27" name="Text 19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3284696" cy="249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Built on a single knowledge graph.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1146572" y="1146572"/>
            <a:ext cx="1564481" cy="6500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671526" y="1330858"/>
            <a:ext cx="735680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 UI</a:t>
            </a:r>
            <a:endParaRPr lang="en-US" sz="844" dirty="0"/>
          </a:p>
        </p:txBody>
      </p:sp>
      <p:sp>
        <p:nvSpPr>
          <p:cNvPr id="5" name="Text 3"/>
          <p:cNvSpPr/>
          <p:nvPr/>
        </p:nvSpPr>
        <p:spPr>
          <a:xfrm>
            <a:off x="1645853" y="1509452"/>
            <a:ext cx="707399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(Vite + TS)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467451" y="1293019"/>
            <a:ext cx="1623060" cy="109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75"/>
              </a:lnSpc>
              <a:buNone/>
            </a:pPr>
            <a:r>
              <a:rPr lang="en-US" sz="800" spc="54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771775" y="1464469"/>
            <a:ext cx="928688" cy="14288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789759" y="1146572"/>
            <a:ext cx="1564481" cy="650081"/>
          </a:xfrm>
          <a:prstGeom prst="rect">
            <a:avLst/>
          </a:prstGeom>
          <a:solidFill>
            <a:srgbClr val="FFFFFF"/>
          </a:solidFill>
          <a:ln w="7144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89685" y="1330858"/>
            <a:ext cx="1205787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FastAPI Backend</a:t>
            </a:r>
            <a:endParaRPr lang="en-US" sz="844" dirty="0"/>
          </a:p>
        </p:txBody>
      </p:sp>
      <p:sp>
        <p:nvSpPr>
          <p:cNvPr id="10" name="Text 8"/>
          <p:cNvSpPr/>
          <p:nvPr/>
        </p:nvSpPr>
        <p:spPr>
          <a:xfrm>
            <a:off x="4235600" y="1509452"/>
            <a:ext cx="840008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(Python 3.11)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64856" y="1800225"/>
            <a:ext cx="14288" cy="1214438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35981" y="2643188"/>
            <a:ext cx="4872038" cy="14288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135981" y="2657475"/>
            <a:ext cx="14288" cy="357188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93731" y="2657475"/>
            <a:ext cx="14288" cy="357188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46572" y="3075384"/>
            <a:ext cx="1993106" cy="6500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32223" y="3259671"/>
            <a:ext cx="1527256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codebase-memory-mcp</a:t>
            </a:r>
            <a:endParaRPr lang="en-US" sz="844" dirty="0"/>
          </a:p>
        </p:txBody>
      </p:sp>
      <p:sp>
        <p:nvSpPr>
          <p:cNvPr id="17" name="Text 15"/>
          <p:cNvSpPr/>
          <p:nvPr/>
        </p:nvSpPr>
        <p:spPr>
          <a:xfrm>
            <a:off x="1834381" y="3438265"/>
            <a:ext cx="771720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(code graph)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575447" y="3075384"/>
            <a:ext cx="1993106" cy="6500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993245" y="3336131"/>
            <a:ext cx="1446888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dirty="0">
                <a:solidFill>
                  <a:srgbClr val="1A1A1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GitHub REST API v3</a:t>
            </a:r>
            <a:endParaRPr lang="en-US" sz="844" dirty="0"/>
          </a:p>
        </p:txBody>
      </p:sp>
      <p:sp>
        <p:nvSpPr>
          <p:cNvPr id="20" name="Text 18"/>
          <p:cNvSpPr/>
          <p:nvPr/>
        </p:nvSpPr>
        <p:spPr>
          <a:xfrm>
            <a:off x="6004322" y="3075384"/>
            <a:ext cx="1993106" cy="6500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679295" y="3259671"/>
            <a:ext cx="803811" cy="138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Groq / NIM</a:t>
            </a:r>
            <a:endParaRPr lang="en-US" sz="844" dirty="0"/>
          </a:p>
        </p:txBody>
      </p:sp>
      <p:sp>
        <p:nvSpPr>
          <p:cNvPr id="22" name="Text 20"/>
          <p:cNvSpPr/>
          <p:nvPr/>
        </p:nvSpPr>
        <p:spPr>
          <a:xfrm>
            <a:off x="6512086" y="3438265"/>
            <a:ext cx="1221832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(OpenAI-compatible)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169133" y="4287589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283433" y="4257675"/>
            <a:ext cx="1219853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75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Graph built once at repo load.</a:t>
            </a:r>
            <a:endParaRPr lang="en-US" sz="675" dirty="0"/>
          </a:p>
        </p:txBody>
      </p:sp>
      <p:sp>
        <p:nvSpPr>
          <p:cNvPr id="25" name="Text 23"/>
          <p:cNvSpPr/>
          <p:nvPr/>
        </p:nvSpPr>
        <p:spPr>
          <a:xfrm>
            <a:off x="3812977" y="4287589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927277" y="4257675"/>
            <a:ext cx="1286638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75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feature is a query on top.</a:t>
            </a:r>
            <a:endParaRPr lang="en-US" sz="675" dirty="0"/>
          </a:p>
        </p:txBody>
      </p:sp>
      <p:sp>
        <p:nvSpPr>
          <p:cNvPr id="27" name="Text 25"/>
          <p:cNvSpPr/>
          <p:nvPr/>
        </p:nvSpPr>
        <p:spPr>
          <a:xfrm>
            <a:off x="5518658" y="4287589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632958" y="4257675"/>
            <a:ext cx="1449141" cy="131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75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Groq primary, NVIDIA NIM fallback.</a:t>
            </a:r>
            <a:endParaRPr lang="en-US" sz="675" dirty="0"/>
          </a:p>
        </p:txBody>
      </p:sp>
      <p:sp>
        <p:nvSpPr>
          <p:cNvPr id="29" name="Text 27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2810508" cy="249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Five tools vs. one workspace.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382191" y="1032272"/>
            <a:ext cx="8379619" cy="296465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5763" y="1035844"/>
          <a:ext cx="8372475" cy="914400"/>
        </p:xfrm>
        <a:graphic>
          <a:graphicData uri="http://schemas.openxmlformats.org/drawingml/2006/table">
            <a:tbl>
              <a:tblPr/>
              <a:tblGrid>
                <a:gridCol w="2430884"/>
                <a:gridCol w="3002831"/>
                <a:gridCol w="29387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Capability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The 5 tools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RepoScope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Architecture graph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GitDiagram only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Reverse prompt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GitReverse only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Repo summary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Gitingest only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Chat Q&amp;A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Explain GitHub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Guided tours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Separate tool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Track changes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None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Impact analysis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None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Built in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Private repos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B6B6B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Paywalls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rlito" pitchFamily="34" charset="0"/>
                          <a:ea typeface="Carlito" pitchFamily="34" charset="-122"/>
                          <a:cs typeface="Carlito" pitchFamily="34" charset="-120"/>
                        </a:rPr>
                        <a:t>✅ BYOK</a:t>
                      </a:r>
                      <a:endParaRPr lang="en-US" sz="800" dirty="0">
                        <a:latin typeface="Carlito" charset="0"/>
                        <a:ea typeface="Carlito" charset="0"/>
                        <a:cs typeface="Carlito" charset="0"/>
                      </a:endParaRPr>
                    </a:p>
                  </a:txBody>
                  <a:tcPr marL="0" marR="171450" marT="171450" marB="0" anchor="ctr">
                    <a:lnL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78619" y="4329113"/>
            <a:ext cx="3790652" cy="138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44" b="1" spc="-8" kern="0" dirty="0">
                <a:solidFill>
                  <a:srgbClr val="10B98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Every other tool does one thing. RepoScope does all of them, on one graph.</a:t>
            </a:r>
            <a:endParaRPr lang="en-US" sz="844" dirty="0"/>
          </a:p>
        </p:txBody>
      </p:sp>
      <p:sp>
        <p:nvSpPr>
          <p:cNvPr id="6" name="Text 3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2568256" cy="260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600"/>
              <a:t>Built with IBM Bob + Z Code</a:t>
            </a:r>
          </a:p>
        </p:txBody>
      </p:sp>
      <p:sp>
        <p:nvSpPr>
          <p:cNvPr id="3" name="Text 1"/>
          <p:cNvSpPr/>
          <p:nvPr/>
        </p:nvSpPr>
        <p:spPr>
          <a:xfrm>
            <a:off x="378619" y="1171575"/>
            <a:ext cx="546498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USED BOB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78619" y="1546622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21494" y="1489472"/>
            <a:ext cx="4286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Architecture design</a:t>
            </a:r>
            <a:pPr algn="l" indent="0" marL="0">
              <a:lnSpc>
                <a:spcPts val="1266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Bob drafted the module layout.</a:t>
            </a:r>
            <a:endParaRPr lang="en-US" sz="844" dirty="0"/>
          </a:p>
        </p:txBody>
      </p:sp>
      <p:sp>
        <p:nvSpPr>
          <p:cNvPr id="6" name="Text 4"/>
          <p:cNvSpPr/>
          <p:nvPr/>
        </p:nvSpPr>
        <p:spPr>
          <a:xfrm>
            <a:off x="378619" y="1878806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21494" y="1821656"/>
            <a:ext cx="4286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Backend</a:t>
            </a:r>
            <a:pPr algn="l" indent="0" marL="0">
              <a:lnSpc>
                <a:spcPts val="1266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Bob wrote FastAPI endpoints, MCP client, and the graph builder.</a:t>
            </a:r>
            <a:endParaRPr lang="en-US" sz="844" dirty="0"/>
          </a:p>
        </p:txBody>
      </p:sp>
      <p:sp>
        <p:nvSpPr>
          <p:cNvPr id="8" name="Text 6"/>
          <p:cNvSpPr/>
          <p:nvPr/>
        </p:nvSpPr>
        <p:spPr>
          <a:xfrm>
            <a:off x="378619" y="2210991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21494" y="2153841"/>
            <a:ext cx="4286250" cy="347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Frontend</a:t>
            </a:r>
            <a:pPr algn="l" indent="0" marL="0">
              <a:lnSpc>
                <a:spcPts val="1266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Bob wrote the React components, the graph renderer, and the SSE client.</a:t>
            </a:r>
            <a:endParaRPr lang="en-US" sz="844" dirty="0"/>
          </a:p>
        </p:txBody>
      </p:sp>
      <p:sp>
        <p:nvSpPr>
          <p:cNvPr id="10" name="Text 8"/>
          <p:cNvSpPr/>
          <p:nvPr/>
        </p:nvSpPr>
        <p:spPr>
          <a:xfrm>
            <a:off x="378619" y="2703909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21494" y="2646759"/>
            <a:ext cx="4286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Hardening</a:t>
            </a:r>
            <a:pPr algn="l" indent="0" marL="0">
              <a:lnSpc>
                <a:spcPts val="1266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Bob added error boundaries, race guards, and validation.</a:t>
            </a:r>
            <a:endParaRPr lang="en-US" sz="844" dirty="0"/>
          </a:p>
        </p:txBody>
      </p:sp>
      <p:sp>
        <p:nvSpPr>
          <p:cNvPr id="12" name="Text 10"/>
          <p:cNvSpPr/>
          <p:nvPr/>
        </p:nvSpPr>
        <p:spPr>
          <a:xfrm>
            <a:off x="378619" y="3036094"/>
            <a:ext cx="42863" cy="42863"/>
          </a:xfrm>
          <a:prstGeom prst="rect">
            <a:avLst/>
          </a:prstGeom>
          <a:solidFill>
            <a:srgbClr val="10B98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21494" y="2978944"/>
            <a:ext cx="4286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Documentation</a:t>
            </a:r>
            <a:pPr algn="l" indent="0" marL="0">
              <a:lnSpc>
                <a:spcPts val="1266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Bob wrote every markdown file in the repo.</a:t>
            </a:r>
            <a:endParaRPr lang="en-US" sz="844" dirty="0"/>
          </a:p>
        </p:txBody>
      </p:sp>
      <p:sp>
        <p:nvSpPr>
          <p:cNvPr id="14" name="Text 12"/>
          <p:cNvSpPr/>
          <p:nvPr/>
        </p:nvSpPr>
        <p:spPr>
          <a:xfrm>
            <a:off x="5122069" y="1171575"/>
            <a:ext cx="402193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5641" y="1493044"/>
            <a:ext cx="3350419" cy="2135981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22069" y="3804047"/>
            <a:ext cx="3357563" cy="3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/>
              <a:t>Most tasks ran through IBM Bob; Z Code (GLM) paired on the complex ones — graph layout, hardening, and this deck.</a:t>
            </a:r>
          </a:p>
        </p:txBody>
      </p:sp>
      <p:sp>
        <p:nvSpPr>
          <p:cNvPr id="20" name="Text 18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08</a:t>
            </a:r>
            <a:endParaRPr lang="en-US" sz="800" dirty="0"/>
          </a:p>
        </p:txBody>
      </p:sp>
      <p:pic>
        <p:nvPicPr>
          <p:cNvPr id="21" name="Picture 20" descr="pitch-assets-bob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1508760"/>
            <a:ext cx="3310128" cy="2103120"/>
          </a:xfrm>
          <a:prstGeom prst="rect">
            <a:avLst/>
          </a:prstGeom>
          <a:ln w="19050">
            <a:solidFill>
              <a:srgbClr val="141414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619" y="378619"/>
            <a:ext cx="2538666" cy="260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8"/>
              </a:lnSpc>
              <a:buNone/>
            </a:pPr>
            <a:r>
              <a:rPr lang="en-US" sz="1519" b="1" spc="-46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What it looks like in action.</a:t>
            </a:r>
            <a:endParaRPr lang="en-US" sz="1519" dirty="0"/>
          </a:p>
        </p:txBody>
      </p:sp>
      <p:sp>
        <p:nvSpPr>
          <p:cNvPr id="3" name="Text 1"/>
          <p:cNvSpPr/>
          <p:nvPr/>
        </p:nvSpPr>
        <p:spPr>
          <a:xfrm>
            <a:off x="382191" y="1175147"/>
            <a:ext cx="8379619" cy="96440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89359" y="1518047"/>
            <a:ext cx="278606" cy="27860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85788" y="1514475"/>
            <a:ext cx="2857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24908" y="1571625"/>
            <a:ext cx="2586176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Paste a URL. The graph renders in seconds.</a:t>
            </a:r>
            <a:endParaRPr lang="en-US" sz="900" dirty="0"/>
          </a:p>
        </p:txBody>
      </p:sp>
      <p:pic>
        <p:nvPicPr>
          <p:cNvPr id="9" name="Image 0" descr="/tmp/h2p-svg-1790434714492-fgxz0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2475" y="1564481"/>
            <a:ext cx="185738" cy="18573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82191" y="2275284"/>
            <a:ext cx="8379619" cy="96440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89359" y="2618184"/>
            <a:ext cx="278606" cy="27860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585788" y="2614613"/>
            <a:ext cx="2857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363715" y="2671763"/>
            <a:ext cx="2857415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Ask 'How does auth work?' — get cited answers.</a:t>
            </a:r>
            <a:endParaRPr lang="en-US" sz="900" dirty="0"/>
          </a:p>
        </p:txBody>
      </p:sp>
      <p:pic>
        <p:nvPicPr>
          <p:cNvPr id="16" name="Image 1" descr="/tmp/h2p-svg-1790434714492-1h7u7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2475" y="2664619"/>
            <a:ext cx="185738" cy="18573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82191" y="3375422"/>
            <a:ext cx="8379619" cy="96440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589359" y="3718322"/>
            <a:ext cx="278606" cy="278606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585788" y="3714750"/>
            <a:ext cx="2857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5856268" y="3771900"/>
            <a:ext cx="2345918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Change a function. See the blast radius.</a:t>
            </a:r>
            <a:endParaRPr lang="en-US" sz="900" dirty="0"/>
          </a:p>
        </p:txBody>
      </p:sp>
      <p:pic>
        <p:nvPicPr>
          <p:cNvPr id="23" name="Image 2" descr="/tmp/h2p-svg-1790434714492-0a4xw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2475" y="3764756"/>
            <a:ext cx="185738" cy="18573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09</a:t>
            </a:r>
            <a:endParaRPr lang="en-US" sz="800" dirty="0"/>
          </a:p>
        </p:txBody>
      </p:sp>
      <p:pic>
        <p:nvPicPr>
          <p:cNvPr id="25" name="Picture 24" descr="pitch-assets-thumb-graph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2415" y="1248299"/>
            <a:ext cx="2194560" cy="813816"/>
          </a:xfrm>
          <a:prstGeom prst="rect">
            <a:avLst/>
          </a:prstGeom>
          <a:ln w="19050">
            <a:solidFill>
              <a:srgbClr val="141414"/>
            </a:solidFill>
          </a:ln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2415" y="2350008"/>
            <a:ext cx="2194560" cy="813816"/>
          </a:xfrm>
          <a:prstGeom prst="rect">
            <a:avLst/>
          </a:prstGeom>
          <a:ln w="19050">
            <a:solidFill>
              <a:srgbClr val="141414"/>
            </a:solidFill>
          </a:ln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2415" y="3447288"/>
            <a:ext cx="2194560" cy="813816"/>
          </a:xfrm>
          <a:prstGeom prst="rect">
            <a:avLst/>
          </a:prstGeom>
          <a:ln w="19050">
            <a:solidFill>
              <a:srgbClr val="141414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47556" y="1204057"/>
            <a:ext cx="1919691" cy="296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spc="-54" kern="0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Try RepoScope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69655" y="1592610"/>
            <a:ext cx="1949065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See your repo. Understand it. Track it.</a:t>
            </a:r>
            <a:endParaRPr lang="en-US" sz="844" dirty="0"/>
          </a:p>
        </p:txBody>
      </p:sp>
      <p:sp>
        <p:nvSpPr>
          <p:cNvPr id="4" name="Text 2"/>
          <p:cNvSpPr/>
          <p:nvPr/>
        </p:nvSpPr>
        <p:spPr>
          <a:xfrm>
            <a:off x="760809" y="2156966"/>
            <a:ext cx="2421731" cy="1064419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5" name="Image 0" descr="/tmp/h2p-svg-1790434714499-vgcry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5950" y="2367707"/>
            <a:ext cx="171450" cy="1714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93031" y="2653457"/>
            <a:ext cx="457300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GitHub</a:t>
            </a:r>
            <a:endParaRPr lang="en-US" sz="844" dirty="0"/>
          </a:p>
        </p:txBody>
      </p:sp>
      <p:sp>
        <p:nvSpPr>
          <p:cNvPr id="7" name="Text 4"/>
          <p:cNvSpPr/>
          <p:nvPr/>
        </p:nvSpPr>
        <p:spPr>
          <a:xfrm>
            <a:off x="1008385" y="2871341"/>
            <a:ext cx="20805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7" kern="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github.com/&lt;your-handle&gt;/reposcope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3361134" y="2156966"/>
            <a:ext cx="2421731" cy="1064419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9" name="Image 1" descr="/tmp/h2p-svg-1790434714499-yilhr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275" y="2367707"/>
            <a:ext cx="171450" cy="17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07012" y="2653457"/>
            <a:ext cx="678371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Live demo</a:t>
            </a:r>
            <a:endParaRPr lang="en-US" sz="844" dirty="0"/>
          </a:p>
        </p:txBody>
      </p:sp>
      <p:sp>
        <p:nvSpPr>
          <p:cNvPr id="11" name="Text 7"/>
          <p:cNvSpPr/>
          <p:nvPr/>
        </p:nvSpPr>
        <p:spPr>
          <a:xfrm>
            <a:off x="4005300" y="2871341"/>
            <a:ext cx="141661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7" kern="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reposcope.vercel.app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5961459" y="2156966"/>
            <a:ext cx="2421731" cy="1064419"/>
          </a:xfrm>
          <a:prstGeom prst="rect">
            <a:avLst/>
          </a:prstGeom>
          <a:solidFill>
            <a:srgbClr val="FFFFFF"/>
          </a:solidFill>
          <a:ln w="7144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3882" dir="2700000">
              <a:srgbClr val="1A1A1A">
                <a:alpha val="5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2" descr="/tmp/h2p-svg-1790434714499-w6qxq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367707"/>
            <a:ext cx="171450" cy="17145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27329" y="2653457"/>
            <a:ext cx="458010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dirty="0">
                <a:solidFill>
                  <a:srgbClr val="1A1A1A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Video</a:t>
            </a:r>
            <a:endParaRPr lang="en-US" sz="844" dirty="0"/>
          </a:p>
        </p:txBody>
      </p:sp>
      <p:sp>
        <p:nvSpPr>
          <p:cNvPr id="15" name="Text 10"/>
          <p:cNvSpPr/>
          <p:nvPr/>
        </p:nvSpPr>
        <p:spPr>
          <a:xfrm>
            <a:off x="6633976" y="2871341"/>
            <a:ext cx="13457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spc="7" kern="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youtu.be/&lt;video-id&gt;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0" y="4536281"/>
            <a:ext cx="863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spc="23" kern="0" dirty="0">
                <a:solidFill>
                  <a:srgbClr val="6B6B6B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Built with IBM Bob · IBM Bob 2.0 Hackathon · lablab.ai · 2026</a:t>
            </a:r>
            <a:endParaRPr lang="en-US" sz="800" dirty="0"/>
          </a:p>
        </p:txBody>
      </p:sp>
      <p:sp>
        <p:nvSpPr>
          <p:cNvPr id="17" name="Text 12"/>
          <p:cNvSpPr/>
          <p:nvPr/>
        </p:nvSpPr>
        <p:spPr>
          <a:xfrm>
            <a:off x="8830589" y="4857750"/>
            <a:ext cx="1842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14" kern="0" dirty="0">
                <a:solidFill>
                  <a:srgbClr val="6B6B6B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2026-09-26T14:58:34Z</dcterms:created>
  <dcterms:modified xsi:type="dcterms:W3CDTF">2026-09-26T14:58:34Z</dcterms:modified>
</cp:coreProperties>
</file>