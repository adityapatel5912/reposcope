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RepoScope. If you have ever joined a new codebase, you know the drill: understanding a new repo used to mean five browser tabs — the file tree in one, a pull request in another, search in a third, and docs you never quite trust. RepoScope collapses all of that into one workspace built on a single knowledge graph: every file, import, commit, and dependency becomes a node you can see, query, and tour. Today we are shipping version 3.0, which adds five new build-on-top features that take you from understanding a repository to actually building on it. And every part of this project — backend, frontend, and docs — was built with IBM Bob and Z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our proof of how the product was built. Bob designed the overall architecture and then wrote the code across three sessions — backend, frontend, and docs. Session one covered the backend core: the FastAPI server, graph_builder, the GitHub client, and SSE streaming. Session two delivered the frontend workspace: the React app with the React Flow graph UI, the chat panel, and code tours. Session three shipped the v3.0 features — the PR bot, student mode, voice tours, the security scan, and scaffolding — and that is the session Z Code pair-programmed on. On the right you can see a real slice of that session: asking for a security scan endpoint and getting routes, detectors, and green tests back. Every session export is committed to the repo under docs/bob-sessions, so you can read the exact prompts and outputs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demo on two real repositories, not toy samples. On the left is Verdict, a Python FastAPI backend — its graph shows the GitHub connector pulling the repo tree, the API layer, auth, the database, the LLM service, and the SSE stream. Verdict powers the architecture graph and impact analysis demo, and it is also the target for the scaffold example, which generates a backend/main.py starter kit from the live graph. On the right is StudyRot, the student-facing app — UI, state, database, tours, quizzes, and text-to-speech — which is what we use to demo code tours with voice narration and the Student Onboarding Mode with its Row 0–5 path. The key point: both thumbnails are real output of the exact same graph engine, just pointed at two different repositories, and both repos are scanned live in the demo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live right now, not a promise. The app itself is deployed on Vercel at repo-scope-nu.vercel.app. The API health endpoint is deployed on Render at reposope.onrender.com/api/health, and it is returning 200 OK as we speak — you can hit it yourself. And there is a three-minute walkthrough video at youtu.be/ZJ7PMCZRXKY if you want to see the full flow again later. Here is the part I would encourage most: judges can paste any public GitHub URL into the app during Q&amp;A — any repository you actually care about — and the knowledge graph renders in seconds. No signup, no setup, no waiting. We built RepoScope to be tried live, and we are happy to be tested on your own code during the question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day-one features. The architecture graph gives you a layered map of the whole repository, from the client down to compute. Q&amp;A lets you ask questions in plain language, and every answer cites the exact files, functions, and commits it came from — like services/auth.py line 42. Code tours guide you through any module stop by stop. Impact analysis shows the blast radius before you change a single function. Tracking pulls commits, pull requests, issues, and releases on demand. And reverse prompt turns any repo into an agent-ready rebuild prompt. The key point: all six features are views over the same knowledge graph — one graph, many lenses. Version 3.0 adds five more features on top of this foundation, and that is what is coming up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in one picture. On the left, the React UI — React Flow renders the knowledge graph client-side, with updates streaming in over SSE. FastAPI in the middle is the orchestrator: you hand it a GitHub URL, it pulls the repo tree, commits, and pull requests from the GitHub REST API, and hands that tree to graph_builder, which turns the GitHub tree into the knowledge graph in a single pass — an AST walk that extracts files and imports as nodes and edges. Every feature you just saw is then just a query on that same graph. On the bottom, key_rotator manages our LLM keys, failing over from Groq to NVIDIA NIM automatically — that rotation is why the live demo never dies, even if one provider rate-limits us mid-presentation.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turn. Version 2 of RepoScope was about understanding — the graph, the chat, the impact panel. Version 3.0 is about building on top of what you understand. Five features ship today: the PR Bot, which drops an impact review on every pull request; Student Onboarding Mode, which guides a newcomer down a path to their first PR; Voice Code Tours, narrated walkthroughs of the dependency graph; the Security Scan, flagging secrets, CVEs, and breaking dependency bumps; and Scaffold, the hero — any repo into a starter kit in five seconds. Each feature gets one deep-dive slide next, and every one of them is demoed live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one: the PR Bot. The key point — it reuses the exact same impact_analyzer engine that powers the in-app impact panel, so there is zero duplicated logic and the risk numbers always agree between bot and app. It ships as one GitHub Action: drop .github/workflows/pr-impact.yml into the repo, and on every opened pull request the workflow calls POST /api/impact/pr. Seconds later the RepoScope-Bot comment lands in the thread — a risk score of 72 out of 100, moderate in this case, the per-file diff stats, and a blast-radius PNG showing exactly which files the change touches. All of that arrives before a human ever reviews the PR, and one click on the preview button in the comment jumps straight into the full interactive impact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two: Student Onboarding Mode — from lost to first pull request. The same dependency graph now produces a difficulty ranking: rank equals incoming edges times two plus outgoing, so every file lands on a row from zero to five. Rows four and five are the gentle, well-scoped entry points — those are surfaced automatically as Good First Issues. On top sits a three-level path: repo basics, core modules, and finally first contribution. Each level has three quizzes, and understanding is verified before the path unlocks — level three stays locked until level two is passed. The payoff is the impact line: onboarding that used to take days drops to about twenty minutes. This feature was built for the ML Empowerment education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three: Voice Code Tours — the repo that talks back. Narration runs on the Web Speech API, speechSynthesis, which is native to every modern browser: zero cost, zero cloud calls, no API keys to manage. As the narration moves stop by stop, the graph camera auto-pans in sync — on the mock you can see stop two of six, services/auth.py, wrapped by the panning camera frame. The primary goal is accessibility: blind and low-vision students can explore an entire repository by ear, something code editors have never really offered. And there is pedigree here — this clones the voice-tour experience that judges already awarded at Aster, and puts it on any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four: Security Scan — three flags, zero surprises in production. One endpoint, POST /api/security/scan, returns the entire flag list. The flags are color-coded: red BREAKING for dependency major-version jumps, like pydantic 1.10 to 2.0; amber SECRET for leaked keys, caught by regex patterns such as sk-, ghp_, and AKIA — here a key sitting at services/llm.py line 42; and orange CVE for packages with known advisories, like requests 2.28.0. Beyond regex-based key detection, it also checks for .env files leaked into git history. Each finding comes with an action hint — pin or migrate, rotate the key, upgrade. It was built with the Nord Security track in mind: you catch it in the tab, not in the incident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hero feature: Scaffold — from repo to starter kit in five seconds. The reverse prompt was powerful, but it was still text a human had to interpret. Scaffold turns that same analysis into a downloadable starter kit: for the Verdict example it generates backend/main.py with real FastAPI boilerplate, requirements.txt, and a README, and marks the unfinished parts with TODO comments so you know exactly what to implement next. From the modal you can download the ZIP directly, or click Open in StackBlitz and start coding in the browser immediately. That is CodeCrafters-style onboarding applied to any repository — the same flow that takes a curious visitor and turns them into a contributor.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proof. Everything in this terminal ran against the deployed build — not localhost. The pytest suite covers the backend end to end, and all tests passed. The production npm build completes with zero errors. On the deployment side, we curl the live services: the health endpoint on Render — reposope.onrender.com/api/health — returns status ok, and the Vercel app — repo-scope-nu.vercel.app — answers HTTP/2 200. So the pytest suite, both curl checks against the live Render API and the Vercel app, and the npm build are all green. Beyond the command line, all five v3.0 features — PR Bot, Student Mode, Voice Tours, Security Scan, and Scaffold — were additionally tested end to end by clicking through the real UI. Unit level, build level, deploy level, human level: all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for both judge tracks. For ML Empowerment, the education track, three features carry the impact: Student Onboarding Mode drops onboarding from days to twenty minutes; Voice Code Tours are accessible by design, so blind students can explore a repository by ear; and quizzes plus levels form a real learning loop, not a dashboard. For LovHack, the automation track: the PR Bot blocks breaking changes before CI ever runs; Scaffold turns any repo into a starter kit in five seconds; and one graph under eleven features delivers genuine devtool wow — the demo writes itself. Then we run the five-step live demo flow: paste a URL, the graph renders, ask "how does auth work?", run the security scan, and scaffold in five seconds. Two tracks, one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look under the hood. On the frontend, React Flow is what renders the interactive graph in the browser, inside a React 18, TypeScript, Vite and Tailwind CSS stack. On the backend, FastAPI serves it from Python 3.11 with SSE streaming, and pytest keeps it honest. The engine is our own graph_builder and impact_analyzer — AST parsing feeding a real knowledge graph. For the AI layer, Groq is the primary LLM with NVIDIA NIM as automatic fallback, both hidden behind our key_rotator over an OpenAI-compatible interface. Integrations cover the GitHub REST API v3, GitHub Actions, the Web Speech API for voice tours, and StackBlitz for scaffold output. And for deploy, Vercel hosts the app and Render hosts the API — all MIT licensed.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RepoScope is fully open source under the MIT license. The LICENSE file sits at the repo root — you can read it at github.com/&lt;your-handle&gt;/reposcope/blob/main/LICENSE on the main branch. Permission is hereby granted, free of charge, to any person obtaining a copy: use, copy, modify, merge, publish, distribute, sublicense, and even sell copies. In practical terms, that means free to fork, free to ship, free to extend. We are explicitly inviting the judges to fork this project and extend it — v3.0's five features are our proof of how far the platform bends, and we genuinely want to see what you build on top of it. The whole graph engine, every feature, every endpoint is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RepoScope — thank you. On screen right now are all three links: the GitHub repository with the full source at github.com/&lt;your-handle&gt;/reposcope, the live app at repo-scope-nu.vercel.app where you can paste any repo URL and watch the graph build itself, and the video walkthrough at youtu.be/ZJ7PMCZRXKY if you want every feature in one run. See your repo. Understand it. Track it. Thank you to the judges for your time and attention — and one last thing worth repeating: everything you saw today was built with IBM Bob plus Z Code. Fork it, ship it, extend it — we can't wait to see what you build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204097" y="1360884"/>
            <a:ext cx="735806" cy="73580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3" name="Image 0" descr="/tmp/h2p-svg-1790773506848-yv9w4o.png">    </p:cNvPr>
          <p:cNvPicPr>
            <a:picLocks noChangeAspect="1"/>
          </p:cNvPicPr>
          <p:nvPr/>
        </p:nvPicPr>
        <p:blipFill>
          <a:blip r:embed="rId1"/>
          <a:stretch>
            <a:fillRect/>
          </a:stretch>
        </p:blipFill>
        <p:spPr>
          <a:xfrm>
            <a:off x="4207669" y="1364456"/>
            <a:ext cx="742950" cy="742950"/>
          </a:xfrm>
          <a:prstGeom prst="rect">
            <a:avLst/>
          </a:prstGeom>
        </p:spPr>
      </p:pic>
      <p:sp>
        <p:nvSpPr>
          <p:cNvPr id="4" name="Text 1"/>
          <p:cNvSpPr/>
          <p:nvPr/>
        </p:nvSpPr>
        <p:spPr>
          <a:xfrm>
            <a:off x="3849700" y="2300288"/>
            <a:ext cx="1848945" cy="322473"/>
          </a:xfrm>
          <a:prstGeom prst="rect">
            <a:avLst/>
          </a:prstGeom>
          <a:noFill/>
          <a:ln/>
        </p:spPr>
        <p:txBody>
          <a:bodyPr wrap="none" lIns="0" tIns="0" rIns="0" bIns="0" rtlCol="0" anchor="t"/>
          <a:lstStyle/>
          <a:p>
            <a:pPr algn="l" indent="0" marL="0">
              <a:lnSpc>
                <a:spcPts val="2351"/>
              </a:lnSpc>
              <a:buNone/>
            </a:pPr>
            <a:r>
              <a:rPr lang="en-US" sz="2138" b="1" spc="-43" kern="0" dirty="0">
                <a:solidFill>
                  <a:srgbClr val="1A1A1A"/>
                </a:solidFill>
                <a:latin typeface="Carlito" pitchFamily="34" charset="0"/>
                <a:ea typeface="Carlito" pitchFamily="34" charset="-122"/>
                <a:cs typeface="Carlito" pitchFamily="34" charset="-120"/>
              </a:rPr>
              <a:t>RepoScope</a:t>
            </a:r>
            <a:endParaRPr lang="en-US" sz="2138" dirty="0"/>
          </a:p>
        </p:txBody>
      </p:sp>
      <p:sp>
        <p:nvSpPr>
          <p:cNvPr id="5" name="Text 2"/>
          <p:cNvSpPr/>
          <p:nvPr/>
        </p:nvSpPr>
        <p:spPr>
          <a:xfrm>
            <a:off x="3609491" y="2698886"/>
            <a:ext cx="2079019" cy="172749"/>
          </a:xfrm>
          <a:prstGeom prst="rect">
            <a:avLst/>
          </a:prstGeom>
          <a:noFill/>
          <a:ln/>
        </p:spPr>
        <p:txBody>
          <a:bodyPr wrap="square" lIns="0" tIns="0" rIns="0" bIns="0" rtlCol="0" anchor="t"/>
          <a:lstStyle/>
          <a:p>
            <a:pPr algn="l" indent="0" marL="0">
              <a:lnSpc>
                <a:spcPts val="1260"/>
              </a:lnSpc>
              <a:buNone/>
            </a:pPr>
            <a:r>
              <a:rPr lang="en-US" sz="900" dirty="0">
                <a:solidFill>
                  <a:srgbClr val="6B6B6B"/>
                </a:solidFill>
                <a:latin typeface="Carlito" pitchFamily="34" charset="0"/>
                <a:ea typeface="Carlito" pitchFamily="34" charset="-122"/>
                <a:cs typeface="Carlito" pitchFamily="34" charset="-120"/>
              </a:rPr>
              <a:t>See your repo. Understand it. Track it.</a:t>
            </a:r>
            <a:endParaRPr lang="en-US" sz="900" dirty="0"/>
          </a:p>
        </p:txBody>
      </p:sp>
      <p:sp>
        <p:nvSpPr>
          <p:cNvPr id="6" name="Text 3"/>
          <p:cNvSpPr/>
          <p:nvPr/>
        </p:nvSpPr>
        <p:spPr>
          <a:xfrm>
            <a:off x="3552565" y="3019574"/>
            <a:ext cx="2038759" cy="192881"/>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7" name="Text 4"/>
          <p:cNvSpPr/>
          <p:nvPr/>
        </p:nvSpPr>
        <p:spPr>
          <a:xfrm>
            <a:off x="3548993" y="3016002"/>
            <a:ext cx="2045903" cy="279308"/>
          </a:xfrm>
          <a:prstGeom prst="rect">
            <a:avLst/>
          </a:prstGeom>
          <a:noFill/>
          <a:ln/>
        </p:spPr>
        <p:txBody>
          <a:bodyPr wrap="square" lIns="114300" tIns="50006" rIns="114300" bIns="50006" rtlCol="0" anchor="t"/>
          <a:lstStyle/>
          <a:p>
            <a:pPr algn="l" indent="0" marL="0">
              <a:buNone/>
            </a:pPr>
            <a:r>
              <a:rPr lang="en-US" sz="619" b="1" spc="12" kern="0" dirty="0">
                <a:solidFill>
                  <a:srgbClr val="10B981"/>
                </a:solidFill>
                <a:latin typeface="Courier New" pitchFamily="34" charset="0"/>
                <a:ea typeface="Courier New" pitchFamily="34" charset="-122"/>
                <a:cs typeface="Courier New" pitchFamily="34" charset="-120"/>
              </a:rPr>
              <a:t>v3.0 — from understanding to building</a:t>
            </a:r>
            <a:endParaRPr lang="en-US" sz="619" dirty="0"/>
          </a:p>
        </p:txBody>
      </p:sp>
      <p:sp>
        <p:nvSpPr>
          <p:cNvPr id="8" name="Text 5"/>
          <p:cNvSpPr/>
          <p:nvPr/>
        </p:nvSpPr>
        <p:spPr>
          <a:xfrm>
            <a:off x="0" y="4600575"/>
            <a:ext cx="8636000" cy="125403"/>
          </a:xfrm>
          <a:prstGeom prst="rect">
            <a:avLst/>
          </a:prstGeom>
          <a:noFill/>
          <a:ln/>
        </p:spPr>
        <p:txBody>
          <a:bodyPr wrap="square" lIns="0" tIns="0" rIns="0" bIns="0" rtlCol="0" anchor="t"/>
          <a:lstStyle/>
          <a:p>
            <a:pPr algn="ctr" indent="0" marL="0">
              <a:buNone/>
            </a:pPr>
            <a:r>
              <a:rPr lang="en-US" sz="800" spc="24" kern="0" dirty="0">
                <a:solidFill>
                  <a:srgbClr val="6B6B6B"/>
                </a:solidFill>
                <a:latin typeface="Courier New" pitchFamily="34" charset="0"/>
                <a:ea typeface="Courier New" pitchFamily="34" charset="-122"/>
                <a:cs typeface="Courier New" pitchFamily="34" charset="-120"/>
              </a:rPr>
              <a:t>Built with IBM Bob + Z Code · lablab.ai · Devpost</a:t>
            </a:r>
            <a:endParaRPr lang="en-US" sz="800" dirty="0"/>
          </a:p>
        </p:txBody>
      </p:sp>
      <p:sp>
        <p:nvSpPr>
          <p:cNvPr id="9" name="Text 6"/>
          <p:cNvSpPr/>
          <p:nvPr/>
        </p:nvSpPr>
        <p:spPr>
          <a:xfrm>
            <a:off x="4289822" y="1468041"/>
            <a:ext cx="207169" cy="107156"/>
          </a:xfrm>
          <a:prstGeom prst="rect">
            <a:avLst/>
          </a:prstGeom>
          <a:solidFill>
            <a:srgbClr val="D4AF37">
              <a:alpha val="16000"/>
            </a:srgbClr>
          </a:solidFill>
          <a:ln w="7144">
            <a:solidFill>
              <a:srgbClr val="D4AF37"/>
            </a:solidFill>
            <a:prstDash val="solid"/>
          </a:ln>
        </p:spPr>
        <p:txBody>
          <a:bodyPr wrap="square" rtlCol="0" anchor="ctr"/>
          <a:lstStyle/>
          <a:p>
            <a:pPr indent="0" marL="0">
              <a:buNone/>
            </a:pPr>
            <a:endParaRPr lang="en-US" dirty="0"/>
          </a:p>
        </p:txBody>
      </p:sp>
      <p:sp>
        <p:nvSpPr>
          <p:cNvPr id="10" name="Text 7"/>
          <p:cNvSpPr/>
          <p:nvPr/>
        </p:nvSpPr>
        <p:spPr>
          <a:xfrm>
            <a:off x="4286250" y="1464469"/>
            <a:ext cx="214313" cy="114300"/>
          </a:xfrm>
          <a:prstGeom prst="rect">
            <a:avLst/>
          </a:prstGeom>
          <a:noFill/>
          <a:ln/>
        </p:spPr>
        <p:txBody>
          <a:bodyPr wrap="none" lIns="0" tIns="0" rIns="0" bIns="0" rtlCol="0" anchor="ctr"/>
          <a:lstStyle/>
          <a:p>
            <a:pPr algn="ctr" indent="0" marL="0">
              <a:buNone/>
            </a:pPr>
            <a:r>
              <a:rPr lang="en-US" sz="800" b="1" spc="10" kern="0" dirty="0">
                <a:solidFill>
                  <a:srgbClr val="A16207"/>
                </a:solidFill>
                <a:latin typeface="Courier New" pitchFamily="34" charset="0"/>
                <a:ea typeface="Courier New" pitchFamily="34" charset="-122"/>
                <a:cs typeface="Courier New" pitchFamily="34" charset="-120"/>
              </a:rPr>
              <a:t>ui</a:t>
            </a:r>
            <a:endParaRPr lang="en-US" sz="800" dirty="0"/>
          </a:p>
        </p:txBody>
      </p:sp>
      <p:sp>
        <p:nvSpPr>
          <p:cNvPr id="11" name="Text 8"/>
          <p:cNvSpPr/>
          <p:nvPr/>
        </p:nvSpPr>
        <p:spPr>
          <a:xfrm>
            <a:off x="4661297" y="1468041"/>
            <a:ext cx="207169" cy="107156"/>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2" name="Text 9"/>
          <p:cNvSpPr/>
          <p:nvPr/>
        </p:nvSpPr>
        <p:spPr>
          <a:xfrm>
            <a:off x="4653589" y="1464469"/>
            <a:ext cx="222585" cy="114300"/>
          </a:xfrm>
          <a:prstGeom prst="rect">
            <a:avLst/>
          </a:prstGeom>
          <a:noFill/>
          <a:ln/>
        </p:spPr>
        <p:txBody>
          <a:bodyPr wrap="none" lIns="0" tIns="0" rIns="0" bIns="0" rtlCol="0" anchor="ctr"/>
          <a:lstStyle/>
          <a:p>
            <a:pPr algn="ctr" indent="0" marL="0">
              <a:buNone/>
            </a:pPr>
            <a:r>
              <a:rPr lang="en-US" sz="800" b="1" spc="10" kern="0" dirty="0">
                <a:solidFill>
                  <a:srgbClr val="6B6B6B"/>
                </a:solidFill>
                <a:latin typeface="Courier New" pitchFamily="34" charset="0"/>
                <a:ea typeface="Courier New" pitchFamily="34" charset="-122"/>
                <a:cs typeface="Courier New" pitchFamily="34" charset="-120"/>
              </a:rPr>
              <a:t>git</a:t>
            </a:r>
            <a:endParaRPr lang="en-US" sz="800" dirty="0"/>
          </a:p>
        </p:txBody>
      </p:sp>
      <p:sp>
        <p:nvSpPr>
          <p:cNvPr id="13" name="Text 10"/>
          <p:cNvSpPr/>
          <p:nvPr/>
        </p:nvSpPr>
        <p:spPr>
          <a:xfrm>
            <a:off x="4425553" y="1668066"/>
            <a:ext cx="207169" cy="121444"/>
          </a:xfrm>
          <a:prstGeom prst="rect">
            <a:avLst/>
          </a:prstGeom>
          <a:solidFill>
            <a:srgbClr val="10B981">
              <a:alpha val="10000"/>
            </a:srgbClr>
          </a:solidFill>
          <a:ln w="7144">
            <a:solidFill>
              <a:srgbClr val="10B981"/>
            </a:solidFill>
            <a:prstDash val="solid"/>
          </a:ln>
        </p:spPr>
        <p:txBody>
          <a:bodyPr wrap="square" rtlCol="0" anchor="ctr"/>
          <a:lstStyle/>
          <a:p>
            <a:pPr indent="0" marL="0">
              <a:buNone/>
            </a:pPr>
            <a:endParaRPr lang="en-US" dirty="0"/>
          </a:p>
        </p:txBody>
      </p:sp>
      <p:sp>
        <p:nvSpPr>
          <p:cNvPr id="14" name="Text 11"/>
          <p:cNvSpPr/>
          <p:nvPr/>
        </p:nvSpPr>
        <p:spPr>
          <a:xfrm>
            <a:off x="4417845" y="1664494"/>
            <a:ext cx="222585" cy="128588"/>
          </a:xfrm>
          <a:prstGeom prst="rect">
            <a:avLst/>
          </a:prstGeom>
          <a:noFill/>
          <a:ln/>
        </p:spPr>
        <p:txBody>
          <a:bodyPr wrap="none" lIns="0" tIns="0" rIns="0" bIns="0" rtlCol="0" anchor="ctr"/>
          <a:lstStyle/>
          <a:p>
            <a:pPr algn="ctr" indent="0" marL="0">
              <a:buNone/>
            </a:pPr>
            <a:r>
              <a:rPr lang="en-US" sz="800" b="1" spc="10" kern="0" dirty="0">
                <a:solidFill>
                  <a:srgbClr val="10B981"/>
                </a:solidFill>
                <a:latin typeface="Courier New" pitchFamily="34" charset="0"/>
                <a:ea typeface="Courier New" pitchFamily="34" charset="-122"/>
                <a:cs typeface="Courier New" pitchFamily="34" charset="-120"/>
              </a:rPr>
              <a:t>api</a:t>
            </a:r>
            <a:endParaRPr lang="en-US" sz="800" dirty="0"/>
          </a:p>
        </p:txBody>
      </p:sp>
      <p:sp>
        <p:nvSpPr>
          <p:cNvPr id="15" name="Text 12"/>
          <p:cNvSpPr/>
          <p:nvPr/>
        </p:nvSpPr>
        <p:spPr>
          <a:xfrm>
            <a:off x="4654153" y="1668066"/>
            <a:ext cx="207169" cy="107156"/>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6" name="Text 13"/>
          <p:cNvSpPr/>
          <p:nvPr/>
        </p:nvSpPr>
        <p:spPr>
          <a:xfrm>
            <a:off x="4646445" y="1664494"/>
            <a:ext cx="222585" cy="114300"/>
          </a:xfrm>
          <a:prstGeom prst="rect">
            <a:avLst/>
          </a:prstGeom>
          <a:noFill/>
          <a:ln/>
        </p:spPr>
        <p:txBody>
          <a:bodyPr wrap="none" lIns="0" tIns="0" rIns="0" bIns="0" rtlCol="0" anchor="ctr"/>
          <a:lstStyle/>
          <a:p>
            <a:pPr algn="ctr" indent="0" marL="0">
              <a:buNone/>
            </a:pPr>
            <a:r>
              <a:rPr lang="en-US" sz="800" b="1" spc="10" kern="0" dirty="0">
                <a:solidFill>
                  <a:srgbClr val="6B6B6B"/>
                </a:solidFill>
                <a:latin typeface="Courier New" pitchFamily="34" charset="0"/>
                <a:ea typeface="Courier New" pitchFamily="34" charset="-122"/>
                <a:cs typeface="Courier New" pitchFamily="34" charset="-120"/>
              </a:rPr>
              <a:t>llm</a:t>
            </a:r>
            <a:endParaRPr lang="en-US" sz="800" dirty="0"/>
          </a:p>
        </p:txBody>
      </p:sp>
      <p:sp>
        <p:nvSpPr>
          <p:cNvPr id="17" name="Text 14"/>
          <p:cNvSpPr/>
          <p:nvPr/>
        </p:nvSpPr>
        <p:spPr>
          <a:xfrm>
            <a:off x="4275534" y="1839516"/>
            <a:ext cx="235744" cy="107156"/>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8" name="Text 15"/>
          <p:cNvSpPr/>
          <p:nvPr/>
        </p:nvSpPr>
        <p:spPr>
          <a:xfrm>
            <a:off x="4250943" y="1835944"/>
            <a:ext cx="284927" cy="114300"/>
          </a:xfrm>
          <a:prstGeom prst="rect">
            <a:avLst/>
          </a:prstGeom>
          <a:noFill/>
          <a:ln/>
        </p:spPr>
        <p:txBody>
          <a:bodyPr wrap="none" lIns="0" tIns="0" rIns="0" bIns="0" rtlCol="0" anchor="ctr"/>
          <a:lstStyle/>
          <a:p>
            <a:pPr algn="ctr" indent="0" marL="0">
              <a:buNone/>
            </a:pPr>
            <a:r>
              <a:rPr lang="en-US" sz="800" b="1" spc="10" kern="0" dirty="0">
                <a:solidFill>
                  <a:srgbClr val="6B6B6B"/>
                </a:solidFill>
                <a:latin typeface="Courier New" pitchFamily="34" charset="0"/>
                <a:ea typeface="Courier New" pitchFamily="34" charset="-122"/>
                <a:cs typeface="Courier New" pitchFamily="34" charset="-120"/>
              </a:rPr>
              <a:t>auth</a:t>
            </a:r>
            <a:endParaRPr lang="en-US" sz="800" dirty="0"/>
          </a:p>
        </p:txBody>
      </p:sp>
      <p:sp>
        <p:nvSpPr>
          <p:cNvPr id="19" name="Text 16"/>
          <p:cNvSpPr/>
          <p:nvPr/>
        </p:nvSpPr>
        <p:spPr>
          <a:xfrm>
            <a:off x="4546997" y="1839516"/>
            <a:ext cx="207169" cy="107156"/>
          </a:xfrm>
          <a:prstGeom prst="rect">
            <a:avLst/>
          </a:prstGeom>
          <a:solidFill>
            <a:srgbClr val="10B981">
              <a:alpha val="10000"/>
            </a:srgbClr>
          </a:solidFill>
          <a:ln w="7144">
            <a:solidFill>
              <a:srgbClr val="10B981"/>
            </a:solidFill>
            <a:prstDash val="solid"/>
          </a:ln>
        </p:spPr>
        <p:txBody>
          <a:bodyPr wrap="square" rtlCol="0" anchor="ctr"/>
          <a:lstStyle/>
          <a:p>
            <a:pPr indent="0" marL="0">
              <a:buNone/>
            </a:pPr>
            <a:endParaRPr lang="en-US" dirty="0"/>
          </a:p>
        </p:txBody>
      </p:sp>
      <p:sp>
        <p:nvSpPr>
          <p:cNvPr id="20" name="Text 17"/>
          <p:cNvSpPr/>
          <p:nvPr/>
        </p:nvSpPr>
        <p:spPr>
          <a:xfrm>
            <a:off x="4543425" y="1835944"/>
            <a:ext cx="214313" cy="114300"/>
          </a:xfrm>
          <a:prstGeom prst="rect">
            <a:avLst/>
          </a:prstGeom>
          <a:noFill/>
          <a:ln/>
        </p:spPr>
        <p:txBody>
          <a:bodyPr wrap="none" lIns="0" tIns="0" rIns="0" bIns="0" rtlCol="0" anchor="ctr"/>
          <a:lstStyle/>
          <a:p>
            <a:pPr algn="ctr" indent="0" marL="0">
              <a:buNone/>
            </a:pPr>
            <a:r>
              <a:rPr lang="en-US" sz="800" b="1" spc="10" kern="0" dirty="0">
                <a:solidFill>
                  <a:srgbClr val="10B981"/>
                </a:solidFill>
                <a:latin typeface="Courier New" pitchFamily="34" charset="0"/>
                <a:ea typeface="Courier New" pitchFamily="34" charset="-122"/>
                <a:cs typeface="Courier New" pitchFamily="34" charset="-120"/>
              </a:rPr>
              <a:t>db</a:t>
            </a:r>
            <a:endParaRPr lang="en-US" sz="800" dirty="0"/>
          </a:p>
        </p:txBody>
      </p:sp>
      <p:sp>
        <p:nvSpPr>
          <p:cNvPr id="21" name="Text 18"/>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400050"/>
            <a:ext cx="2591926"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Built with IBM Bob + Z Code.</a:t>
            </a:r>
            <a:endParaRPr lang="en-US" sz="1519" dirty="0"/>
          </a:p>
        </p:txBody>
      </p:sp>
      <p:sp>
        <p:nvSpPr>
          <p:cNvPr id="3" name="Text 1"/>
          <p:cNvSpPr/>
          <p:nvPr/>
        </p:nvSpPr>
        <p:spPr>
          <a:xfrm>
            <a:off x="400050" y="1000125"/>
            <a:ext cx="5853446" cy="119703"/>
          </a:xfrm>
          <a:prstGeom prst="rect">
            <a:avLst/>
          </a:prstGeom>
          <a:noFill/>
          <a:ln/>
        </p:spPr>
        <p:txBody>
          <a:bodyPr wrap="none" lIns="0" tIns="0" rIns="0" bIns="0" rtlCol="0" anchor="t"/>
          <a:lstStyle/>
          <a:p>
            <a:pPr algn="l" indent="0" marL="0">
              <a:buNone/>
            </a:pPr>
            <a:r>
              <a:rPr lang="en-US" sz="800" b="1" spc="87" kern="0" dirty="0">
                <a:solidFill>
                  <a:srgbClr val="10B981"/>
                </a:solidFill>
                <a:latin typeface="Courier New" pitchFamily="34" charset="0"/>
                <a:ea typeface="Courier New" pitchFamily="34" charset="-122"/>
                <a:cs typeface="Courier New" pitchFamily="34" charset="-120"/>
              </a:rPr>
              <a:t>SESSION LOG</a:t>
            </a:r>
            <a:endParaRPr lang="en-US" sz="800" dirty="0"/>
          </a:p>
        </p:txBody>
      </p:sp>
      <p:sp>
        <p:nvSpPr>
          <p:cNvPr id="4" name="Text 2"/>
          <p:cNvSpPr/>
          <p:nvPr/>
        </p:nvSpPr>
        <p:spPr>
          <a:xfrm>
            <a:off x="403622" y="1203722"/>
            <a:ext cx="4564856" cy="79295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5" name="Text 3"/>
          <p:cNvSpPr/>
          <p:nvPr/>
        </p:nvSpPr>
        <p:spPr>
          <a:xfrm>
            <a:off x="525066" y="1446609"/>
            <a:ext cx="307181" cy="307181"/>
          </a:xfrm>
          <a:prstGeom prst="rect">
            <a:avLst/>
          </a:prstGeom>
          <a:solidFill>
            <a:srgbClr val="FFFFFF"/>
          </a:solidFill>
          <a:ln w="7144">
            <a:solidFill>
              <a:srgbClr val="10B981"/>
            </a:solidFill>
            <a:prstDash val="solid"/>
          </a:ln>
        </p:spPr>
        <p:txBody>
          <a:bodyPr wrap="square" rtlCol="0" anchor="ctr"/>
          <a:lstStyle/>
          <a:p>
            <a:pPr indent="0" marL="0">
              <a:buNone/>
            </a:pPr>
            <a:endParaRPr lang="en-US" dirty="0"/>
          </a:p>
        </p:txBody>
      </p:sp>
      <p:sp>
        <p:nvSpPr>
          <p:cNvPr id="6" name="Text 4"/>
          <p:cNvSpPr/>
          <p:nvPr/>
        </p:nvSpPr>
        <p:spPr>
          <a:xfrm>
            <a:off x="521494" y="1443038"/>
            <a:ext cx="371475" cy="314325"/>
          </a:xfrm>
          <a:prstGeom prst="rect">
            <a:avLst/>
          </a:prstGeom>
          <a:noFill/>
          <a:ln/>
        </p:spPr>
        <p:txBody>
          <a:bodyPr wrap="none" lIns="0" tIns="0" rIns="0" bIns="0" rtlCol="0" anchor="ctr"/>
          <a:lstStyle/>
          <a:p>
            <a:pPr algn="ctr" indent="0" marL="0">
              <a:buNone/>
            </a:pPr>
            <a:r>
              <a:rPr lang="en-US" sz="844" b="1" dirty="0">
                <a:solidFill>
                  <a:srgbClr val="10B981"/>
                </a:solidFill>
                <a:latin typeface="Liberation Sans Narrow" pitchFamily="34" charset="0"/>
                <a:ea typeface="Liberation Sans Narrow" pitchFamily="34" charset="-122"/>
                <a:cs typeface="Liberation Sans Narrow" pitchFamily="34" charset="-120"/>
              </a:rPr>
              <a:t>S1</a:t>
            </a:r>
            <a:endParaRPr lang="en-US" sz="844" dirty="0"/>
          </a:p>
        </p:txBody>
      </p:sp>
      <p:sp>
        <p:nvSpPr>
          <p:cNvPr id="7" name="Text 5"/>
          <p:cNvSpPr/>
          <p:nvPr/>
        </p:nvSpPr>
        <p:spPr>
          <a:xfrm>
            <a:off x="950119" y="1455204"/>
            <a:ext cx="3582373" cy="137160"/>
          </a:xfrm>
          <a:prstGeom prst="rect">
            <a:avLst/>
          </a:prstGeom>
          <a:noFill/>
          <a:ln/>
        </p:spPr>
        <p:txBody>
          <a:bodyPr wrap="none" lIns="0" tIns="0" rIns="0" bIns="0" rtlCol="0" anchor="t"/>
          <a:lstStyle/>
          <a:p>
            <a:pPr algn="l" indent="0" marL="0">
              <a:lnSpc>
                <a:spcPts val="984"/>
              </a:lnSpc>
              <a:buNone/>
            </a:pPr>
            <a:r>
              <a:rPr lang="en-US" sz="800" b="1" dirty="0">
                <a:solidFill>
                  <a:srgbClr val="1A1A1A"/>
                </a:solidFill>
                <a:latin typeface="Carlito" pitchFamily="34" charset="0"/>
                <a:ea typeface="Carlito" pitchFamily="34" charset="-122"/>
                <a:cs typeface="Carlito" pitchFamily="34" charset="-120"/>
              </a:rPr>
              <a:t>Backend core</a:t>
            </a:r>
            <a:endParaRPr lang="en-US" sz="800" dirty="0"/>
          </a:p>
        </p:txBody>
      </p:sp>
      <p:sp>
        <p:nvSpPr>
          <p:cNvPr id="8" name="Text 6"/>
          <p:cNvSpPr/>
          <p:nvPr/>
        </p:nvSpPr>
        <p:spPr>
          <a:xfrm>
            <a:off x="950119" y="1630226"/>
            <a:ext cx="3056632" cy="153560"/>
          </a:xfrm>
          <a:prstGeom prst="rect">
            <a:avLst/>
          </a:prstGeom>
          <a:noFill/>
          <a:ln/>
        </p:spPr>
        <p:txBody>
          <a:bodyPr wrap="square" lIns="0" tIns="0" rIns="0" bIns="0" rtlCol="0" anchor="t"/>
          <a:lstStyle/>
          <a:p>
            <a:pPr algn="l" indent="0" marL="0">
              <a:lnSpc>
                <a:spcPts val="906"/>
              </a:lnSpc>
              <a:buNone/>
            </a:pPr>
            <a:r>
              <a:rPr lang="en-US" sz="647" dirty="0">
                <a:solidFill>
                  <a:srgbClr val="6B6B6B"/>
                </a:solidFill>
                <a:latin typeface="Courier New" pitchFamily="34" charset="0"/>
                <a:ea typeface="Courier New" pitchFamily="34" charset="-122"/>
                <a:cs typeface="Courier New" pitchFamily="34" charset="-120"/>
              </a:rPr>
              <a:t>FastAPI server · graph_builder · GitHub client · SSE streaming</a:t>
            </a:r>
            <a:endParaRPr lang="en-US" sz="647" dirty="0"/>
          </a:p>
        </p:txBody>
      </p:sp>
      <p:sp>
        <p:nvSpPr>
          <p:cNvPr id="9" name="Text 7"/>
          <p:cNvSpPr/>
          <p:nvPr/>
        </p:nvSpPr>
        <p:spPr>
          <a:xfrm>
            <a:off x="403622" y="2103834"/>
            <a:ext cx="4564856" cy="79295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10" name="Text 8"/>
          <p:cNvSpPr/>
          <p:nvPr/>
        </p:nvSpPr>
        <p:spPr>
          <a:xfrm>
            <a:off x="525066" y="2346722"/>
            <a:ext cx="307181" cy="307181"/>
          </a:xfrm>
          <a:prstGeom prst="rect">
            <a:avLst/>
          </a:prstGeom>
          <a:solidFill>
            <a:srgbClr val="FFFFFF"/>
          </a:solidFill>
          <a:ln w="7144">
            <a:solidFill>
              <a:srgbClr val="10B981"/>
            </a:solidFill>
            <a:prstDash val="solid"/>
          </a:ln>
        </p:spPr>
        <p:txBody>
          <a:bodyPr wrap="square" rtlCol="0" anchor="ctr"/>
          <a:lstStyle/>
          <a:p>
            <a:pPr indent="0" marL="0">
              <a:buNone/>
            </a:pPr>
            <a:endParaRPr lang="en-US" dirty="0"/>
          </a:p>
        </p:txBody>
      </p:sp>
      <p:sp>
        <p:nvSpPr>
          <p:cNvPr id="11" name="Text 9"/>
          <p:cNvSpPr/>
          <p:nvPr/>
        </p:nvSpPr>
        <p:spPr>
          <a:xfrm>
            <a:off x="521494" y="2343150"/>
            <a:ext cx="371475" cy="314325"/>
          </a:xfrm>
          <a:prstGeom prst="rect">
            <a:avLst/>
          </a:prstGeom>
          <a:noFill/>
          <a:ln/>
        </p:spPr>
        <p:txBody>
          <a:bodyPr wrap="none" lIns="0" tIns="0" rIns="0" bIns="0" rtlCol="0" anchor="ctr"/>
          <a:lstStyle/>
          <a:p>
            <a:pPr algn="ctr" indent="0" marL="0">
              <a:buNone/>
            </a:pPr>
            <a:r>
              <a:rPr lang="en-US" sz="844" b="1" dirty="0">
                <a:solidFill>
                  <a:srgbClr val="10B981"/>
                </a:solidFill>
                <a:latin typeface="Liberation Sans Narrow" pitchFamily="34" charset="0"/>
                <a:ea typeface="Liberation Sans Narrow" pitchFamily="34" charset="-122"/>
                <a:cs typeface="Liberation Sans Narrow" pitchFamily="34" charset="-120"/>
              </a:rPr>
              <a:t>S2</a:t>
            </a:r>
            <a:endParaRPr lang="en-US" sz="844" dirty="0"/>
          </a:p>
        </p:txBody>
      </p:sp>
      <p:sp>
        <p:nvSpPr>
          <p:cNvPr id="12" name="Text 10"/>
          <p:cNvSpPr/>
          <p:nvPr/>
        </p:nvSpPr>
        <p:spPr>
          <a:xfrm>
            <a:off x="950119" y="2355317"/>
            <a:ext cx="2743585" cy="137160"/>
          </a:xfrm>
          <a:prstGeom prst="rect">
            <a:avLst/>
          </a:prstGeom>
          <a:noFill/>
          <a:ln/>
        </p:spPr>
        <p:txBody>
          <a:bodyPr wrap="none" lIns="0" tIns="0" rIns="0" bIns="0" rtlCol="0" anchor="t"/>
          <a:lstStyle/>
          <a:p>
            <a:pPr algn="l" indent="0" marL="0">
              <a:lnSpc>
                <a:spcPts val="984"/>
              </a:lnSpc>
              <a:buNone/>
            </a:pPr>
            <a:r>
              <a:rPr lang="en-US" sz="800" b="1" dirty="0">
                <a:solidFill>
                  <a:srgbClr val="1A1A1A"/>
                </a:solidFill>
                <a:latin typeface="Carlito" pitchFamily="34" charset="0"/>
                <a:ea typeface="Carlito" pitchFamily="34" charset="-122"/>
                <a:cs typeface="Carlito" pitchFamily="34" charset="-120"/>
              </a:rPr>
              <a:t>Frontend workspace</a:t>
            </a:r>
            <a:endParaRPr lang="en-US" sz="800" dirty="0"/>
          </a:p>
        </p:txBody>
      </p:sp>
      <p:sp>
        <p:nvSpPr>
          <p:cNvPr id="13" name="Text 11"/>
          <p:cNvSpPr/>
          <p:nvPr/>
        </p:nvSpPr>
        <p:spPr>
          <a:xfrm>
            <a:off x="950119" y="2530339"/>
            <a:ext cx="2821973" cy="153560"/>
          </a:xfrm>
          <a:prstGeom prst="rect">
            <a:avLst/>
          </a:prstGeom>
          <a:noFill/>
          <a:ln/>
        </p:spPr>
        <p:txBody>
          <a:bodyPr wrap="square" lIns="0" tIns="0" rIns="0" bIns="0" rtlCol="0" anchor="t"/>
          <a:lstStyle/>
          <a:p>
            <a:pPr algn="l" indent="0" marL="0">
              <a:lnSpc>
                <a:spcPts val="906"/>
              </a:lnSpc>
              <a:buNone/>
            </a:pPr>
            <a:r>
              <a:rPr lang="en-US" sz="647" dirty="0">
                <a:solidFill>
                  <a:srgbClr val="6B6B6B"/>
                </a:solidFill>
                <a:latin typeface="Courier New" pitchFamily="34" charset="0"/>
                <a:ea typeface="Courier New" pitchFamily="34" charset="-122"/>
                <a:cs typeface="Courier New" pitchFamily="34" charset="-120"/>
              </a:rPr>
              <a:t>React + React Flow graph UI · chat panel · code tours</a:t>
            </a:r>
            <a:endParaRPr lang="en-US" sz="647" dirty="0"/>
          </a:p>
        </p:txBody>
      </p:sp>
      <p:sp>
        <p:nvSpPr>
          <p:cNvPr id="14" name="Text 12"/>
          <p:cNvSpPr/>
          <p:nvPr/>
        </p:nvSpPr>
        <p:spPr>
          <a:xfrm>
            <a:off x="403622" y="3003947"/>
            <a:ext cx="4564856" cy="79295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15" name="Text 13"/>
          <p:cNvSpPr/>
          <p:nvPr/>
        </p:nvSpPr>
        <p:spPr>
          <a:xfrm>
            <a:off x="525066" y="3246834"/>
            <a:ext cx="307181" cy="307181"/>
          </a:xfrm>
          <a:prstGeom prst="rect">
            <a:avLst/>
          </a:prstGeom>
          <a:solidFill>
            <a:srgbClr val="FFFFFF"/>
          </a:solidFill>
          <a:ln w="7144">
            <a:solidFill>
              <a:srgbClr val="10B981"/>
            </a:solidFill>
            <a:prstDash val="solid"/>
          </a:ln>
        </p:spPr>
        <p:txBody>
          <a:bodyPr wrap="square" rtlCol="0" anchor="ctr"/>
          <a:lstStyle/>
          <a:p>
            <a:pPr indent="0" marL="0">
              <a:buNone/>
            </a:pPr>
            <a:endParaRPr lang="en-US" dirty="0"/>
          </a:p>
        </p:txBody>
      </p:sp>
      <p:sp>
        <p:nvSpPr>
          <p:cNvPr id="16" name="Text 14"/>
          <p:cNvSpPr/>
          <p:nvPr/>
        </p:nvSpPr>
        <p:spPr>
          <a:xfrm>
            <a:off x="521494" y="3243263"/>
            <a:ext cx="371475" cy="314325"/>
          </a:xfrm>
          <a:prstGeom prst="rect">
            <a:avLst/>
          </a:prstGeom>
          <a:noFill/>
          <a:ln/>
        </p:spPr>
        <p:txBody>
          <a:bodyPr wrap="none" lIns="0" tIns="0" rIns="0" bIns="0" rtlCol="0" anchor="ctr"/>
          <a:lstStyle/>
          <a:p>
            <a:pPr algn="ctr" indent="0" marL="0">
              <a:buNone/>
            </a:pPr>
            <a:r>
              <a:rPr lang="en-US" sz="844" b="1" dirty="0">
                <a:solidFill>
                  <a:srgbClr val="10B981"/>
                </a:solidFill>
                <a:latin typeface="Liberation Sans Narrow" pitchFamily="34" charset="0"/>
                <a:ea typeface="Liberation Sans Narrow" pitchFamily="34" charset="-122"/>
                <a:cs typeface="Liberation Sans Narrow" pitchFamily="34" charset="-120"/>
              </a:rPr>
              <a:t>S3</a:t>
            </a:r>
            <a:endParaRPr lang="en-US" sz="844" dirty="0"/>
          </a:p>
        </p:txBody>
      </p:sp>
      <p:sp>
        <p:nvSpPr>
          <p:cNvPr id="17" name="Text 15"/>
          <p:cNvSpPr/>
          <p:nvPr/>
        </p:nvSpPr>
        <p:spPr>
          <a:xfrm>
            <a:off x="950119" y="3255429"/>
            <a:ext cx="3582373" cy="137160"/>
          </a:xfrm>
          <a:prstGeom prst="rect">
            <a:avLst/>
          </a:prstGeom>
          <a:noFill/>
          <a:ln/>
        </p:spPr>
        <p:txBody>
          <a:bodyPr wrap="none" lIns="0" tIns="0" rIns="0" bIns="0" rtlCol="0" anchor="t"/>
          <a:lstStyle/>
          <a:p>
            <a:pPr algn="l" indent="0" marL="0">
              <a:lnSpc>
                <a:spcPts val="984"/>
              </a:lnSpc>
              <a:buNone/>
            </a:pPr>
            <a:r>
              <a:rPr lang="en-US" sz="800" b="1" dirty="0">
                <a:solidFill>
                  <a:srgbClr val="1A1A1A"/>
                </a:solidFill>
                <a:latin typeface="Liberation Sans Narrow" pitchFamily="34" charset="0"/>
                <a:ea typeface="Liberation Sans Narrow" pitchFamily="34" charset="-122"/>
                <a:cs typeface="Liberation Sans Narrow" pitchFamily="34" charset="-120"/>
              </a:rPr>
              <a:t>v3.0 features</a:t>
            </a:r>
            <a:endParaRPr lang="en-US" sz="800" dirty="0"/>
          </a:p>
        </p:txBody>
      </p:sp>
      <p:sp>
        <p:nvSpPr>
          <p:cNvPr id="18" name="Text 16"/>
          <p:cNvSpPr/>
          <p:nvPr/>
        </p:nvSpPr>
        <p:spPr>
          <a:xfrm>
            <a:off x="950119" y="3430451"/>
            <a:ext cx="3056632" cy="153560"/>
          </a:xfrm>
          <a:prstGeom prst="rect">
            <a:avLst/>
          </a:prstGeom>
          <a:noFill/>
          <a:ln/>
        </p:spPr>
        <p:txBody>
          <a:bodyPr wrap="square" lIns="0" tIns="0" rIns="0" bIns="0" rtlCol="0" anchor="t"/>
          <a:lstStyle/>
          <a:p>
            <a:pPr algn="l" indent="0" marL="0">
              <a:lnSpc>
                <a:spcPts val="906"/>
              </a:lnSpc>
              <a:buNone/>
            </a:pPr>
            <a:r>
              <a:rPr lang="en-US" sz="647" dirty="0">
                <a:solidFill>
                  <a:srgbClr val="6B6B6B"/>
                </a:solidFill>
                <a:latin typeface="Courier New" pitchFamily="34" charset="0"/>
                <a:ea typeface="Courier New" pitchFamily="34" charset="-122"/>
                <a:cs typeface="Courier New" pitchFamily="34" charset="-120"/>
              </a:rPr>
              <a:t>PR bot · student mode · voice tours · security scan · scaffold</a:t>
            </a:r>
            <a:endParaRPr lang="en-US" sz="647" dirty="0"/>
          </a:p>
        </p:txBody>
      </p:sp>
      <p:sp>
        <p:nvSpPr>
          <p:cNvPr id="19" name="Text 17"/>
          <p:cNvSpPr/>
          <p:nvPr/>
        </p:nvSpPr>
        <p:spPr>
          <a:xfrm>
            <a:off x="400050" y="3918775"/>
            <a:ext cx="601638" cy="192024"/>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0" name="Text 18"/>
          <p:cNvSpPr/>
          <p:nvPr/>
        </p:nvSpPr>
        <p:spPr>
          <a:xfrm>
            <a:off x="492919" y="3993356"/>
            <a:ext cx="42863" cy="42863"/>
          </a:xfrm>
          <a:prstGeom prst="roundRect">
            <a:avLst>
              <a:gd name="adj" fmla="val 66666"/>
            </a:avLst>
          </a:prstGeom>
          <a:solidFill>
            <a:srgbClr val="10B981"/>
          </a:solidFill>
          <a:ln/>
        </p:spPr>
        <p:txBody>
          <a:bodyPr wrap="square" rtlCol="0" anchor="ctr"/>
          <a:lstStyle/>
          <a:p>
            <a:pPr indent="0" marL="0">
              <a:buNone/>
            </a:pPr>
            <a:endParaRPr lang="en-US" dirty="0"/>
          </a:p>
        </p:txBody>
      </p:sp>
      <p:sp>
        <p:nvSpPr>
          <p:cNvPr id="21" name="Text 19"/>
          <p:cNvSpPr/>
          <p:nvPr/>
        </p:nvSpPr>
        <p:spPr>
          <a:xfrm>
            <a:off x="400050" y="3929063"/>
            <a:ext cx="637356" cy="239407"/>
          </a:xfrm>
          <a:prstGeom prst="rect">
            <a:avLst/>
          </a:prstGeom>
          <a:noFill/>
          <a:ln/>
        </p:spPr>
        <p:txBody>
          <a:bodyPr wrap="none" lIns="85725" tIns="35719" rIns="85725" bIns="35719" rtlCol="0" anchor="t"/>
          <a:lstStyle/>
          <a:p>
            <a:pPr algn="l" indent="0" marL="0">
              <a:buNone/>
            </a:pPr>
            <a:r>
              <a:rPr lang="en-US" sz="800" dirty="0">
                <a:solidFill>
                  <a:srgbClr val="1A1A1A"/>
                </a:solidFill>
                <a:latin typeface="Courier New" pitchFamily="34" charset="0"/>
                <a:ea typeface="Courier New" pitchFamily="34" charset="-122"/>
                <a:cs typeface="Courier New" pitchFamily="34" charset="-120"/>
              </a:rPr>
              <a:t>IBM Bob</a:t>
            </a:r>
            <a:endParaRPr lang="en-US" sz="800" dirty="0"/>
          </a:p>
        </p:txBody>
      </p:sp>
      <p:sp>
        <p:nvSpPr>
          <p:cNvPr id="22" name="Text 20"/>
          <p:cNvSpPr/>
          <p:nvPr/>
        </p:nvSpPr>
        <p:spPr>
          <a:xfrm>
            <a:off x="1073125" y="3918775"/>
            <a:ext cx="554422" cy="192024"/>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3" name="Text 21"/>
          <p:cNvSpPr/>
          <p:nvPr/>
        </p:nvSpPr>
        <p:spPr>
          <a:xfrm>
            <a:off x="1165994" y="3993356"/>
            <a:ext cx="42863" cy="42863"/>
          </a:xfrm>
          <a:prstGeom prst="roundRect">
            <a:avLst>
              <a:gd name="adj" fmla="val 66666"/>
            </a:avLst>
          </a:prstGeom>
          <a:solidFill>
            <a:srgbClr val="D4AF37"/>
          </a:solidFill>
          <a:ln/>
        </p:spPr>
        <p:txBody>
          <a:bodyPr wrap="square" rtlCol="0" anchor="ctr"/>
          <a:lstStyle/>
          <a:p>
            <a:pPr indent="0" marL="0">
              <a:buNone/>
            </a:pPr>
            <a:endParaRPr lang="en-US" dirty="0"/>
          </a:p>
        </p:txBody>
      </p:sp>
      <p:sp>
        <p:nvSpPr>
          <p:cNvPr id="24" name="Text 22"/>
          <p:cNvSpPr/>
          <p:nvPr/>
        </p:nvSpPr>
        <p:spPr>
          <a:xfrm>
            <a:off x="1073125" y="3929063"/>
            <a:ext cx="618716" cy="239407"/>
          </a:xfrm>
          <a:prstGeom prst="rect">
            <a:avLst/>
          </a:prstGeom>
          <a:noFill/>
          <a:ln/>
        </p:spPr>
        <p:txBody>
          <a:bodyPr wrap="none" lIns="85725" tIns="35719" rIns="85725" bIns="35719" rtlCol="0" anchor="t"/>
          <a:lstStyle/>
          <a:p>
            <a:pPr algn="l" indent="0" marL="0">
              <a:buNone/>
            </a:pPr>
            <a:r>
              <a:rPr lang="en-US" sz="800" dirty="0">
                <a:solidFill>
                  <a:srgbClr val="1A1A1A"/>
                </a:solidFill>
                <a:latin typeface="Courier New" pitchFamily="34" charset="0"/>
                <a:ea typeface="Courier New" pitchFamily="34" charset="-122"/>
                <a:cs typeface="Courier New" pitchFamily="34" charset="-120"/>
              </a:rPr>
              <a:t>Z Code</a:t>
            </a:r>
            <a:endParaRPr lang="en-US" sz="800" dirty="0"/>
          </a:p>
        </p:txBody>
      </p:sp>
      <p:sp>
        <p:nvSpPr>
          <p:cNvPr id="25" name="Text 23"/>
          <p:cNvSpPr/>
          <p:nvPr/>
        </p:nvSpPr>
        <p:spPr>
          <a:xfrm>
            <a:off x="1727560" y="3964781"/>
            <a:ext cx="3244490" cy="128016"/>
          </a:xfrm>
          <a:prstGeom prst="rect">
            <a:avLst/>
          </a:prstGeom>
          <a:noFill/>
          <a:ln/>
        </p:spPr>
        <p:txBody>
          <a:bodyPr wrap="square" lIns="0" tIns="0" rIns="0" bIns="0" rtlCol="0" anchor="t"/>
          <a:lstStyle/>
          <a:p>
            <a:pPr algn="l" indent="0" marL="0">
              <a:buNone/>
            </a:pPr>
            <a:r>
              <a:rPr lang="en-US" sz="800" dirty="0">
                <a:solidFill>
                  <a:srgbClr val="6B6B6B"/>
                </a:solidFill>
                <a:latin typeface="Carlito" pitchFamily="34" charset="0"/>
                <a:ea typeface="Carlito" pitchFamily="34" charset="-122"/>
                <a:cs typeface="Carlito" pitchFamily="34" charset="-120"/>
              </a:rPr>
              <a:t>pair-programmed end to end</a:t>
            </a:r>
            <a:endParaRPr lang="en-US" sz="800" dirty="0"/>
          </a:p>
        </p:txBody>
      </p:sp>
      <p:sp>
        <p:nvSpPr>
          <p:cNvPr id="26" name="Text 24"/>
          <p:cNvSpPr/>
          <p:nvPr/>
        </p:nvSpPr>
        <p:spPr>
          <a:xfrm>
            <a:off x="5261372" y="1789509"/>
            <a:ext cx="3479006" cy="1237431"/>
          </a:xfrm>
          <a:prstGeom prst="rect">
            <a:avLst/>
          </a:prstGeom>
          <a:solidFill>
            <a:srgbClr val="1A1A1A"/>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27" name="Shape 25"/>
          <p:cNvSpPr/>
          <p:nvPr/>
        </p:nvSpPr>
        <p:spPr>
          <a:xfrm>
            <a:off x="5264944" y="2010966"/>
            <a:ext cx="3471863" cy="0"/>
          </a:xfrm>
          <a:prstGeom prst="line">
            <a:avLst/>
          </a:prstGeom>
          <a:noFill/>
          <a:ln w="7144">
            <a:solidFill>
              <a:srgbClr val="EDE8DC"/>
            </a:solidFill>
            <a:prstDash val="solid"/>
          </a:ln>
        </p:spPr>
      </p:sp>
      <p:sp>
        <p:nvSpPr>
          <p:cNvPr id="28" name="Text 26"/>
          <p:cNvSpPr/>
          <p:nvPr/>
        </p:nvSpPr>
        <p:spPr>
          <a:xfrm>
            <a:off x="5368528" y="1871663"/>
            <a:ext cx="57150" cy="57150"/>
          </a:xfrm>
          <a:prstGeom prst="ellipse">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9" name="Text 27"/>
          <p:cNvSpPr/>
          <p:nvPr/>
        </p:nvSpPr>
        <p:spPr>
          <a:xfrm>
            <a:off x="5489972" y="1871663"/>
            <a:ext cx="57150" cy="57150"/>
          </a:xfrm>
          <a:prstGeom prst="ellipse">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30" name="Text 28"/>
          <p:cNvSpPr/>
          <p:nvPr/>
        </p:nvSpPr>
        <p:spPr>
          <a:xfrm>
            <a:off x="5611416" y="1871663"/>
            <a:ext cx="57150" cy="57150"/>
          </a:xfrm>
          <a:prstGeom prst="ellipse">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31" name="Text 29"/>
          <p:cNvSpPr/>
          <p:nvPr/>
        </p:nvSpPr>
        <p:spPr>
          <a:xfrm>
            <a:off x="5772150" y="1857375"/>
            <a:ext cx="2864644" cy="91440"/>
          </a:xfrm>
          <a:prstGeom prst="rect">
            <a:avLst/>
          </a:prstGeom>
          <a:noFill/>
          <a:ln/>
        </p:spPr>
        <p:txBody>
          <a:bodyPr wrap="none" lIns="0" tIns="0" rIns="0" bIns="0" rtlCol="0" anchor="t"/>
          <a:lstStyle/>
          <a:p>
            <a:pPr algn="l" indent="0" marL="0">
              <a:buNone/>
            </a:pPr>
            <a:r>
              <a:rPr lang="en-US" sz="800" dirty="0">
                <a:solidFill>
                  <a:srgbClr val="EDE8DC">
                    <a:alpha val="62000"/>
                  </a:srgbClr>
                </a:solidFill>
                <a:latin typeface="Liberation Sans Narrow" pitchFamily="34" charset="0"/>
                <a:ea typeface="Liberation Sans Narrow" pitchFamily="34" charset="-122"/>
                <a:cs typeface="Liberation Sans Narrow" pitchFamily="34" charset="-120"/>
              </a:rPr>
              <a:t>ibm bob · session 3</a:t>
            </a:r>
            <a:endParaRPr lang="en-US" sz="800" dirty="0"/>
          </a:p>
        </p:txBody>
      </p:sp>
      <p:sp>
        <p:nvSpPr>
          <p:cNvPr id="32" name="Text 30"/>
          <p:cNvSpPr/>
          <p:nvPr/>
        </p:nvSpPr>
        <p:spPr>
          <a:xfrm>
            <a:off x="5379244" y="2128838"/>
            <a:ext cx="3467290" cy="128614"/>
          </a:xfrm>
          <a:prstGeom prst="rect">
            <a:avLst/>
          </a:prstGeom>
          <a:noFill/>
          <a:ln/>
        </p:spPr>
        <p:txBody>
          <a:bodyPr wrap="none" lIns="0" tIns="0" rIns="0" bIns="0" rtlCol="0" anchor="t">
            <a:normAutofit/>
          </a:bodyPr>
          <a:lstStyle/>
          <a:p>
            <a:pPr algn="l" indent="0" marL="0">
              <a:lnSpc>
                <a:spcPts val="1229"/>
              </a:lnSpc>
              <a:buNone/>
            </a:pPr>
            <a:r>
              <a:rPr lang="en-US" sz="800" dirty="0">
                <a:solidFill>
                  <a:srgbClr val="EDE8DC">
                    <a:alpha val="62000"/>
                  </a:srgbClr>
                </a:solidFill>
                <a:latin typeface="Courier New" pitchFamily="34" charset="0"/>
                <a:ea typeface="Courier New" pitchFamily="34" charset="-122"/>
                <a:cs typeface="Courier New" pitchFamily="34" charset="-120"/>
              </a:rPr>
              <a:t>&gt; bob: add a security scan endpoint</a:t>
            </a:r>
            <a:endParaRPr lang="en-US" sz="800" dirty="0"/>
          </a:p>
        </p:txBody>
      </p:sp>
      <p:sp>
        <p:nvSpPr>
          <p:cNvPr id="33" name="Text 31"/>
          <p:cNvSpPr/>
          <p:nvPr/>
        </p:nvSpPr>
        <p:spPr>
          <a:xfrm>
            <a:off x="5379244" y="2284884"/>
            <a:ext cx="3467290" cy="128614"/>
          </a:xfrm>
          <a:prstGeom prst="rect">
            <a:avLst/>
          </a:prstGeom>
          <a:noFill/>
          <a:ln/>
        </p:spPr>
        <p:txBody>
          <a:bodyPr wrap="none" lIns="0" tIns="0" rIns="0" bIns="0" rtlCol="0" anchor="t">
            <a:normAutofit/>
          </a:bodyPr>
          <a:lstStyle/>
          <a:p>
            <a:pPr algn="l" indent="0" marL="0">
              <a:lnSpc>
                <a:spcPts val="1229"/>
              </a:lnSpc>
              <a:buNone/>
            </a:pPr>
            <a:r>
              <a:rPr lang="en-US" sz="800" dirty="0">
                <a:solidFill>
                  <a:srgbClr val="EDE8DC"/>
                </a:solidFill>
                <a:latin typeface="Courier New" pitchFamily="34" charset="0"/>
                <a:ea typeface="Courier New" pitchFamily="34" charset="-122"/>
                <a:cs typeface="Courier New" pitchFamily="34" charset="-120"/>
              </a:rPr>
              <a:t>created routes/security.py</a:t>
            </a:r>
            <a:endParaRPr lang="en-US" sz="800" dirty="0"/>
          </a:p>
        </p:txBody>
      </p:sp>
      <p:sp>
        <p:nvSpPr>
          <p:cNvPr id="34" name="Text 32"/>
          <p:cNvSpPr/>
          <p:nvPr/>
        </p:nvSpPr>
        <p:spPr>
          <a:xfrm>
            <a:off x="5379244" y="2440930"/>
            <a:ext cx="3357563" cy="128614"/>
          </a:xfrm>
          <a:prstGeom prst="rect">
            <a:avLst/>
          </a:prstGeom>
          <a:noFill/>
          <a:ln/>
        </p:spPr>
        <p:txBody>
          <a:bodyPr wrap="none" lIns="0" tIns="0" rIns="0" bIns="0" rtlCol="0" anchor="t">
            <a:normAutofit/>
          </a:bodyPr>
          <a:lstStyle/>
          <a:p>
            <a:pPr algn="l" indent="0" marL="0">
              <a:lnSpc>
                <a:spcPts val="1229"/>
              </a:lnSpc>
              <a:buNone/>
            </a:pPr>
            <a:r>
              <a:rPr lang="en-US" sz="800" dirty="0">
                <a:solidFill>
                  <a:srgbClr val="EDE8DC"/>
                </a:solidFill>
                <a:latin typeface="Liberation Sans Narrow" pitchFamily="34" charset="0"/>
                <a:ea typeface="Liberation Sans Narrow" pitchFamily="34" charset="-122"/>
                <a:cs typeface="Liberation Sans Narrow" pitchFamily="34" charset="-120"/>
              </a:rPr>
              <a:t>wrote 3 regex detectors</a:t>
            </a:r>
            <a:endParaRPr lang="en-US" sz="800" dirty="0"/>
          </a:p>
        </p:txBody>
      </p:sp>
      <p:sp>
        <p:nvSpPr>
          <p:cNvPr id="35" name="Text 33"/>
          <p:cNvSpPr/>
          <p:nvPr/>
        </p:nvSpPr>
        <p:spPr>
          <a:xfrm>
            <a:off x="5379244" y="2596976"/>
            <a:ext cx="3357563" cy="128614"/>
          </a:xfrm>
          <a:prstGeom prst="rect">
            <a:avLst/>
          </a:prstGeom>
          <a:noFill/>
          <a:ln/>
        </p:spPr>
        <p:txBody>
          <a:bodyPr wrap="none" lIns="0" tIns="0" rIns="0" bIns="0" rtlCol="0" anchor="t">
            <a:normAutofit/>
          </a:bodyPr>
          <a:lstStyle/>
          <a:p>
            <a:pPr algn="l" indent="0" marL="0">
              <a:lnSpc>
                <a:spcPts val="1229"/>
              </a:lnSpc>
              <a:buNone/>
            </a:pPr>
            <a:r>
              <a:rPr lang="en-US" sz="800" dirty="0">
                <a:solidFill>
                  <a:srgbClr val="EDE8DC"/>
                </a:solidFill>
                <a:latin typeface="Courier New" pitchFamily="34" charset="0"/>
                <a:ea typeface="Courier New" pitchFamily="34" charset="-122"/>
                <a:cs typeface="Courier New" pitchFamily="34" charset="-120"/>
              </a:rPr>
              <a:t>tests green </a:t>
            </a:r>
            <a:pPr algn="l" indent="0" marL="0">
              <a:lnSpc>
                <a:spcPts val="1229"/>
              </a:lnSpc>
              <a:buNone/>
            </a:pPr>
            <a:r>
              <a:rPr lang="en-US" sz="800" dirty="0">
                <a:solidFill>
                  <a:srgbClr val="10B981"/>
                </a:solidFill>
                <a:latin typeface="Segoe UI Symbol" pitchFamily="34" charset="0"/>
                <a:ea typeface="Segoe UI Symbol" pitchFamily="34" charset="-122"/>
                <a:cs typeface="Segoe UI Symbol" pitchFamily="34" charset="-120"/>
              </a:rPr>
              <a:t>✓</a:t>
            </a:r>
            <a:endParaRPr lang="en-US" sz="800" dirty="0"/>
          </a:p>
        </p:txBody>
      </p:sp>
      <p:sp>
        <p:nvSpPr>
          <p:cNvPr id="36" name="Text 34"/>
          <p:cNvSpPr/>
          <p:nvPr/>
        </p:nvSpPr>
        <p:spPr>
          <a:xfrm>
            <a:off x="5379244" y="2753023"/>
            <a:ext cx="3467290" cy="208424"/>
          </a:xfrm>
          <a:prstGeom prst="rect">
            <a:avLst/>
          </a:prstGeom>
          <a:noFill/>
          <a:ln/>
        </p:spPr>
        <p:txBody>
          <a:bodyPr wrap="none" lIns="0" tIns="0" rIns="0" bIns="0" rtlCol="0" anchor="t"/>
          <a:lstStyle/>
          <a:p>
            <a:pPr algn="l" indent="0" marL="0">
              <a:lnSpc>
                <a:spcPts val="1229"/>
              </a:lnSpc>
              <a:buNone/>
            </a:pPr>
            <a:r>
              <a:rPr lang="en-US" sz="800" dirty="0">
                <a:solidFill>
                  <a:srgbClr val="10B981"/>
                </a:solidFill>
                <a:latin typeface="Courier New" pitchFamily="34" charset="0"/>
                <a:ea typeface="Courier New" pitchFamily="34" charset="-122"/>
                <a:cs typeface="Courier New" pitchFamily="34" charset="-120"/>
              </a:rPr>
              <a:t>session exported → docs/bob-sessions/s3.md</a:t>
            </a:r>
            <a:endParaRPr lang="en-US" sz="800" dirty="0"/>
          </a:p>
        </p:txBody>
      </p:sp>
      <p:sp>
        <p:nvSpPr>
          <p:cNvPr id="37" name="Text 35"/>
          <p:cNvSpPr/>
          <p:nvPr/>
        </p:nvSpPr>
        <p:spPr>
          <a:xfrm>
            <a:off x="5257800" y="3130525"/>
            <a:ext cx="3486150" cy="119703"/>
          </a:xfrm>
          <a:prstGeom prst="rect">
            <a:avLst/>
          </a:prstGeom>
          <a:noFill/>
          <a:ln/>
        </p:spPr>
        <p:txBody>
          <a:bodyPr wrap="none" lIns="0" tIns="0" rIns="0" bIns="0" rtlCol="0" anchor="t"/>
          <a:lstStyle/>
          <a:p>
            <a:pPr algn="l" indent="0" marL="0">
              <a:buNone/>
            </a:pPr>
            <a:r>
              <a:rPr lang="en-US" sz="619" b="1" dirty="0">
                <a:solidFill>
                  <a:srgbClr val="10B981"/>
                </a:solidFill>
                <a:latin typeface="Courier New" pitchFamily="34" charset="0"/>
                <a:ea typeface="Courier New" pitchFamily="34" charset="-122"/>
                <a:cs typeface="Courier New" pitchFamily="34" charset="-120"/>
              </a:rPr>
              <a:t>github.com/&lt;your-handle&gt;/reposcope/tree/main/docs/bob-sessions</a:t>
            </a:r>
            <a:endParaRPr lang="en-US" sz="619" dirty="0"/>
          </a:p>
        </p:txBody>
      </p:sp>
      <p:sp>
        <p:nvSpPr>
          <p:cNvPr id="38" name="Text 36"/>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386621" y="400050"/>
            <a:ext cx="1321584"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Demo repos.</a:t>
            </a:r>
            <a:endParaRPr lang="en-US" sz="1519" dirty="0"/>
          </a:p>
        </p:txBody>
      </p:sp>
      <p:sp>
        <p:nvSpPr>
          <p:cNvPr id="3" name="Text 1"/>
          <p:cNvSpPr/>
          <p:nvPr/>
        </p:nvSpPr>
        <p:spPr>
          <a:xfrm>
            <a:off x="400050" y="671513"/>
            <a:ext cx="1990535" cy="126609"/>
          </a:xfrm>
          <a:prstGeom prst="rect">
            <a:avLst/>
          </a:prstGeom>
          <a:noFill/>
          <a:ln/>
        </p:spPr>
        <p:txBody>
          <a:bodyPr wrap="square" lIns="0" tIns="0" rIns="0" bIns="0" rtlCol="0" anchor="t"/>
          <a:lstStyle/>
          <a:p>
            <a:pPr algn="l" indent="0" marL="0">
              <a:buNone/>
            </a:pPr>
            <a:r>
              <a:rPr lang="en-US" sz="731" dirty="0">
                <a:solidFill>
                  <a:srgbClr val="6B6B6B"/>
                </a:solidFill>
                <a:latin typeface="Carlito" pitchFamily="34" charset="0"/>
                <a:ea typeface="Carlito" pitchFamily="34" charset="-122"/>
                <a:cs typeface="Carlito" pitchFamily="34" charset="-120"/>
              </a:rPr>
              <a:t>two real repos — one knowledge graph each</a:t>
            </a:r>
            <a:endParaRPr lang="en-US" sz="731" dirty="0"/>
          </a:p>
        </p:txBody>
      </p:sp>
      <p:sp>
        <p:nvSpPr>
          <p:cNvPr id="4" name="Text 2"/>
          <p:cNvSpPr/>
          <p:nvPr/>
        </p:nvSpPr>
        <p:spPr>
          <a:xfrm>
            <a:off x="403622" y="1003697"/>
            <a:ext cx="4079081" cy="333613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5" name="Image 0" descr="/tmp/h2p-svg-1790773506863-82vzye.png">    </p:cNvPr>
          <p:cNvPicPr>
            <a:picLocks noChangeAspect="1"/>
          </p:cNvPicPr>
          <p:nvPr/>
        </p:nvPicPr>
        <p:blipFill>
          <a:blip r:embed="rId1"/>
          <a:stretch>
            <a:fillRect/>
          </a:stretch>
        </p:blipFill>
        <p:spPr>
          <a:xfrm>
            <a:off x="550069" y="1178719"/>
            <a:ext cx="142875" cy="142875"/>
          </a:xfrm>
          <a:prstGeom prst="rect">
            <a:avLst/>
          </a:prstGeom>
        </p:spPr>
      </p:pic>
      <p:sp>
        <p:nvSpPr>
          <p:cNvPr id="6" name="Text 3"/>
          <p:cNvSpPr/>
          <p:nvPr/>
        </p:nvSpPr>
        <p:spPr>
          <a:xfrm>
            <a:off x="764381" y="1178719"/>
            <a:ext cx="2658703" cy="154305"/>
          </a:xfrm>
          <a:prstGeom prst="rect">
            <a:avLst/>
          </a:prstGeom>
          <a:noFill/>
          <a:ln/>
        </p:spPr>
        <p:txBody>
          <a:bodyPr wrap="none" lIns="0" tIns="0" rIns="0" bIns="0" rtlCol="0" anchor="t"/>
          <a:lstStyle/>
          <a:p>
            <a:pPr algn="l" indent="0" marL="0">
              <a:buNone/>
            </a:pPr>
            <a:r>
              <a:rPr lang="en-US" sz="956" b="1" dirty="0">
                <a:solidFill>
                  <a:srgbClr val="1A1A1A"/>
                </a:solidFill>
                <a:latin typeface="Carlito" pitchFamily="34" charset="0"/>
                <a:ea typeface="Carlito" pitchFamily="34" charset="-122"/>
                <a:cs typeface="Carlito" pitchFamily="34" charset="-120"/>
              </a:rPr>
              <a:t>Verdict</a:t>
            </a:r>
            <a:endParaRPr lang="en-US" sz="956" dirty="0"/>
          </a:p>
        </p:txBody>
      </p:sp>
      <p:sp>
        <p:nvSpPr>
          <p:cNvPr id="7" name="Text 4"/>
          <p:cNvSpPr/>
          <p:nvPr/>
        </p:nvSpPr>
        <p:spPr>
          <a:xfrm>
            <a:off x="3435943" y="1162145"/>
            <a:ext cx="923173" cy="176022"/>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8" name="Text 5"/>
          <p:cNvSpPr/>
          <p:nvPr/>
        </p:nvSpPr>
        <p:spPr>
          <a:xfrm>
            <a:off x="3458803" y="1171575"/>
            <a:ext cx="877453" cy="229906"/>
          </a:xfrm>
          <a:prstGeom prst="rect">
            <a:avLst/>
          </a:prstGeom>
          <a:noFill/>
          <a:ln/>
        </p:spPr>
        <p:txBody>
          <a:bodyPr wrap="none" lIns="71438" tIns="28575" rIns="71438" bIns="28575" rtlCol="0" anchor="t"/>
          <a:lstStyle/>
          <a:p>
            <a:pPr algn="l" indent="0" marL="0">
              <a:buNone/>
            </a:pPr>
            <a:r>
              <a:rPr lang="en-US" sz="600" dirty="0">
                <a:solidFill>
                  <a:srgbClr val="1A1A1A"/>
                </a:solidFill>
                <a:latin typeface="Courier New" pitchFamily="34" charset="0"/>
                <a:ea typeface="Courier New" pitchFamily="34" charset="-122"/>
                <a:cs typeface="Courier New" pitchFamily="34" charset="-120"/>
              </a:rPr>
              <a:t>Python · FastAPI</a:t>
            </a:r>
            <a:endParaRPr lang="en-US" sz="600" dirty="0"/>
          </a:p>
        </p:txBody>
      </p:sp>
      <p:sp>
        <p:nvSpPr>
          <p:cNvPr id="9" name="Text 6"/>
          <p:cNvSpPr/>
          <p:nvPr/>
        </p:nvSpPr>
        <p:spPr>
          <a:xfrm>
            <a:off x="553641" y="1453753"/>
            <a:ext cx="3793331" cy="2293144"/>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pic>
        <p:nvPicPr>
          <p:cNvPr id="10" name="Image 1" descr="/tmp/h2p-svg-1790773506863-1yhola.png">    </p:cNvPr>
          <p:cNvPicPr>
            <a:picLocks noChangeAspect="1"/>
          </p:cNvPicPr>
          <p:nvPr/>
        </p:nvPicPr>
        <p:blipFill>
          <a:blip r:embed="rId2"/>
          <a:stretch>
            <a:fillRect/>
          </a:stretch>
        </p:blipFill>
        <p:spPr>
          <a:xfrm>
            <a:off x="557213" y="1457325"/>
            <a:ext cx="3800475" cy="2300288"/>
          </a:xfrm>
          <a:prstGeom prst="rect">
            <a:avLst/>
          </a:prstGeom>
        </p:spPr>
      </p:pic>
      <p:sp>
        <p:nvSpPr>
          <p:cNvPr id="11" name="Text 7"/>
          <p:cNvSpPr/>
          <p:nvPr/>
        </p:nvSpPr>
        <p:spPr>
          <a:xfrm>
            <a:off x="550069" y="3886200"/>
            <a:ext cx="35719" cy="35719"/>
          </a:xfrm>
          <a:prstGeom prst="rect">
            <a:avLst/>
          </a:prstGeom>
          <a:solidFill>
            <a:srgbClr val="10B981"/>
          </a:solidFill>
          <a:ln/>
        </p:spPr>
        <p:txBody>
          <a:bodyPr wrap="square" rtlCol="0" anchor="ctr"/>
          <a:lstStyle/>
          <a:p>
            <a:pPr indent="0" marL="0">
              <a:buNone/>
            </a:pPr>
            <a:endParaRPr lang="en-US" dirty="0"/>
          </a:p>
        </p:txBody>
      </p:sp>
      <p:sp>
        <p:nvSpPr>
          <p:cNvPr id="12" name="Text 8"/>
          <p:cNvSpPr/>
          <p:nvPr/>
        </p:nvSpPr>
        <p:spPr>
          <a:xfrm>
            <a:off x="657225" y="3850481"/>
            <a:ext cx="3679031" cy="148133"/>
          </a:xfrm>
          <a:prstGeom prst="rect">
            <a:avLst/>
          </a:prstGeom>
          <a:noFill/>
          <a:ln/>
        </p:spPr>
        <p:txBody>
          <a:bodyPr wrap="square" lIns="0" tIns="0" rIns="0" bIns="0" rtlCol="0" anchor="t"/>
          <a:lstStyle/>
          <a:p>
            <a:pPr algn="l" indent="0" marL="0">
              <a:lnSpc>
                <a:spcPts val="949"/>
              </a:lnSpc>
              <a:buNone/>
            </a:pPr>
            <a:r>
              <a:rPr lang="en-US" sz="800" dirty="0">
                <a:solidFill>
                  <a:srgbClr val="6B6B6B"/>
                </a:solidFill>
                <a:latin typeface="Carlito" pitchFamily="34" charset="0"/>
                <a:ea typeface="Carlito" pitchFamily="34" charset="-122"/>
                <a:cs typeface="Carlito" pitchFamily="34" charset="-120"/>
              </a:rPr>
              <a:t>Architecture graph + impact analysis demo</a:t>
            </a:r>
            <a:endParaRPr lang="en-US" sz="800" dirty="0"/>
          </a:p>
        </p:txBody>
      </p:sp>
      <p:sp>
        <p:nvSpPr>
          <p:cNvPr id="13" name="Text 9"/>
          <p:cNvSpPr/>
          <p:nvPr/>
        </p:nvSpPr>
        <p:spPr>
          <a:xfrm>
            <a:off x="550069" y="4063901"/>
            <a:ext cx="35719" cy="35719"/>
          </a:xfrm>
          <a:prstGeom prst="rect">
            <a:avLst/>
          </a:prstGeom>
          <a:solidFill>
            <a:srgbClr val="10B981"/>
          </a:solidFill>
          <a:ln/>
        </p:spPr>
        <p:txBody>
          <a:bodyPr wrap="square" rtlCol="0" anchor="ctr"/>
          <a:lstStyle/>
          <a:p>
            <a:pPr indent="0" marL="0">
              <a:buNone/>
            </a:pPr>
            <a:endParaRPr lang="en-US" dirty="0"/>
          </a:p>
        </p:txBody>
      </p:sp>
      <p:sp>
        <p:nvSpPr>
          <p:cNvPr id="14" name="Text 10"/>
          <p:cNvSpPr/>
          <p:nvPr/>
        </p:nvSpPr>
        <p:spPr>
          <a:xfrm>
            <a:off x="657225" y="4028182"/>
            <a:ext cx="3679031" cy="148133"/>
          </a:xfrm>
          <a:prstGeom prst="rect">
            <a:avLst/>
          </a:prstGeom>
          <a:noFill/>
          <a:ln/>
        </p:spPr>
        <p:txBody>
          <a:bodyPr wrap="square" lIns="0" tIns="0" rIns="0" bIns="0" rtlCol="0" anchor="t"/>
          <a:lstStyle/>
          <a:p>
            <a:pPr algn="l" indent="0" marL="0">
              <a:lnSpc>
                <a:spcPts val="949"/>
              </a:lnSpc>
              <a:buNone/>
            </a:pPr>
            <a:r>
              <a:rPr lang="en-US" sz="800" dirty="0">
                <a:solidFill>
                  <a:srgbClr val="6B6B6B"/>
                </a:solidFill>
                <a:latin typeface="Carlito" pitchFamily="34" charset="0"/>
                <a:ea typeface="Carlito" pitchFamily="34" charset="-122"/>
                <a:cs typeface="Carlito" pitchFamily="34" charset="-120"/>
              </a:rPr>
              <a:t>Scaffold example — backend/main.py starter kit</a:t>
            </a:r>
            <a:endParaRPr lang="en-US" sz="800" dirty="0"/>
          </a:p>
        </p:txBody>
      </p:sp>
      <p:sp>
        <p:nvSpPr>
          <p:cNvPr id="15" name="Text 11"/>
          <p:cNvSpPr/>
          <p:nvPr/>
        </p:nvSpPr>
        <p:spPr>
          <a:xfrm>
            <a:off x="4661297" y="1003697"/>
            <a:ext cx="4079081" cy="333613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16" name="Image 2" descr="/tmp/h2p-svg-1790773506863-uvmmoo.png">    </p:cNvPr>
          <p:cNvPicPr>
            <a:picLocks noChangeAspect="1"/>
          </p:cNvPicPr>
          <p:nvPr/>
        </p:nvPicPr>
        <p:blipFill>
          <a:blip r:embed="rId3"/>
          <a:stretch>
            <a:fillRect/>
          </a:stretch>
        </p:blipFill>
        <p:spPr>
          <a:xfrm>
            <a:off x="4807744" y="1178719"/>
            <a:ext cx="142875" cy="142875"/>
          </a:xfrm>
          <a:prstGeom prst="rect">
            <a:avLst/>
          </a:prstGeom>
        </p:spPr>
      </p:pic>
      <p:sp>
        <p:nvSpPr>
          <p:cNvPr id="17" name="Text 12"/>
          <p:cNvSpPr/>
          <p:nvPr/>
        </p:nvSpPr>
        <p:spPr>
          <a:xfrm>
            <a:off x="5022056" y="1178719"/>
            <a:ext cx="2613720" cy="154305"/>
          </a:xfrm>
          <a:prstGeom prst="rect">
            <a:avLst/>
          </a:prstGeom>
          <a:noFill/>
          <a:ln/>
        </p:spPr>
        <p:txBody>
          <a:bodyPr wrap="none" lIns="0" tIns="0" rIns="0" bIns="0" rtlCol="0" anchor="t"/>
          <a:lstStyle/>
          <a:p>
            <a:pPr algn="l" indent="0" marL="0">
              <a:buNone/>
            </a:pPr>
            <a:r>
              <a:rPr lang="en-US" sz="956" b="1" dirty="0">
                <a:solidFill>
                  <a:srgbClr val="1A1A1A"/>
                </a:solidFill>
                <a:latin typeface="Carlito" pitchFamily="34" charset="0"/>
                <a:ea typeface="Carlito" pitchFamily="34" charset="-122"/>
                <a:cs typeface="Carlito" pitchFamily="34" charset="-120"/>
              </a:rPr>
              <a:t>StudyRot</a:t>
            </a:r>
            <a:endParaRPr lang="en-US" sz="956" dirty="0"/>
          </a:p>
        </p:txBody>
      </p:sp>
      <p:sp>
        <p:nvSpPr>
          <p:cNvPr id="18" name="Text 13"/>
          <p:cNvSpPr/>
          <p:nvPr/>
        </p:nvSpPr>
        <p:spPr>
          <a:xfrm>
            <a:off x="7648635" y="1162145"/>
            <a:ext cx="968157" cy="176022"/>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9" name="Text 14"/>
          <p:cNvSpPr/>
          <p:nvPr/>
        </p:nvSpPr>
        <p:spPr>
          <a:xfrm>
            <a:off x="7671495" y="1171575"/>
            <a:ext cx="922437" cy="229906"/>
          </a:xfrm>
          <a:prstGeom prst="rect">
            <a:avLst/>
          </a:prstGeom>
          <a:noFill/>
          <a:ln/>
        </p:spPr>
        <p:txBody>
          <a:bodyPr wrap="none" lIns="71438" tIns="28575" rIns="71438" bIns="28575" rtlCol="0" anchor="t"/>
          <a:lstStyle/>
          <a:p>
            <a:pPr algn="l" indent="0" marL="0">
              <a:buNone/>
            </a:pPr>
            <a:r>
              <a:rPr lang="en-US" sz="600" dirty="0">
                <a:solidFill>
                  <a:srgbClr val="1A1A1A"/>
                </a:solidFill>
                <a:latin typeface="Courier New" pitchFamily="34" charset="0"/>
                <a:ea typeface="Courier New" pitchFamily="34" charset="-122"/>
                <a:cs typeface="Courier New" pitchFamily="34" charset="-120"/>
              </a:rPr>
              <a:t>student study app</a:t>
            </a:r>
            <a:endParaRPr lang="en-US" sz="600" dirty="0"/>
          </a:p>
        </p:txBody>
      </p:sp>
      <p:sp>
        <p:nvSpPr>
          <p:cNvPr id="20" name="Text 15"/>
          <p:cNvSpPr/>
          <p:nvPr/>
        </p:nvSpPr>
        <p:spPr>
          <a:xfrm>
            <a:off x="4811316" y="1453753"/>
            <a:ext cx="3793331" cy="2293144"/>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pic>
        <p:nvPicPr>
          <p:cNvPr id="21" name="Image 3" descr="/tmp/h2p-svg-1790773506864-ivht3k.png">    </p:cNvPr>
          <p:cNvPicPr>
            <a:picLocks noChangeAspect="1"/>
          </p:cNvPicPr>
          <p:nvPr/>
        </p:nvPicPr>
        <p:blipFill>
          <a:blip r:embed="rId4"/>
          <a:stretch>
            <a:fillRect/>
          </a:stretch>
        </p:blipFill>
        <p:spPr>
          <a:xfrm>
            <a:off x="4814888" y="1457325"/>
            <a:ext cx="3800475" cy="2300288"/>
          </a:xfrm>
          <a:prstGeom prst="rect">
            <a:avLst/>
          </a:prstGeom>
        </p:spPr>
      </p:pic>
      <p:sp>
        <p:nvSpPr>
          <p:cNvPr id="22" name="Text 16"/>
          <p:cNvSpPr/>
          <p:nvPr/>
        </p:nvSpPr>
        <p:spPr>
          <a:xfrm>
            <a:off x="4807744" y="3886200"/>
            <a:ext cx="35719" cy="35719"/>
          </a:xfrm>
          <a:prstGeom prst="rect">
            <a:avLst/>
          </a:prstGeom>
          <a:solidFill>
            <a:srgbClr val="10B981"/>
          </a:solidFill>
          <a:ln/>
        </p:spPr>
        <p:txBody>
          <a:bodyPr wrap="square" rtlCol="0" anchor="ctr"/>
          <a:lstStyle/>
          <a:p>
            <a:pPr indent="0" marL="0">
              <a:buNone/>
            </a:pPr>
            <a:endParaRPr lang="en-US" dirty="0"/>
          </a:p>
        </p:txBody>
      </p:sp>
      <p:sp>
        <p:nvSpPr>
          <p:cNvPr id="23" name="Text 17"/>
          <p:cNvSpPr/>
          <p:nvPr/>
        </p:nvSpPr>
        <p:spPr>
          <a:xfrm>
            <a:off x="4914900" y="3850481"/>
            <a:ext cx="3679031" cy="148133"/>
          </a:xfrm>
          <a:prstGeom prst="rect">
            <a:avLst/>
          </a:prstGeom>
          <a:noFill/>
          <a:ln/>
        </p:spPr>
        <p:txBody>
          <a:bodyPr wrap="square" lIns="0" tIns="0" rIns="0" bIns="0" rtlCol="0" anchor="t"/>
          <a:lstStyle/>
          <a:p>
            <a:pPr algn="l" indent="0" marL="0">
              <a:lnSpc>
                <a:spcPts val="949"/>
              </a:lnSpc>
              <a:buNone/>
            </a:pPr>
            <a:r>
              <a:rPr lang="en-US" sz="800" dirty="0">
                <a:solidFill>
                  <a:srgbClr val="6B6B6B"/>
                </a:solidFill>
                <a:latin typeface="Carlito" pitchFamily="34" charset="0"/>
                <a:ea typeface="Carlito" pitchFamily="34" charset="-122"/>
                <a:cs typeface="Carlito" pitchFamily="34" charset="-120"/>
              </a:rPr>
              <a:t>Code tours + voice narration demo</a:t>
            </a:r>
            <a:endParaRPr lang="en-US" sz="800" dirty="0"/>
          </a:p>
        </p:txBody>
      </p:sp>
      <p:sp>
        <p:nvSpPr>
          <p:cNvPr id="24" name="Text 18"/>
          <p:cNvSpPr/>
          <p:nvPr/>
        </p:nvSpPr>
        <p:spPr>
          <a:xfrm>
            <a:off x="4807744" y="4063901"/>
            <a:ext cx="35719" cy="35719"/>
          </a:xfrm>
          <a:prstGeom prst="rect">
            <a:avLst/>
          </a:prstGeom>
          <a:solidFill>
            <a:srgbClr val="10B981"/>
          </a:solidFill>
          <a:ln/>
        </p:spPr>
        <p:txBody>
          <a:bodyPr wrap="square" rtlCol="0" anchor="ctr"/>
          <a:lstStyle/>
          <a:p>
            <a:pPr indent="0" marL="0">
              <a:buNone/>
            </a:pPr>
            <a:endParaRPr lang="en-US" dirty="0"/>
          </a:p>
        </p:txBody>
      </p:sp>
      <p:sp>
        <p:nvSpPr>
          <p:cNvPr id="25" name="Text 19"/>
          <p:cNvSpPr/>
          <p:nvPr/>
        </p:nvSpPr>
        <p:spPr>
          <a:xfrm>
            <a:off x="4914900" y="4028182"/>
            <a:ext cx="3679031" cy="148133"/>
          </a:xfrm>
          <a:prstGeom prst="rect">
            <a:avLst/>
          </a:prstGeom>
          <a:noFill/>
          <a:ln/>
        </p:spPr>
        <p:txBody>
          <a:bodyPr wrap="square" lIns="0" tIns="0" rIns="0" bIns="0" rtlCol="0" anchor="t"/>
          <a:lstStyle/>
          <a:p>
            <a:pPr algn="l" indent="0" marL="0">
              <a:lnSpc>
                <a:spcPts val="949"/>
              </a:lnSpc>
              <a:buNone/>
            </a:pPr>
            <a:r>
              <a:rPr lang="en-US" sz="800" dirty="0">
                <a:solidFill>
                  <a:srgbClr val="6B6B6B"/>
                </a:solidFill>
                <a:latin typeface="Carlito" pitchFamily="34" charset="0"/>
                <a:ea typeface="Carlito" pitchFamily="34" charset="-122"/>
                <a:cs typeface="Carlito" pitchFamily="34" charset="-120"/>
              </a:rPr>
              <a:t>Student Onboarding Mode — Row 0–5 path</a:t>
            </a:r>
            <a:endParaRPr lang="en-US" sz="800" dirty="0"/>
          </a:p>
        </p:txBody>
      </p:sp>
      <p:sp>
        <p:nvSpPr>
          <p:cNvPr id="26" name="Text 20"/>
          <p:cNvSpPr/>
          <p:nvPr/>
        </p:nvSpPr>
        <p:spPr>
          <a:xfrm>
            <a:off x="0" y="4543425"/>
            <a:ext cx="8636000" cy="119703"/>
          </a:xfrm>
          <a:prstGeom prst="rect">
            <a:avLst/>
          </a:prstGeom>
          <a:noFill/>
          <a:ln/>
        </p:spPr>
        <p:txBody>
          <a:bodyPr wrap="square" lIns="0" tIns="0" rIns="0" bIns="0" rtlCol="0" anchor="t"/>
          <a:lstStyle/>
          <a:p>
            <a:pPr algn="ctr" indent="0" marL="0">
              <a:buNone/>
            </a:pPr>
            <a:r>
              <a:rPr lang="en-US" sz="800" spc="25" kern="0" dirty="0">
                <a:solidFill>
                  <a:srgbClr val="6B6B6B"/>
                </a:solidFill>
                <a:latin typeface="Courier New" pitchFamily="34" charset="0"/>
                <a:ea typeface="Courier New" pitchFamily="34" charset="-122"/>
                <a:cs typeface="Courier New" pitchFamily="34" charset="-120"/>
              </a:rPr>
              <a:t>both repos scanned live in the demo video</a:t>
            </a:r>
            <a:endParaRPr lang="en-US" sz="800" dirty="0"/>
          </a:p>
        </p:txBody>
      </p:sp>
      <p:sp>
        <p:nvSpPr>
          <p:cNvPr id="27" name="Text 21"/>
          <p:cNvSpPr/>
          <p:nvPr/>
        </p:nvSpPr>
        <p:spPr>
          <a:xfrm>
            <a:off x="846534" y="1618059"/>
            <a:ext cx="435769" cy="178594"/>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28" name="Text 22"/>
          <p:cNvSpPr/>
          <p:nvPr/>
        </p:nvSpPr>
        <p:spPr>
          <a:xfrm>
            <a:off x="850106" y="1621631"/>
            <a:ext cx="428625" cy="21431"/>
          </a:xfrm>
          <a:prstGeom prst="rect">
            <a:avLst/>
          </a:prstGeom>
          <a:solidFill>
            <a:srgbClr val="1A1A1A"/>
          </a:solidFill>
          <a:ln/>
        </p:spPr>
        <p:txBody>
          <a:bodyPr wrap="square" rtlCol="0" anchor="ctr"/>
          <a:lstStyle/>
          <a:p>
            <a:pPr indent="0" marL="0">
              <a:buNone/>
            </a:pPr>
            <a:endParaRPr lang="en-US" dirty="0"/>
          </a:p>
        </p:txBody>
      </p:sp>
      <p:sp>
        <p:nvSpPr>
          <p:cNvPr id="29" name="Text 23"/>
          <p:cNvSpPr/>
          <p:nvPr/>
        </p:nvSpPr>
        <p:spPr>
          <a:xfrm>
            <a:off x="850106" y="1643063"/>
            <a:ext cx="428625" cy="150019"/>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github</a:t>
            </a:r>
            <a:endParaRPr lang="en-US" sz="800" dirty="0"/>
          </a:p>
        </p:txBody>
      </p:sp>
      <p:sp>
        <p:nvSpPr>
          <p:cNvPr id="30" name="Text 24"/>
          <p:cNvSpPr/>
          <p:nvPr/>
        </p:nvSpPr>
        <p:spPr>
          <a:xfrm>
            <a:off x="3589734" y="1618059"/>
            <a:ext cx="278606" cy="178594"/>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31" name="Text 25"/>
          <p:cNvSpPr/>
          <p:nvPr/>
        </p:nvSpPr>
        <p:spPr>
          <a:xfrm>
            <a:off x="3593306" y="1621631"/>
            <a:ext cx="271463" cy="21431"/>
          </a:xfrm>
          <a:prstGeom prst="rect">
            <a:avLst/>
          </a:prstGeom>
          <a:solidFill>
            <a:srgbClr val="1A1A1A"/>
          </a:solidFill>
          <a:ln/>
        </p:spPr>
        <p:txBody>
          <a:bodyPr wrap="square" rtlCol="0" anchor="ctr"/>
          <a:lstStyle/>
          <a:p>
            <a:pPr indent="0" marL="0">
              <a:buNone/>
            </a:pPr>
            <a:endParaRPr lang="en-US" dirty="0"/>
          </a:p>
        </p:txBody>
      </p:sp>
      <p:sp>
        <p:nvSpPr>
          <p:cNvPr id="32" name="Text 26"/>
          <p:cNvSpPr/>
          <p:nvPr/>
        </p:nvSpPr>
        <p:spPr>
          <a:xfrm>
            <a:off x="3593306" y="1643063"/>
            <a:ext cx="271463" cy="150019"/>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ui</a:t>
            </a:r>
            <a:endParaRPr lang="en-US" sz="800" dirty="0"/>
          </a:p>
        </p:txBody>
      </p:sp>
      <p:sp>
        <p:nvSpPr>
          <p:cNvPr id="33" name="Text 27"/>
          <p:cNvSpPr/>
          <p:nvPr/>
        </p:nvSpPr>
        <p:spPr>
          <a:xfrm>
            <a:off x="1889522" y="2403872"/>
            <a:ext cx="378619" cy="207169"/>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34" name="Text 28"/>
          <p:cNvSpPr/>
          <p:nvPr/>
        </p:nvSpPr>
        <p:spPr>
          <a:xfrm>
            <a:off x="1893094" y="2407444"/>
            <a:ext cx="371475" cy="21431"/>
          </a:xfrm>
          <a:prstGeom prst="rect">
            <a:avLst/>
          </a:prstGeom>
          <a:solidFill>
            <a:srgbClr val="10B981"/>
          </a:solidFill>
          <a:ln/>
        </p:spPr>
        <p:txBody>
          <a:bodyPr wrap="square" rtlCol="0" anchor="ctr"/>
          <a:lstStyle/>
          <a:p>
            <a:pPr indent="0" marL="0">
              <a:buNone/>
            </a:pPr>
            <a:endParaRPr lang="en-US" dirty="0"/>
          </a:p>
        </p:txBody>
      </p:sp>
      <p:sp>
        <p:nvSpPr>
          <p:cNvPr id="35" name="Text 29"/>
          <p:cNvSpPr/>
          <p:nvPr/>
        </p:nvSpPr>
        <p:spPr>
          <a:xfrm>
            <a:off x="1893094" y="2428875"/>
            <a:ext cx="371475" cy="178594"/>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api</a:t>
            </a:r>
            <a:endParaRPr lang="en-US" sz="800" dirty="0"/>
          </a:p>
        </p:txBody>
      </p:sp>
      <p:sp>
        <p:nvSpPr>
          <p:cNvPr id="36" name="Text 30"/>
          <p:cNvSpPr/>
          <p:nvPr/>
        </p:nvSpPr>
        <p:spPr>
          <a:xfrm>
            <a:off x="3075384" y="2411016"/>
            <a:ext cx="364331" cy="19288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37" name="Text 31"/>
          <p:cNvSpPr/>
          <p:nvPr/>
        </p:nvSpPr>
        <p:spPr>
          <a:xfrm>
            <a:off x="3078956" y="2414588"/>
            <a:ext cx="357188" cy="21431"/>
          </a:xfrm>
          <a:prstGeom prst="rect">
            <a:avLst/>
          </a:prstGeom>
          <a:solidFill>
            <a:srgbClr val="10B981"/>
          </a:solidFill>
          <a:ln/>
        </p:spPr>
        <p:txBody>
          <a:bodyPr wrap="square" rtlCol="0" anchor="ctr"/>
          <a:lstStyle/>
          <a:p>
            <a:pPr indent="0" marL="0">
              <a:buNone/>
            </a:pPr>
            <a:endParaRPr lang="en-US" dirty="0"/>
          </a:p>
        </p:txBody>
      </p:sp>
      <p:sp>
        <p:nvSpPr>
          <p:cNvPr id="38" name="Text 32"/>
          <p:cNvSpPr/>
          <p:nvPr/>
        </p:nvSpPr>
        <p:spPr>
          <a:xfrm>
            <a:off x="3078956" y="2436019"/>
            <a:ext cx="357188" cy="164306"/>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auth</a:t>
            </a:r>
            <a:endParaRPr lang="en-US" sz="800" dirty="0"/>
          </a:p>
        </p:txBody>
      </p:sp>
      <p:sp>
        <p:nvSpPr>
          <p:cNvPr id="39" name="Text 33"/>
          <p:cNvSpPr/>
          <p:nvPr/>
        </p:nvSpPr>
        <p:spPr>
          <a:xfrm>
            <a:off x="1246584" y="3189684"/>
            <a:ext cx="278606" cy="178594"/>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40" name="Text 34"/>
          <p:cNvSpPr/>
          <p:nvPr/>
        </p:nvSpPr>
        <p:spPr>
          <a:xfrm>
            <a:off x="1250156" y="3193256"/>
            <a:ext cx="271463" cy="21431"/>
          </a:xfrm>
          <a:prstGeom prst="rect">
            <a:avLst/>
          </a:prstGeom>
          <a:solidFill>
            <a:srgbClr val="10B981"/>
          </a:solidFill>
          <a:ln/>
        </p:spPr>
        <p:txBody>
          <a:bodyPr wrap="square" rtlCol="0" anchor="ctr"/>
          <a:lstStyle/>
          <a:p>
            <a:pPr indent="0" marL="0">
              <a:buNone/>
            </a:pPr>
            <a:endParaRPr lang="en-US" dirty="0"/>
          </a:p>
        </p:txBody>
      </p:sp>
      <p:sp>
        <p:nvSpPr>
          <p:cNvPr id="41" name="Text 35"/>
          <p:cNvSpPr/>
          <p:nvPr/>
        </p:nvSpPr>
        <p:spPr>
          <a:xfrm>
            <a:off x="1250156" y="3214688"/>
            <a:ext cx="271463" cy="150019"/>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db</a:t>
            </a:r>
            <a:endParaRPr lang="en-US" sz="800" dirty="0"/>
          </a:p>
        </p:txBody>
      </p:sp>
      <p:sp>
        <p:nvSpPr>
          <p:cNvPr id="42" name="Text 36"/>
          <p:cNvSpPr/>
          <p:nvPr/>
        </p:nvSpPr>
        <p:spPr>
          <a:xfrm>
            <a:off x="2246709" y="3189684"/>
            <a:ext cx="278606" cy="178594"/>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43" name="Text 37"/>
          <p:cNvSpPr/>
          <p:nvPr/>
        </p:nvSpPr>
        <p:spPr>
          <a:xfrm>
            <a:off x="2250281" y="3193256"/>
            <a:ext cx="271463" cy="21431"/>
          </a:xfrm>
          <a:prstGeom prst="rect">
            <a:avLst/>
          </a:prstGeom>
          <a:solidFill>
            <a:srgbClr val="D4AF37"/>
          </a:solidFill>
          <a:ln/>
        </p:spPr>
        <p:txBody>
          <a:bodyPr wrap="square" rtlCol="0" anchor="ctr"/>
          <a:lstStyle/>
          <a:p>
            <a:pPr indent="0" marL="0">
              <a:buNone/>
            </a:pPr>
            <a:endParaRPr lang="en-US" dirty="0"/>
          </a:p>
        </p:txBody>
      </p:sp>
      <p:sp>
        <p:nvSpPr>
          <p:cNvPr id="44" name="Text 38"/>
          <p:cNvSpPr/>
          <p:nvPr/>
        </p:nvSpPr>
        <p:spPr>
          <a:xfrm>
            <a:off x="2250281" y="3214688"/>
            <a:ext cx="271463" cy="150019"/>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llm</a:t>
            </a:r>
            <a:endParaRPr lang="en-US" sz="800" dirty="0"/>
          </a:p>
        </p:txBody>
      </p:sp>
      <p:sp>
        <p:nvSpPr>
          <p:cNvPr id="45" name="Text 39"/>
          <p:cNvSpPr/>
          <p:nvPr/>
        </p:nvSpPr>
        <p:spPr>
          <a:xfrm>
            <a:off x="3361134" y="3189684"/>
            <a:ext cx="278606" cy="178594"/>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46" name="Text 40"/>
          <p:cNvSpPr/>
          <p:nvPr/>
        </p:nvSpPr>
        <p:spPr>
          <a:xfrm>
            <a:off x="3364706" y="3193256"/>
            <a:ext cx="271463" cy="21431"/>
          </a:xfrm>
          <a:prstGeom prst="rect">
            <a:avLst/>
          </a:prstGeom>
          <a:solidFill>
            <a:srgbClr val="1A1A1A"/>
          </a:solidFill>
          <a:ln/>
        </p:spPr>
        <p:txBody>
          <a:bodyPr wrap="square" rtlCol="0" anchor="ctr"/>
          <a:lstStyle/>
          <a:p>
            <a:pPr indent="0" marL="0">
              <a:buNone/>
            </a:pPr>
            <a:endParaRPr lang="en-US" dirty="0"/>
          </a:p>
        </p:txBody>
      </p:sp>
      <p:sp>
        <p:nvSpPr>
          <p:cNvPr id="47" name="Text 41"/>
          <p:cNvSpPr/>
          <p:nvPr/>
        </p:nvSpPr>
        <p:spPr>
          <a:xfrm>
            <a:off x="3364706" y="3214688"/>
            <a:ext cx="271463" cy="150019"/>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sse</a:t>
            </a:r>
            <a:endParaRPr lang="en-US" sz="800" dirty="0"/>
          </a:p>
        </p:txBody>
      </p:sp>
      <p:sp>
        <p:nvSpPr>
          <p:cNvPr id="48" name="Text 42"/>
          <p:cNvSpPr/>
          <p:nvPr/>
        </p:nvSpPr>
        <p:spPr>
          <a:xfrm>
            <a:off x="5247084" y="1618059"/>
            <a:ext cx="278606" cy="178594"/>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49" name="Text 43"/>
          <p:cNvSpPr/>
          <p:nvPr/>
        </p:nvSpPr>
        <p:spPr>
          <a:xfrm>
            <a:off x="5250656" y="1621631"/>
            <a:ext cx="271463" cy="21431"/>
          </a:xfrm>
          <a:prstGeom prst="rect">
            <a:avLst/>
          </a:prstGeom>
          <a:solidFill>
            <a:srgbClr val="1A1A1A"/>
          </a:solidFill>
          <a:ln/>
        </p:spPr>
        <p:txBody>
          <a:bodyPr wrap="square" rtlCol="0" anchor="ctr"/>
          <a:lstStyle/>
          <a:p>
            <a:pPr indent="0" marL="0">
              <a:buNone/>
            </a:pPr>
            <a:endParaRPr lang="en-US" dirty="0"/>
          </a:p>
        </p:txBody>
      </p:sp>
      <p:sp>
        <p:nvSpPr>
          <p:cNvPr id="50" name="Text 44"/>
          <p:cNvSpPr/>
          <p:nvPr/>
        </p:nvSpPr>
        <p:spPr>
          <a:xfrm>
            <a:off x="5250656" y="1643063"/>
            <a:ext cx="271463" cy="150019"/>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ui</a:t>
            </a:r>
            <a:endParaRPr lang="en-US" sz="800" dirty="0"/>
          </a:p>
        </p:txBody>
      </p:sp>
      <p:sp>
        <p:nvSpPr>
          <p:cNvPr id="51" name="Text 45"/>
          <p:cNvSpPr/>
          <p:nvPr/>
        </p:nvSpPr>
        <p:spPr>
          <a:xfrm>
            <a:off x="7675959" y="1618059"/>
            <a:ext cx="350044" cy="178594"/>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52" name="Text 46"/>
          <p:cNvSpPr/>
          <p:nvPr/>
        </p:nvSpPr>
        <p:spPr>
          <a:xfrm>
            <a:off x="7679531" y="1621631"/>
            <a:ext cx="342900" cy="21431"/>
          </a:xfrm>
          <a:prstGeom prst="rect">
            <a:avLst/>
          </a:prstGeom>
          <a:solidFill>
            <a:srgbClr val="1A1A1A"/>
          </a:solidFill>
          <a:ln/>
        </p:spPr>
        <p:txBody>
          <a:bodyPr wrap="square" rtlCol="0" anchor="ctr"/>
          <a:lstStyle/>
          <a:p>
            <a:pPr indent="0" marL="0">
              <a:buNone/>
            </a:pPr>
            <a:endParaRPr lang="en-US" dirty="0"/>
          </a:p>
        </p:txBody>
      </p:sp>
      <p:sp>
        <p:nvSpPr>
          <p:cNvPr id="53" name="Text 47"/>
          <p:cNvSpPr/>
          <p:nvPr/>
        </p:nvSpPr>
        <p:spPr>
          <a:xfrm>
            <a:off x="7677347" y="1643063"/>
            <a:ext cx="347269" cy="150019"/>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state</a:t>
            </a:r>
            <a:endParaRPr lang="en-US" sz="800" dirty="0"/>
          </a:p>
        </p:txBody>
      </p:sp>
      <p:sp>
        <p:nvSpPr>
          <p:cNvPr id="54" name="Text 48"/>
          <p:cNvSpPr/>
          <p:nvPr/>
        </p:nvSpPr>
        <p:spPr>
          <a:xfrm>
            <a:off x="6032897" y="2403872"/>
            <a:ext cx="278606" cy="207169"/>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55" name="Text 49"/>
          <p:cNvSpPr/>
          <p:nvPr/>
        </p:nvSpPr>
        <p:spPr>
          <a:xfrm>
            <a:off x="6036469" y="2407444"/>
            <a:ext cx="271463" cy="21431"/>
          </a:xfrm>
          <a:prstGeom prst="rect">
            <a:avLst/>
          </a:prstGeom>
          <a:solidFill>
            <a:srgbClr val="10B981"/>
          </a:solidFill>
          <a:ln/>
        </p:spPr>
        <p:txBody>
          <a:bodyPr wrap="square" rtlCol="0" anchor="ctr"/>
          <a:lstStyle/>
          <a:p>
            <a:pPr indent="0" marL="0">
              <a:buNone/>
            </a:pPr>
            <a:endParaRPr lang="en-US" dirty="0"/>
          </a:p>
        </p:txBody>
      </p:sp>
      <p:sp>
        <p:nvSpPr>
          <p:cNvPr id="56" name="Text 50"/>
          <p:cNvSpPr/>
          <p:nvPr/>
        </p:nvSpPr>
        <p:spPr>
          <a:xfrm>
            <a:off x="6036469" y="2428875"/>
            <a:ext cx="271463" cy="178594"/>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db</a:t>
            </a:r>
            <a:endParaRPr lang="en-US" sz="800" dirty="0"/>
          </a:p>
        </p:txBody>
      </p:sp>
      <p:sp>
        <p:nvSpPr>
          <p:cNvPr id="57" name="Text 51"/>
          <p:cNvSpPr/>
          <p:nvPr/>
        </p:nvSpPr>
        <p:spPr>
          <a:xfrm>
            <a:off x="7175897" y="2411016"/>
            <a:ext cx="321469" cy="19288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58" name="Text 52"/>
          <p:cNvSpPr/>
          <p:nvPr/>
        </p:nvSpPr>
        <p:spPr>
          <a:xfrm>
            <a:off x="7179469" y="2414588"/>
            <a:ext cx="314325" cy="21431"/>
          </a:xfrm>
          <a:prstGeom prst="rect">
            <a:avLst/>
          </a:prstGeom>
          <a:solidFill>
            <a:srgbClr val="10B981"/>
          </a:solidFill>
          <a:ln/>
        </p:spPr>
        <p:txBody>
          <a:bodyPr wrap="square" rtlCol="0" anchor="ctr"/>
          <a:lstStyle/>
          <a:p>
            <a:pPr indent="0" marL="0">
              <a:buNone/>
            </a:pPr>
            <a:endParaRPr lang="en-US" dirty="0"/>
          </a:p>
        </p:txBody>
      </p:sp>
      <p:sp>
        <p:nvSpPr>
          <p:cNvPr id="59" name="Text 53"/>
          <p:cNvSpPr/>
          <p:nvPr/>
        </p:nvSpPr>
        <p:spPr>
          <a:xfrm>
            <a:off x="7179469" y="2436019"/>
            <a:ext cx="314325" cy="164306"/>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tour</a:t>
            </a:r>
            <a:endParaRPr lang="en-US" sz="800" dirty="0"/>
          </a:p>
        </p:txBody>
      </p:sp>
      <p:sp>
        <p:nvSpPr>
          <p:cNvPr id="60" name="Text 54"/>
          <p:cNvSpPr/>
          <p:nvPr/>
        </p:nvSpPr>
        <p:spPr>
          <a:xfrm>
            <a:off x="5890022" y="3189684"/>
            <a:ext cx="307181" cy="178594"/>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61" name="Text 55"/>
          <p:cNvSpPr/>
          <p:nvPr/>
        </p:nvSpPr>
        <p:spPr>
          <a:xfrm>
            <a:off x="5893594" y="3193256"/>
            <a:ext cx="300038" cy="21431"/>
          </a:xfrm>
          <a:prstGeom prst="rect">
            <a:avLst/>
          </a:prstGeom>
          <a:solidFill>
            <a:srgbClr val="10B981"/>
          </a:solidFill>
          <a:ln/>
        </p:spPr>
        <p:txBody>
          <a:bodyPr wrap="square" rtlCol="0" anchor="ctr"/>
          <a:lstStyle/>
          <a:p>
            <a:pPr indent="0" marL="0">
              <a:buNone/>
            </a:pPr>
            <a:endParaRPr lang="en-US" dirty="0"/>
          </a:p>
        </p:txBody>
      </p:sp>
      <p:sp>
        <p:nvSpPr>
          <p:cNvPr id="62" name="Text 56"/>
          <p:cNvSpPr/>
          <p:nvPr/>
        </p:nvSpPr>
        <p:spPr>
          <a:xfrm>
            <a:off x="5893594" y="3214688"/>
            <a:ext cx="300038" cy="150019"/>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quiz</a:t>
            </a:r>
            <a:endParaRPr lang="en-US" sz="800" dirty="0"/>
          </a:p>
        </p:txBody>
      </p:sp>
      <p:sp>
        <p:nvSpPr>
          <p:cNvPr id="63" name="Text 57"/>
          <p:cNvSpPr/>
          <p:nvPr/>
        </p:nvSpPr>
        <p:spPr>
          <a:xfrm>
            <a:off x="7318772" y="3189684"/>
            <a:ext cx="278606" cy="178594"/>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64" name="Text 58"/>
          <p:cNvSpPr/>
          <p:nvPr/>
        </p:nvSpPr>
        <p:spPr>
          <a:xfrm>
            <a:off x="7322344" y="3193256"/>
            <a:ext cx="271463" cy="21431"/>
          </a:xfrm>
          <a:prstGeom prst="rect">
            <a:avLst/>
          </a:prstGeom>
          <a:solidFill>
            <a:srgbClr val="D4AF37"/>
          </a:solidFill>
          <a:ln/>
        </p:spPr>
        <p:txBody>
          <a:bodyPr wrap="square" rtlCol="0" anchor="ctr"/>
          <a:lstStyle/>
          <a:p>
            <a:pPr indent="0" marL="0">
              <a:buNone/>
            </a:pPr>
            <a:endParaRPr lang="en-US" dirty="0"/>
          </a:p>
        </p:txBody>
      </p:sp>
      <p:sp>
        <p:nvSpPr>
          <p:cNvPr id="65" name="Text 59"/>
          <p:cNvSpPr/>
          <p:nvPr/>
        </p:nvSpPr>
        <p:spPr>
          <a:xfrm>
            <a:off x="7322344" y="3214688"/>
            <a:ext cx="271463" cy="150019"/>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tts</a:t>
            </a:r>
            <a:endParaRPr lang="en-US" sz="800" dirty="0"/>
          </a:p>
        </p:txBody>
      </p:sp>
      <p:sp>
        <p:nvSpPr>
          <p:cNvPr id="66" name="Text 60"/>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400050"/>
            <a:ext cx="1484937"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Live right now.</a:t>
            </a:r>
            <a:endParaRPr lang="en-US" sz="1519" dirty="0"/>
          </a:p>
        </p:txBody>
      </p:sp>
      <p:sp>
        <p:nvSpPr>
          <p:cNvPr id="3" name="Text 1"/>
          <p:cNvSpPr/>
          <p:nvPr/>
        </p:nvSpPr>
        <p:spPr>
          <a:xfrm>
            <a:off x="7591038" y="431768"/>
            <a:ext cx="1175772" cy="208026"/>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4" name="Text 2"/>
          <p:cNvSpPr/>
          <p:nvPr/>
        </p:nvSpPr>
        <p:spPr>
          <a:xfrm>
            <a:off x="7721054" y="514350"/>
            <a:ext cx="42863" cy="42863"/>
          </a:xfrm>
          <a:prstGeom prst="roundRect">
            <a:avLst>
              <a:gd name="adj" fmla="val 66666"/>
            </a:avLst>
          </a:prstGeom>
          <a:solidFill>
            <a:srgbClr val="10B981"/>
          </a:solidFill>
          <a:ln/>
        </p:spPr>
        <p:txBody>
          <a:bodyPr wrap="square" rtlCol="0" anchor="ctr"/>
          <a:lstStyle/>
          <a:p>
            <a:pPr indent="0" marL="0">
              <a:buNone/>
            </a:pPr>
            <a:endParaRPr lang="en-US" dirty="0"/>
          </a:p>
        </p:txBody>
      </p:sp>
      <p:sp>
        <p:nvSpPr>
          <p:cNvPr id="5" name="Text 3"/>
          <p:cNvSpPr/>
          <p:nvPr/>
        </p:nvSpPr>
        <p:spPr>
          <a:xfrm>
            <a:off x="7613898" y="442913"/>
            <a:ext cx="1130052" cy="259357"/>
          </a:xfrm>
          <a:prstGeom prst="rect">
            <a:avLst/>
          </a:prstGeom>
          <a:noFill/>
          <a:ln/>
        </p:spPr>
        <p:txBody>
          <a:bodyPr wrap="none" lIns="100013" tIns="42863" rIns="100013" bIns="42863" rtlCol="0" anchor="t"/>
          <a:lstStyle/>
          <a:p>
            <a:pPr algn="l" indent="0" marL="0">
              <a:buNone/>
            </a:pPr>
            <a:r>
              <a:rPr lang="en-US" sz="800" spc="37" kern="0" dirty="0">
                <a:solidFill>
                  <a:srgbClr val="1A1A1A"/>
                </a:solidFill>
                <a:latin typeface="Courier New" pitchFamily="34" charset="0"/>
                <a:ea typeface="Courier New" pitchFamily="34" charset="-122"/>
                <a:cs typeface="Courier New" pitchFamily="34" charset="-120"/>
              </a:rPr>
              <a:t>ALL SYSTEMS LIVE</a:t>
            </a:r>
            <a:endParaRPr lang="en-US" sz="800" dirty="0"/>
          </a:p>
        </p:txBody>
      </p:sp>
      <p:sp>
        <p:nvSpPr>
          <p:cNvPr id="6" name="Text 4"/>
          <p:cNvSpPr/>
          <p:nvPr/>
        </p:nvSpPr>
        <p:spPr>
          <a:xfrm>
            <a:off x="403622" y="1260872"/>
            <a:ext cx="2657475" cy="245030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7" name="Image 0" descr="/tmp/h2p-svg-1790773506846-15o971.png">    </p:cNvPr>
          <p:cNvPicPr>
            <a:picLocks noChangeAspect="1"/>
          </p:cNvPicPr>
          <p:nvPr/>
        </p:nvPicPr>
        <p:blipFill>
          <a:blip r:embed="rId1"/>
          <a:stretch>
            <a:fillRect/>
          </a:stretch>
        </p:blipFill>
        <p:spPr>
          <a:xfrm>
            <a:off x="564356" y="1421606"/>
            <a:ext cx="214313" cy="214313"/>
          </a:xfrm>
          <a:prstGeom prst="rect">
            <a:avLst/>
          </a:prstGeom>
        </p:spPr>
      </p:pic>
      <p:sp>
        <p:nvSpPr>
          <p:cNvPr id="8" name="Text 5"/>
          <p:cNvSpPr/>
          <p:nvPr/>
        </p:nvSpPr>
        <p:spPr>
          <a:xfrm>
            <a:off x="564356" y="1793081"/>
            <a:ext cx="2336006" cy="138875"/>
          </a:xfrm>
          <a:prstGeom prst="rect">
            <a:avLst/>
          </a:prstGeom>
          <a:noFill/>
          <a:ln/>
        </p:spPr>
        <p:txBody>
          <a:bodyPr wrap="none" lIns="0" tIns="0" rIns="0" bIns="0" rtlCol="0" anchor="t"/>
          <a:lstStyle/>
          <a:p>
            <a:pPr algn="l" indent="0" marL="0">
              <a:buNone/>
            </a:pPr>
            <a:r>
              <a:rPr lang="en-US" sz="900" b="1" dirty="0">
                <a:solidFill>
                  <a:srgbClr val="1A1A1A"/>
                </a:solidFill>
                <a:latin typeface="Carlito" pitchFamily="34" charset="0"/>
                <a:ea typeface="Carlito" pitchFamily="34" charset="-122"/>
                <a:cs typeface="Carlito" pitchFamily="34" charset="-120"/>
              </a:rPr>
              <a:t>Live app</a:t>
            </a:r>
            <a:endParaRPr lang="en-US" sz="900" dirty="0"/>
          </a:p>
        </p:txBody>
      </p:sp>
      <p:sp>
        <p:nvSpPr>
          <p:cNvPr id="9" name="Text 6"/>
          <p:cNvSpPr/>
          <p:nvPr/>
        </p:nvSpPr>
        <p:spPr>
          <a:xfrm>
            <a:off x="564356" y="1993106"/>
            <a:ext cx="2445734" cy="164592"/>
          </a:xfrm>
          <a:prstGeom prst="rect">
            <a:avLst/>
          </a:prstGeom>
          <a:noFill/>
          <a:ln/>
        </p:spPr>
        <p:txBody>
          <a:bodyPr wrap="square" lIns="0" tIns="0" rIns="0" bIns="0" rtlCol="0" anchor="t"/>
          <a:lstStyle/>
          <a:p>
            <a:pPr algn="l" indent="0" marL="0">
              <a:lnSpc>
                <a:spcPts val="1097"/>
              </a:lnSpc>
              <a:buNone/>
            </a:pPr>
            <a:r>
              <a:rPr lang="en-US" sz="800" b="1" dirty="0">
                <a:solidFill>
                  <a:srgbClr val="10B981"/>
                </a:solidFill>
                <a:latin typeface="Courier New" pitchFamily="34" charset="0"/>
                <a:ea typeface="Courier New" pitchFamily="34" charset="-122"/>
                <a:cs typeface="Courier New" pitchFamily="34" charset="-120"/>
              </a:rPr>
              <a:t>repo-scope-nu.vercel.app</a:t>
            </a:r>
            <a:endParaRPr lang="en-US" sz="800" dirty="0"/>
          </a:p>
        </p:txBody>
      </p:sp>
      <p:sp>
        <p:nvSpPr>
          <p:cNvPr id="10" name="Text 7"/>
          <p:cNvSpPr/>
          <p:nvPr/>
        </p:nvSpPr>
        <p:spPr>
          <a:xfrm>
            <a:off x="564356" y="3357563"/>
            <a:ext cx="2336006" cy="7144"/>
          </a:xfrm>
          <a:prstGeom prst="rect">
            <a:avLst/>
          </a:prstGeom>
          <a:solidFill>
            <a:srgbClr val="1A1A1A"/>
          </a:solidFill>
          <a:ln/>
        </p:spPr>
        <p:txBody>
          <a:bodyPr wrap="square" rtlCol="0" anchor="ctr"/>
          <a:lstStyle/>
          <a:p>
            <a:pPr indent="0" marL="0">
              <a:buNone/>
            </a:pPr>
            <a:endParaRPr lang="en-US" dirty="0"/>
          </a:p>
        </p:txBody>
      </p:sp>
      <p:sp>
        <p:nvSpPr>
          <p:cNvPr id="11" name="Text 8"/>
          <p:cNvSpPr/>
          <p:nvPr/>
        </p:nvSpPr>
        <p:spPr>
          <a:xfrm>
            <a:off x="564356" y="3486150"/>
            <a:ext cx="42863" cy="42863"/>
          </a:xfrm>
          <a:prstGeom prst="ellipse">
            <a:avLst/>
          </a:prstGeom>
          <a:solidFill>
            <a:srgbClr val="10B981"/>
          </a:solidFill>
          <a:ln/>
        </p:spPr>
        <p:txBody>
          <a:bodyPr wrap="square" rtlCol="0" anchor="ctr"/>
          <a:lstStyle/>
          <a:p>
            <a:pPr indent="0" marL="0">
              <a:buNone/>
            </a:pPr>
            <a:endParaRPr lang="en-US" dirty="0"/>
          </a:p>
        </p:txBody>
      </p:sp>
      <p:sp>
        <p:nvSpPr>
          <p:cNvPr id="12" name="Text 9"/>
          <p:cNvSpPr/>
          <p:nvPr/>
        </p:nvSpPr>
        <p:spPr>
          <a:xfrm>
            <a:off x="664369" y="3464719"/>
            <a:ext cx="2235994" cy="91440"/>
          </a:xfrm>
          <a:prstGeom prst="rect">
            <a:avLst/>
          </a:prstGeom>
          <a:noFill/>
          <a:ln/>
        </p:spPr>
        <p:txBody>
          <a:bodyPr wrap="none" lIns="0" tIns="0" rIns="0" bIns="0" rtlCol="0" anchor="t"/>
          <a:lstStyle/>
          <a:p>
            <a:pPr algn="l" indent="0" marL="0">
              <a:buNone/>
            </a:pPr>
            <a:r>
              <a:rPr lang="en-US" sz="800" dirty="0">
                <a:solidFill>
                  <a:srgbClr val="6B6B6B"/>
                </a:solidFill>
                <a:latin typeface="Courier New" pitchFamily="34" charset="0"/>
                <a:ea typeface="Courier New" pitchFamily="34" charset="-122"/>
                <a:cs typeface="Courier New" pitchFamily="34" charset="-120"/>
              </a:rPr>
              <a:t>deployed · Vercel</a:t>
            </a:r>
            <a:endParaRPr lang="en-US" sz="800" dirty="0"/>
          </a:p>
        </p:txBody>
      </p:sp>
      <p:sp>
        <p:nvSpPr>
          <p:cNvPr id="13" name="Text 10"/>
          <p:cNvSpPr/>
          <p:nvPr/>
        </p:nvSpPr>
        <p:spPr>
          <a:xfrm>
            <a:off x="3239691" y="1260872"/>
            <a:ext cx="2657475" cy="245030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14" name="Image 1" descr="/tmp/h2p-svg-1790773506847-pc8d4m.png">    </p:cNvPr>
          <p:cNvPicPr>
            <a:picLocks noChangeAspect="1"/>
          </p:cNvPicPr>
          <p:nvPr/>
        </p:nvPicPr>
        <p:blipFill>
          <a:blip r:embed="rId2"/>
          <a:stretch>
            <a:fillRect/>
          </a:stretch>
        </p:blipFill>
        <p:spPr>
          <a:xfrm>
            <a:off x="3400425" y="1421606"/>
            <a:ext cx="214313" cy="214313"/>
          </a:xfrm>
          <a:prstGeom prst="rect">
            <a:avLst/>
          </a:prstGeom>
        </p:spPr>
      </p:pic>
      <p:sp>
        <p:nvSpPr>
          <p:cNvPr id="15" name="Text 11"/>
          <p:cNvSpPr/>
          <p:nvPr/>
        </p:nvSpPr>
        <p:spPr>
          <a:xfrm>
            <a:off x="3400425" y="1793081"/>
            <a:ext cx="2336006" cy="138875"/>
          </a:xfrm>
          <a:prstGeom prst="rect">
            <a:avLst/>
          </a:prstGeom>
          <a:noFill/>
          <a:ln/>
        </p:spPr>
        <p:txBody>
          <a:bodyPr wrap="none" lIns="0" tIns="0" rIns="0" bIns="0" rtlCol="0" anchor="t"/>
          <a:lstStyle/>
          <a:p>
            <a:pPr algn="l" indent="0" marL="0">
              <a:buNone/>
            </a:pPr>
            <a:r>
              <a:rPr lang="en-US" sz="900" b="1" dirty="0">
                <a:solidFill>
                  <a:srgbClr val="1A1A1A"/>
                </a:solidFill>
                <a:latin typeface="Carlito" pitchFamily="34" charset="0"/>
                <a:ea typeface="Carlito" pitchFamily="34" charset="-122"/>
                <a:cs typeface="Carlito" pitchFamily="34" charset="-120"/>
              </a:rPr>
              <a:t>API health</a:t>
            </a:r>
            <a:endParaRPr lang="en-US" sz="900" dirty="0"/>
          </a:p>
        </p:txBody>
      </p:sp>
      <p:sp>
        <p:nvSpPr>
          <p:cNvPr id="16" name="Text 12"/>
          <p:cNvSpPr/>
          <p:nvPr/>
        </p:nvSpPr>
        <p:spPr>
          <a:xfrm>
            <a:off x="3400425" y="1993106"/>
            <a:ext cx="2445734" cy="164592"/>
          </a:xfrm>
          <a:prstGeom prst="rect">
            <a:avLst/>
          </a:prstGeom>
          <a:noFill/>
          <a:ln/>
        </p:spPr>
        <p:txBody>
          <a:bodyPr wrap="square" lIns="0" tIns="0" rIns="0" bIns="0" rtlCol="0" anchor="t"/>
          <a:lstStyle/>
          <a:p>
            <a:pPr algn="l" indent="0" marL="0">
              <a:lnSpc>
                <a:spcPts val="1097"/>
              </a:lnSpc>
              <a:buNone/>
            </a:pPr>
            <a:r>
              <a:rPr lang="en-US" sz="800" b="1" dirty="0">
                <a:solidFill>
                  <a:srgbClr val="10B981"/>
                </a:solidFill>
                <a:latin typeface="Courier New" pitchFamily="34" charset="0"/>
                <a:ea typeface="Courier New" pitchFamily="34" charset="-122"/>
                <a:cs typeface="Courier New" pitchFamily="34" charset="-120"/>
              </a:rPr>
              <a:t>reposope.onrender.com/api/health</a:t>
            </a:r>
            <a:endParaRPr lang="en-US" sz="800" dirty="0"/>
          </a:p>
        </p:txBody>
      </p:sp>
      <p:sp>
        <p:nvSpPr>
          <p:cNvPr id="17" name="Text 13"/>
          <p:cNvSpPr/>
          <p:nvPr/>
        </p:nvSpPr>
        <p:spPr>
          <a:xfrm>
            <a:off x="3400425" y="3357563"/>
            <a:ext cx="2336006" cy="7144"/>
          </a:xfrm>
          <a:prstGeom prst="rect">
            <a:avLst/>
          </a:prstGeom>
          <a:solidFill>
            <a:srgbClr val="1A1A1A"/>
          </a:solidFill>
          <a:ln/>
        </p:spPr>
        <p:txBody>
          <a:bodyPr wrap="square" rtlCol="0" anchor="ctr"/>
          <a:lstStyle/>
          <a:p>
            <a:pPr indent="0" marL="0">
              <a:buNone/>
            </a:pPr>
            <a:endParaRPr lang="en-US" dirty="0"/>
          </a:p>
        </p:txBody>
      </p:sp>
      <p:sp>
        <p:nvSpPr>
          <p:cNvPr id="18" name="Text 14"/>
          <p:cNvSpPr/>
          <p:nvPr/>
        </p:nvSpPr>
        <p:spPr>
          <a:xfrm>
            <a:off x="3400425" y="3486150"/>
            <a:ext cx="42863" cy="42863"/>
          </a:xfrm>
          <a:prstGeom prst="ellipse">
            <a:avLst/>
          </a:prstGeom>
          <a:solidFill>
            <a:srgbClr val="10B981"/>
          </a:solidFill>
          <a:ln/>
        </p:spPr>
        <p:txBody>
          <a:bodyPr wrap="square" rtlCol="0" anchor="ctr"/>
          <a:lstStyle/>
          <a:p>
            <a:pPr indent="0" marL="0">
              <a:buNone/>
            </a:pPr>
            <a:endParaRPr lang="en-US" dirty="0"/>
          </a:p>
        </p:txBody>
      </p:sp>
      <p:sp>
        <p:nvSpPr>
          <p:cNvPr id="19" name="Text 15"/>
          <p:cNvSpPr/>
          <p:nvPr/>
        </p:nvSpPr>
        <p:spPr>
          <a:xfrm>
            <a:off x="3500438" y="3464719"/>
            <a:ext cx="2235994" cy="91440"/>
          </a:xfrm>
          <a:prstGeom prst="rect">
            <a:avLst/>
          </a:prstGeom>
          <a:noFill/>
          <a:ln/>
        </p:spPr>
        <p:txBody>
          <a:bodyPr wrap="none" lIns="0" tIns="0" rIns="0" bIns="0" rtlCol="0" anchor="t"/>
          <a:lstStyle/>
          <a:p>
            <a:pPr algn="l" indent="0" marL="0">
              <a:buNone/>
            </a:pPr>
            <a:r>
              <a:rPr lang="en-US" sz="800" dirty="0">
                <a:solidFill>
                  <a:srgbClr val="6B6B6B"/>
                </a:solidFill>
                <a:latin typeface="Liberation Sans Narrow" pitchFamily="34" charset="0"/>
                <a:ea typeface="Liberation Sans Narrow" pitchFamily="34" charset="-122"/>
                <a:cs typeface="Liberation Sans Narrow" pitchFamily="34" charset="-120"/>
              </a:rPr>
              <a:t>deployed · Render · 200 OK</a:t>
            </a:r>
            <a:endParaRPr lang="en-US" sz="800" dirty="0"/>
          </a:p>
        </p:txBody>
      </p:sp>
      <p:sp>
        <p:nvSpPr>
          <p:cNvPr id="20" name="Text 16"/>
          <p:cNvSpPr/>
          <p:nvPr/>
        </p:nvSpPr>
        <p:spPr>
          <a:xfrm>
            <a:off x="6075759" y="1260872"/>
            <a:ext cx="2657475" cy="245030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21" name="Image 2" descr="/tmp/h2p-svg-1790773506847-14joep.png">    </p:cNvPr>
          <p:cNvPicPr>
            <a:picLocks noChangeAspect="1"/>
          </p:cNvPicPr>
          <p:nvPr/>
        </p:nvPicPr>
        <p:blipFill>
          <a:blip r:embed="rId3"/>
          <a:stretch>
            <a:fillRect/>
          </a:stretch>
        </p:blipFill>
        <p:spPr>
          <a:xfrm>
            <a:off x="6236494" y="1421606"/>
            <a:ext cx="214313" cy="214313"/>
          </a:xfrm>
          <a:prstGeom prst="rect">
            <a:avLst/>
          </a:prstGeom>
        </p:spPr>
      </p:pic>
      <p:sp>
        <p:nvSpPr>
          <p:cNvPr id="22" name="Text 17"/>
          <p:cNvSpPr/>
          <p:nvPr/>
        </p:nvSpPr>
        <p:spPr>
          <a:xfrm>
            <a:off x="6236494" y="1793081"/>
            <a:ext cx="2336006" cy="138875"/>
          </a:xfrm>
          <a:prstGeom prst="rect">
            <a:avLst/>
          </a:prstGeom>
          <a:noFill/>
          <a:ln/>
        </p:spPr>
        <p:txBody>
          <a:bodyPr wrap="none" lIns="0" tIns="0" rIns="0" bIns="0" rtlCol="0" anchor="t"/>
          <a:lstStyle/>
          <a:p>
            <a:pPr algn="l" indent="0" marL="0">
              <a:buNone/>
            </a:pPr>
            <a:r>
              <a:rPr lang="en-US" sz="900" b="1" dirty="0">
                <a:solidFill>
                  <a:srgbClr val="1A1A1A"/>
                </a:solidFill>
                <a:latin typeface="Carlito" pitchFamily="34" charset="0"/>
                <a:ea typeface="Carlito" pitchFamily="34" charset="-122"/>
                <a:cs typeface="Carlito" pitchFamily="34" charset="-120"/>
              </a:rPr>
              <a:t>Demo video</a:t>
            </a:r>
            <a:endParaRPr lang="en-US" sz="900" dirty="0"/>
          </a:p>
        </p:txBody>
      </p:sp>
      <p:sp>
        <p:nvSpPr>
          <p:cNvPr id="23" name="Text 18"/>
          <p:cNvSpPr/>
          <p:nvPr/>
        </p:nvSpPr>
        <p:spPr>
          <a:xfrm>
            <a:off x="6236494" y="1993106"/>
            <a:ext cx="2336006" cy="164592"/>
          </a:xfrm>
          <a:prstGeom prst="rect">
            <a:avLst/>
          </a:prstGeom>
          <a:noFill/>
          <a:ln/>
        </p:spPr>
        <p:txBody>
          <a:bodyPr wrap="none" lIns="0" tIns="0" rIns="0" bIns="0" rtlCol="0" anchor="t"/>
          <a:lstStyle/>
          <a:p>
            <a:pPr algn="l" indent="0" marL="0">
              <a:lnSpc>
                <a:spcPts val="1097"/>
              </a:lnSpc>
              <a:buNone/>
            </a:pPr>
            <a:r>
              <a:rPr lang="en-US" sz="800" b="1" dirty="0">
                <a:solidFill>
                  <a:srgbClr val="10B981"/>
                </a:solidFill>
                <a:latin typeface="Liberation Sans Narrow" pitchFamily="34" charset="0"/>
                <a:ea typeface="Liberation Sans Narrow" pitchFamily="34" charset="-122"/>
                <a:cs typeface="Liberation Sans Narrow" pitchFamily="34" charset="-120"/>
              </a:rPr>
              <a:t>youtu.be/W82roIETJJ8</a:t>
            </a:r>
            <a:endParaRPr lang="en-US" sz="800" dirty="0"/>
          </a:p>
        </p:txBody>
      </p:sp>
      <p:sp>
        <p:nvSpPr>
          <p:cNvPr id="24" name="Text 19"/>
          <p:cNvSpPr/>
          <p:nvPr/>
        </p:nvSpPr>
        <p:spPr>
          <a:xfrm>
            <a:off x="6236494" y="3357563"/>
            <a:ext cx="2336006" cy="7144"/>
          </a:xfrm>
          <a:prstGeom prst="rect">
            <a:avLst/>
          </a:prstGeom>
          <a:solidFill>
            <a:srgbClr val="1A1A1A"/>
          </a:solidFill>
          <a:ln/>
        </p:spPr>
        <p:txBody>
          <a:bodyPr wrap="square" rtlCol="0" anchor="ctr"/>
          <a:lstStyle/>
          <a:p>
            <a:pPr indent="0" marL="0">
              <a:buNone/>
            </a:pPr>
            <a:endParaRPr lang="en-US" dirty="0"/>
          </a:p>
        </p:txBody>
      </p:sp>
      <p:sp>
        <p:nvSpPr>
          <p:cNvPr id="25" name="Text 20"/>
          <p:cNvSpPr/>
          <p:nvPr/>
        </p:nvSpPr>
        <p:spPr>
          <a:xfrm>
            <a:off x="6236494" y="3486150"/>
            <a:ext cx="42863" cy="42863"/>
          </a:xfrm>
          <a:prstGeom prst="ellipse">
            <a:avLst/>
          </a:prstGeom>
          <a:solidFill>
            <a:srgbClr val="10B981"/>
          </a:solidFill>
          <a:ln/>
        </p:spPr>
        <p:txBody>
          <a:bodyPr wrap="square" rtlCol="0" anchor="ctr"/>
          <a:lstStyle/>
          <a:p>
            <a:pPr indent="0" marL="0">
              <a:buNone/>
            </a:pPr>
            <a:endParaRPr lang="en-US" dirty="0"/>
          </a:p>
        </p:txBody>
      </p:sp>
      <p:sp>
        <p:nvSpPr>
          <p:cNvPr id="26" name="Text 21"/>
          <p:cNvSpPr/>
          <p:nvPr/>
        </p:nvSpPr>
        <p:spPr>
          <a:xfrm>
            <a:off x="6336506" y="3464719"/>
            <a:ext cx="2235994" cy="91440"/>
          </a:xfrm>
          <a:prstGeom prst="rect">
            <a:avLst/>
          </a:prstGeom>
          <a:noFill/>
          <a:ln/>
        </p:spPr>
        <p:txBody>
          <a:bodyPr wrap="none" lIns="0" tIns="0" rIns="0" bIns="0" rtlCol="0" anchor="t"/>
          <a:lstStyle/>
          <a:p>
            <a:pPr algn="l" indent="0" marL="0">
              <a:buNone/>
            </a:pPr>
            <a:r>
              <a:rPr lang="en-US" sz="800" dirty="0">
                <a:solidFill>
                  <a:srgbClr val="6B6B6B"/>
                </a:solidFill>
                <a:latin typeface="Liberation Sans Narrow" pitchFamily="34" charset="0"/>
                <a:ea typeface="Liberation Sans Narrow" pitchFamily="34" charset="-122"/>
                <a:cs typeface="Liberation Sans Narrow" pitchFamily="34" charset="-120"/>
              </a:rPr>
              <a:t>3-minute walkthrough</a:t>
            </a:r>
            <a:endParaRPr lang="en-US" sz="800" dirty="0"/>
          </a:p>
        </p:txBody>
      </p:sp>
      <p:sp>
        <p:nvSpPr>
          <p:cNvPr id="27" name="Text 22"/>
          <p:cNvSpPr/>
          <p:nvPr/>
        </p:nvSpPr>
        <p:spPr>
          <a:xfrm>
            <a:off x="0" y="4043363"/>
            <a:ext cx="8636000" cy="122895"/>
          </a:xfrm>
          <a:prstGeom prst="rect">
            <a:avLst/>
          </a:prstGeom>
          <a:noFill/>
          <a:ln/>
        </p:spPr>
        <p:txBody>
          <a:bodyPr wrap="square" lIns="0" tIns="0" rIns="0" bIns="0" rtlCol="0" anchor="t"/>
          <a:lstStyle/>
          <a:p>
            <a:pPr algn="ctr" indent="0" marL="0">
              <a:buNone/>
            </a:pPr>
            <a:r>
              <a:rPr lang="en-US" sz="800" dirty="0">
                <a:solidFill>
                  <a:srgbClr val="6B6B6B"/>
                </a:solidFill>
                <a:latin typeface="Carlito" pitchFamily="34" charset="0"/>
                <a:ea typeface="Carlito" pitchFamily="34" charset="-122"/>
                <a:cs typeface="Carlito" pitchFamily="34" charset="-120"/>
              </a:rPr>
              <a:t>Paste any public GitHub URL — the graph renders in seconds. Try it during Q&amp;A.</a:t>
            </a:r>
            <a:endParaRPr lang="en-US" sz="800" dirty="0"/>
          </a:p>
        </p:txBody>
      </p:sp>
      <p:sp>
        <p:nvSpPr>
          <p:cNvPr id="28" name="Text 23"/>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400050"/>
            <a:ext cx="1425283"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Core features.</a:t>
            </a:r>
            <a:endParaRPr lang="en-US" sz="1519" dirty="0"/>
          </a:p>
        </p:txBody>
      </p:sp>
      <p:sp>
        <p:nvSpPr>
          <p:cNvPr id="3" name="Text 1"/>
          <p:cNvSpPr/>
          <p:nvPr/>
        </p:nvSpPr>
        <p:spPr>
          <a:xfrm>
            <a:off x="403622" y="1046559"/>
            <a:ext cx="2678906" cy="1493044"/>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 name="Text 2"/>
          <p:cNvSpPr/>
          <p:nvPr/>
        </p:nvSpPr>
        <p:spPr>
          <a:xfrm>
            <a:off x="2861261" y="1135856"/>
            <a:ext cx="138166" cy="120701"/>
          </a:xfrm>
          <a:prstGeom prst="rect">
            <a:avLst/>
          </a:prstGeom>
          <a:noFill/>
          <a:ln/>
        </p:spPr>
        <p:txBody>
          <a:bodyPr wrap="none" lIns="0" tIns="0" rIns="0" bIns="0" rtlCol="0" anchor="t"/>
          <a:lstStyle/>
          <a:p>
            <a:pPr algn="l" indent="0" marL="0">
              <a:buNone/>
            </a:pPr>
            <a:r>
              <a:rPr lang="en-US" sz="600" spc="34" kern="0" dirty="0">
                <a:solidFill>
                  <a:srgbClr val="6B6B6B"/>
                </a:solidFill>
                <a:latin typeface="Liberation Sans Narrow" pitchFamily="34" charset="0"/>
                <a:ea typeface="Liberation Sans Narrow" pitchFamily="34" charset="-122"/>
                <a:cs typeface="Liberation Sans Narrow" pitchFamily="34" charset="-120"/>
              </a:rPr>
              <a:t>01</a:t>
            </a:r>
            <a:endParaRPr lang="en-US" sz="600" dirty="0"/>
          </a:p>
        </p:txBody>
      </p:sp>
      <p:sp>
        <p:nvSpPr>
          <p:cNvPr id="5" name="Text 3"/>
          <p:cNvSpPr/>
          <p:nvPr/>
        </p:nvSpPr>
        <p:spPr>
          <a:xfrm>
            <a:off x="1575197" y="1287438"/>
            <a:ext cx="335756" cy="135731"/>
          </a:xfrm>
          <a:prstGeom prst="rect">
            <a:avLst/>
          </a:prstGeom>
          <a:solidFill>
            <a:srgbClr val="1A1A1A">
              <a:alpha val="8000"/>
            </a:srgbClr>
          </a:solidFill>
          <a:ln w="7144">
            <a:solidFill>
              <a:srgbClr val="1A1A1A"/>
            </a:solidFill>
            <a:prstDash val="solid"/>
          </a:ln>
        </p:spPr>
        <p:txBody>
          <a:bodyPr wrap="square" rtlCol="0" anchor="ctr"/>
          <a:lstStyle/>
          <a:p>
            <a:pPr indent="0" marL="0">
              <a:buNone/>
            </a:pPr>
            <a:endParaRPr lang="en-US" dirty="0"/>
          </a:p>
        </p:txBody>
      </p:sp>
      <p:sp>
        <p:nvSpPr>
          <p:cNvPr id="6" name="Text 4"/>
          <p:cNvSpPr/>
          <p:nvPr/>
        </p:nvSpPr>
        <p:spPr>
          <a:xfrm>
            <a:off x="1571625" y="1283866"/>
            <a:ext cx="342900" cy="14287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ui</a:t>
            </a:r>
            <a:endParaRPr lang="en-US" sz="800" dirty="0"/>
          </a:p>
        </p:txBody>
      </p:sp>
      <p:sp>
        <p:nvSpPr>
          <p:cNvPr id="7" name="Text 5"/>
          <p:cNvSpPr/>
          <p:nvPr/>
        </p:nvSpPr>
        <p:spPr>
          <a:xfrm>
            <a:off x="1453753" y="1458888"/>
            <a:ext cx="578644" cy="135731"/>
          </a:xfrm>
          <a:prstGeom prst="rect">
            <a:avLst/>
          </a:prstGeom>
          <a:solidFill>
            <a:srgbClr val="10B981">
              <a:alpha val="10000"/>
            </a:srgbClr>
          </a:solidFill>
          <a:ln w="7144">
            <a:solidFill>
              <a:srgbClr val="1A1A1A"/>
            </a:solidFill>
            <a:prstDash val="solid"/>
          </a:ln>
        </p:spPr>
        <p:txBody>
          <a:bodyPr wrap="square" rtlCol="0" anchor="ctr"/>
          <a:lstStyle/>
          <a:p>
            <a:pPr indent="0" marL="0">
              <a:buNone/>
            </a:pPr>
            <a:endParaRPr lang="en-US" dirty="0"/>
          </a:p>
        </p:txBody>
      </p:sp>
      <p:sp>
        <p:nvSpPr>
          <p:cNvPr id="8" name="Text 6"/>
          <p:cNvSpPr/>
          <p:nvPr/>
        </p:nvSpPr>
        <p:spPr>
          <a:xfrm>
            <a:off x="1450181" y="1455316"/>
            <a:ext cx="585788" cy="14287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api</a:t>
            </a:r>
            <a:endParaRPr lang="en-US" sz="800" dirty="0"/>
          </a:p>
        </p:txBody>
      </p:sp>
      <p:sp>
        <p:nvSpPr>
          <p:cNvPr id="9" name="Text 7"/>
          <p:cNvSpPr/>
          <p:nvPr/>
        </p:nvSpPr>
        <p:spPr>
          <a:xfrm>
            <a:off x="1332309" y="1630338"/>
            <a:ext cx="821531" cy="135731"/>
          </a:xfrm>
          <a:prstGeom prst="rect">
            <a:avLst/>
          </a:prstGeom>
          <a:solidFill>
            <a:srgbClr val="D4AF37">
              <a:alpha val="16000"/>
            </a:srgbClr>
          </a:solidFill>
          <a:ln w="7144">
            <a:solidFill>
              <a:srgbClr val="1A1A1A"/>
            </a:solidFill>
            <a:prstDash val="solid"/>
          </a:ln>
        </p:spPr>
        <p:txBody>
          <a:bodyPr wrap="square" rtlCol="0" anchor="ctr"/>
          <a:lstStyle/>
          <a:p>
            <a:pPr indent="0" marL="0">
              <a:buNone/>
            </a:pPr>
            <a:endParaRPr lang="en-US" dirty="0"/>
          </a:p>
        </p:txBody>
      </p:sp>
      <p:sp>
        <p:nvSpPr>
          <p:cNvPr id="10" name="Text 8"/>
          <p:cNvSpPr/>
          <p:nvPr/>
        </p:nvSpPr>
        <p:spPr>
          <a:xfrm>
            <a:off x="1328738" y="1626766"/>
            <a:ext cx="828675" cy="14287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services</a:t>
            </a:r>
            <a:endParaRPr lang="en-US" sz="800" dirty="0"/>
          </a:p>
        </p:txBody>
      </p:sp>
      <p:sp>
        <p:nvSpPr>
          <p:cNvPr id="11" name="Text 9"/>
          <p:cNvSpPr/>
          <p:nvPr/>
        </p:nvSpPr>
        <p:spPr>
          <a:xfrm>
            <a:off x="1210866" y="1801788"/>
            <a:ext cx="1064419" cy="135731"/>
          </a:xfrm>
          <a:prstGeom prst="rect">
            <a:avLst/>
          </a:prstGeom>
          <a:solidFill>
            <a:srgbClr val="FAF7F0"/>
          </a:solidFill>
          <a:ln w="7144">
            <a:solidFill>
              <a:srgbClr val="1A1A1A"/>
            </a:solidFill>
            <a:prstDash val="solid"/>
          </a:ln>
        </p:spPr>
        <p:txBody>
          <a:bodyPr wrap="square" rtlCol="0" anchor="ctr"/>
          <a:lstStyle/>
          <a:p>
            <a:pPr indent="0" marL="0">
              <a:buNone/>
            </a:pPr>
            <a:endParaRPr lang="en-US" dirty="0"/>
          </a:p>
        </p:txBody>
      </p:sp>
      <p:sp>
        <p:nvSpPr>
          <p:cNvPr id="12" name="Text 10"/>
          <p:cNvSpPr/>
          <p:nvPr/>
        </p:nvSpPr>
        <p:spPr>
          <a:xfrm>
            <a:off x="1207294" y="1798216"/>
            <a:ext cx="1071563" cy="14287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data</a:t>
            </a:r>
            <a:endParaRPr lang="en-US" sz="800" dirty="0"/>
          </a:p>
        </p:txBody>
      </p:sp>
      <p:sp>
        <p:nvSpPr>
          <p:cNvPr id="13" name="Text 11"/>
          <p:cNvSpPr/>
          <p:nvPr/>
        </p:nvSpPr>
        <p:spPr>
          <a:xfrm>
            <a:off x="535781" y="2117787"/>
            <a:ext cx="2414588" cy="142232"/>
          </a:xfrm>
          <a:prstGeom prst="rect">
            <a:avLst/>
          </a:prstGeom>
          <a:noFill/>
          <a:ln/>
        </p:spPr>
        <p:txBody>
          <a:bodyPr wrap="none" lIns="0" tIns="0" rIns="0" bIns="0" rtlCol="0" anchor="t">
            <a:normAutofit/>
          </a:bodyPr>
          <a:lstStyle/>
          <a:p>
            <a:pPr algn="l" indent="0" marL="0">
              <a:lnSpc>
                <a:spcPts val="1055"/>
              </a:lnSpc>
              <a:buNone/>
            </a:pPr>
            <a:r>
              <a:rPr lang="en-US" sz="844" b="1" dirty="0">
                <a:solidFill>
                  <a:srgbClr val="1A1A1A"/>
                </a:solidFill>
                <a:latin typeface="Carlito" pitchFamily="34" charset="0"/>
                <a:ea typeface="Carlito" pitchFamily="34" charset="-122"/>
                <a:cs typeface="Carlito" pitchFamily="34" charset="-120"/>
              </a:rPr>
              <a:t>Architecture Graph</a:t>
            </a:r>
            <a:endParaRPr lang="en-US" sz="844" dirty="0"/>
          </a:p>
        </p:txBody>
      </p:sp>
      <p:sp>
        <p:nvSpPr>
          <p:cNvPr id="14" name="Text 12"/>
          <p:cNvSpPr/>
          <p:nvPr/>
        </p:nvSpPr>
        <p:spPr>
          <a:xfrm>
            <a:off x="535781" y="2287451"/>
            <a:ext cx="2524316" cy="119993"/>
          </a:xfrm>
          <a:prstGeom prst="rect">
            <a:avLst/>
          </a:prstGeom>
          <a:noFill/>
          <a:ln/>
        </p:spPr>
        <p:txBody>
          <a:bodyPr wrap="square" lIns="0" tIns="0" rIns="0" bIns="0" rtlCol="0" anchor="t"/>
          <a:lstStyle/>
          <a:p>
            <a:pPr algn="l" indent="0" marL="0">
              <a:lnSpc>
                <a:spcPts val="945"/>
              </a:lnSpc>
              <a:buNone/>
            </a:pPr>
            <a:r>
              <a:rPr lang="en-US" sz="675" dirty="0">
                <a:solidFill>
                  <a:srgbClr val="6B6B6B"/>
                </a:solidFill>
                <a:latin typeface="Carlito" pitchFamily="34" charset="0"/>
                <a:ea typeface="Carlito" pitchFamily="34" charset="-122"/>
                <a:cs typeface="Carlito" pitchFamily="34" charset="-120"/>
              </a:rPr>
              <a:t>Layered map of the whole repo — client to compute.</a:t>
            </a:r>
            <a:endParaRPr lang="en-US" sz="675" dirty="0"/>
          </a:p>
        </p:txBody>
      </p:sp>
      <p:sp>
        <p:nvSpPr>
          <p:cNvPr id="15" name="Text 13"/>
          <p:cNvSpPr/>
          <p:nvPr/>
        </p:nvSpPr>
        <p:spPr>
          <a:xfrm>
            <a:off x="3232547" y="1046559"/>
            <a:ext cx="2678906" cy="1493044"/>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16" name="Text 14"/>
          <p:cNvSpPr/>
          <p:nvPr/>
        </p:nvSpPr>
        <p:spPr>
          <a:xfrm>
            <a:off x="5690186" y="1135856"/>
            <a:ext cx="138166" cy="120701"/>
          </a:xfrm>
          <a:prstGeom prst="rect">
            <a:avLst/>
          </a:prstGeom>
          <a:noFill/>
          <a:ln/>
        </p:spPr>
        <p:txBody>
          <a:bodyPr wrap="none" lIns="0" tIns="0" rIns="0" bIns="0" rtlCol="0" anchor="t"/>
          <a:lstStyle/>
          <a:p>
            <a:pPr algn="l" indent="0" marL="0">
              <a:buNone/>
            </a:pPr>
            <a:r>
              <a:rPr lang="en-US" sz="600" spc="34" kern="0" dirty="0">
                <a:solidFill>
                  <a:srgbClr val="6B6B6B"/>
                </a:solidFill>
                <a:latin typeface="Liberation Sans Narrow" pitchFamily="34" charset="0"/>
                <a:ea typeface="Liberation Sans Narrow" pitchFamily="34" charset="-122"/>
                <a:cs typeface="Liberation Sans Narrow" pitchFamily="34" charset="-120"/>
              </a:rPr>
              <a:t>02</a:t>
            </a:r>
            <a:endParaRPr lang="en-US" sz="600" dirty="0"/>
          </a:p>
        </p:txBody>
      </p:sp>
      <p:sp>
        <p:nvSpPr>
          <p:cNvPr id="17" name="Text 15"/>
          <p:cNvSpPr/>
          <p:nvPr/>
        </p:nvSpPr>
        <p:spPr>
          <a:xfrm>
            <a:off x="3368278" y="1370484"/>
            <a:ext cx="2407444" cy="483989"/>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8" name="Text 16"/>
          <p:cNvSpPr/>
          <p:nvPr/>
        </p:nvSpPr>
        <p:spPr>
          <a:xfrm>
            <a:off x="3471863" y="1459781"/>
            <a:ext cx="2200275" cy="142232"/>
          </a:xfrm>
          <a:prstGeom prst="rect">
            <a:avLst/>
          </a:prstGeom>
          <a:noFill/>
          <a:ln/>
        </p:spPr>
        <p:txBody>
          <a:bodyPr wrap="none" lIns="0" tIns="0" rIns="0" bIns="0" rtlCol="0" anchor="t">
            <a:normAutofit/>
          </a:bodyPr>
          <a:lstStyle/>
          <a:p>
            <a:pPr algn="l" indent="0" marL="0">
              <a:lnSpc>
                <a:spcPts val="886"/>
              </a:lnSpc>
              <a:buNone/>
            </a:pPr>
            <a:r>
              <a:rPr lang="en-US" sz="800" dirty="0">
                <a:solidFill>
                  <a:srgbClr val="6B6B6B"/>
                </a:solidFill>
                <a:latin typeface="Courier New" pitchFamily="34" charset="0"/>
                <a:ea typeface="Courier New" pitchFamily="34" charset="-122"/>
                <a:cs typeface="Courier New" pitchFamily="34" charset="-120"/>
              </a:rPr>
              <a:t>how does auth work?</a:t>
            </a:r>
            <a:endParaRPr lang="en-US" sz="800" dirty="0"/>
          </a:p>
        </p:txBody>
      </p:sp>
      <p:sp>
        <p:nvSpPr>
          <p:cNvPr id="19" name="Text 17"/>
          <p:cNvSpPr/>
          <p:nvPr/>
        </p:nvSpPr>
        <p:spPr>
          <a:xfrm>
            <a:off x="3471863" y="1639825"/>
            <a:ext cx="720556" cy="125350"/>
          </a:xfrm>
          <a:prstGeom prst="rect">
            <a:avLst/>
          </a:prstGeom>
          <a:noFill/>
          <a:ln/>
        </p:spPr>
        <p:txBody>
          <a:bodyPr wrap="none" lIns="0" tIns="0" rIns="0" bIns="0" rtlCol="0" anchor="t"/>
          <a:lstStyle/>
          <a:p>
            <a:pPr algn="l" indent="0" marL="0">
              <a:lnSpc>
                <a:spcPts val="906"/>
              </a:lnSpc>
              <a:buNone/>
            </a:pPr>
            <a:r>
              <a:rPr lang="en-US" sz="647" dirty="0">
                <a:solidFill>
                  <a:srgbClr val="1A1A1A"/>
                </a:solidFill>
                <a:latin typeface="Carlito" pitchFamily="34" charset="0"/>
                <a:ea typeface="Carlito" pitchFamily="34" charset="-122"/>
                <a:cs typeface="Carlito" pitchFamily="34" charset="-120"/>
              </a:rPr>
              <a:t>JWT sessions —</a:t>
            </a:r>
            <a:endParaRPr lang="en-US" sz="647" dirty="0"/>
          </a:p>
        </p:txBody>
      </p:sp>
      <p:sp>
        <p:nvSpPr>
          <p:cNvPr id="20" name="Text 18"/>
          <p:cNvSpPr/>
          <p:nvPr/>
        </p:nvSpPr>
        <p:spPr>
          <a:xfrm>
            <a:off x="4143821" y="1621301"/>
            <a:ext cx="988182" cy="152019"/>
          </a:xfrm>
          <a:prstGeom prst="rect">
            <a:avLst/>
          </a:prstGeom>
          <a:solidFill>
            <a:srgbClr val="FFFFFF"/>
          </a:solidFill>
          <a:ln w="7144">
            <a:solidFill>
              <a:srgbClr val="A16207"/>
            </a:solidFill>
            <a:prstDash val="solid"/>
          </a:ln>
        </p:spPr>
        <p:txBody>
          <a:bodyPr wrap="square" rtlCol="0" anchor="ctr"/>
          <a:lstStyle/>
          <a:p>
            <a:pPr indent="0" marL="0">
              <a:buNone/>
            </a:pPr>
            <a:endParaRPr lang="en-US" dirty="0"/>
          </a:p>
        </p:txBody>
      </p:sp>
      <p:sp>
        <p:nvSpPr>
          <p:cNvPr id="21" name="Text 19"/>
          <p:cNvSpPr/>
          <p:nvPr/>
        </p:nvSpPr>
        <p:spPr>
          <a:xfrm>
            <a:off x="4208115" y="1675879"/>
            <a:ext cx="42863" cy="42863"/>
          </a:xfrm>
          <a:prstGeom prst="roundRect">
            <a:avLst>
              <a:gd name="adj" fmla="val 66666"/>
            </a:avLst>
          </a:prstGeom>
          <a:solidFill>
            <a:srgbClr val="D4AF37"/>
          </a:solidFill>
          <a:ln/>
        </p:spPr>
        <p:txBody>
          <a:bodyPr wrap="square" rtlCol="0" anchor="ctr"/>
          <a:lstStyle/>
          <a:p>
            <a:pPr indent="0" marL="0">
              <a:buNone/>
            </a:pPr>
            <a:endParaRPr lang="en-US" dirty="0"/>
          </a:p>
        </p:txBody>
      </p:sp>
      <p:sp>
        <p:nvSpPr>
          <p:cNvPr id="22" name="Text 20"/>
          <p:cNvSpPr/>
          <p:nvPr/>
        </p:nvSpPr>
        <p:spPr>
          <a:xfrm>
            <a:off x="4143821" y="1629445"/>
            <a:ext cx="1528316" cy="135731"/>
          </a:xfrm>
          <a:prstGeom prst="rect">
            <a:avLst/>
          </a:prstGeom>
          <a:noFill/>
          <a:ln/>
        </p:spPr>
        <p:txBody>
          <a:bodyPr wrap="none" lIns="57150" tIns="21431" rIns="57150" bIns="21431" rtlCol="0" anchor="t"/>
          <a:lstStyle/>
          <a:p>
            <a:pPr algn="l" indent="0" marL="0">
              <a:buNone/>
            </a:pPr>
            <a:r>
              <a:rPr lang="en-US" sz="800" dirty="0">
                <a:solidFill>
                  <a:srgbClr val="A16207"/>
                </a:solidFill>
                <a:latin typeface="Liberation Sans Narrow" pitchFamily="34" charset="0"/>
                <a:ea typeface="Liberation Sans Narrow" pitchFamily="34" charset="-122"/>
                <a:cs typeface="Liberation Sans Narrow" pitchFamily="34" charset="-120"/>
              </a:rPr>
              <a:t>services/auth.py:42</a:t>
            </a:r>
            <a:endParaRPr lang="en-US" sz="800" dirty="0"/>
          </a:p>
        </p:txBody>
      </p:sp>
      <p:sp>
        <p:nvSpPr>
          <p:cNvPr id="23" name="Text 21"/>
          <p:cNvSpPr/>
          <p:nvPr/>
        </p:nvSpPr>
        <p:spPr>
          <a:xfrm>
            <a:off x="3364706" y="2117787"/>
            <a:ext cx="2414588" cy="142232"/>
          </a:xfrm>
          <a:prstGeom prst="rect">
            <a:avLst/>
          </a:prstGeom>
          <a:noFill/>
          <a:ln/>
        </p:spPr>
        <p:txBody>
          <a:bodyPr wrap="none" lIns="0" tIns="0" rIns="0" bIns="0" rtlCol="0" anchor="t">
            <a:normAutofit/>
          </a:bodyPr>
          <a:lstStyle/>
          <a:p>
            <a:pPr algn="l" indent="0" marL="0">
              <a:lnSpc>
                <a:spcPts val="1055"/>
              </a:lnSpc>
              <a:buNone/>
            </a:pPr>
            <a:r>
              <a:rPr lang="en-US" sz="844" b="1" dirty="0">
                <a:solidFill>
                  <a:srgbClr val="1A1A1A"/>
                </a:solidFill>
                <a:latin typeface="Carlito" pitchFamily="34" charset="0"/>
                <a:ea typeface="Carlito" pitchFamily="34" charset="-122"/>
                <a:cs typeface="Carlito" pitchFamily="34" charset="-120"/>
              </a:rPr>
              <a:t>Q&amp;A with citations</a:t>
            </a:r>
            <a:endParaRPr lang="en-US" sz="844" dirty="0"/>
          </a:p>
        </p:txBody>
      </p:sp>
      <p:sp>
        <p:nvSpPr>
          <p:cNvPr id="24" name="Text 22"/>
          <p:cNvSpPr/>
          <p:nvPr/>
        </p:nvSpPr>
        <p:spPr>
          <a:xfrm>
            <a:off x="3364706" y="2287451"/>
            <a:ext cx="2524316" cy="119993"/>
          </a:xfrm>
          <a:prstGeom prst="rect">
            <a:avLst/>
          </a:prstGeom>
          <a:noFill/>
          <a:ln/>
        </p:spPr>
        <p:txBody>
          <a:bodyPr wrap="square" lIns="0" tIns="0" rIns="0" bIns="0" rtlCol="0" anchor="t"/>
          <a:lstStyle/>
          <a:p>
            <a:pPr algn="l" indent="0" marL="0">
              <a:lnSpc>
                <a:spcPts val="945"/>
              </a:lnSpc>
              <a:buNone/>
            </a:pPr>
            <a:r>
              <a:rPr lang="en-US" sz="800" dirty="0">
                <a:solidFill>
                  <a:srgbClr val="6B6B6B"/>
                </a:solidFill>
                <a:latin typeface="Carlito" pitchFamily="34" charset="0"/>
                <a:ea typeface="Carlito" pitchFamily="34" charset="-122"/>
                <a:cs typeface="Carlito" pitchFamily="34" charset="-120"/>
              </a:rPr>
              <a:t>Answers cite files, functions, and commits.</a:t>
            </a:r>
            <a:endParaRPr lang="en-US" sz="800" dirty="0"/>
          </a:p>
        </p:txBody>
      </p:sp>
      <p:sp>
        <p:nvSpPr>
          <p:cNvPr id="25" name="Text 23"/>
          <p:cNvSpPr/>
          <p:nvPr/>
        </p:nvSpPr>
        <p:spPr>
          <a:xfrm>
            <a:off x="6061472" y="1046559"/>
            <a:ext cx="2678906" cy="1493044"/>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26" name="Text 24"/>
          <p:cNvSpPr/>
          <p:nvPr/>
        </p:nvSpPr>
        <p:spPr>
          <a:xfrm>
            <a:off x="8519111" y="1135856"/>
            <a:ext cx="138166" cy="120701"/>
          </a:xfrm>
          <a:prstGeom prst="rect">
            <a:avLst/>
          </a:prstGeom>
          <a:noFill/>
          <a:ln/>
        </p:spPr>
        <p:txBody>
          <a:bodyPr wrap="none" lIns="0" tIns="0" rIns="0" bIns="0" rtlCol="0" anchor="t"/>
          <a:lstStyle/>
          <a:p>
            <a:pPr algn="l" indent="0" marL="0">
              <a:buNone/>
            </a:pPr>
            <a:r>
              <a:rPr lang="en-US" sz="600" spc="34" kern="0" dirty="0">
                <a:solidFill>
                  <a:srgbClr val="6B6B6B"/>
                </a:solidFill>
                <a:latin typeface="Liberation Sans Narrow" pitchFamily="34" charset="0"/>
                <a:ea typeface="Liberation Sans Narrow" pitchFamily="34" charset="-122"/>
                <a:cs typeface="Liberation Sans Narrow" pitchFamily="34" charset="-120"/>
              </a:rPr>
              <a:t>03</a:t>
            </a:r>
            <a:endParaRPr lang="en-US" sz="600" dirty="0"/>
          </a:p>
        </p:txBody>
      </p:sp>
      <p:sp>
        <p:nvSpPr>
          <p:cNvPr id="27" name="Text 25"/>
          <p:cNvSpPr/>
          <p:nvPr/>
        </p:nvSpPr>
        <p:spPr>
          <a:xfrm>
            <a:off x="6495455" y="1562472"/>
            <a:ext cx="1810941" cy="7144"/>
          </a:xfrm>
          <a:prstGeom prst="rect">
            <a:avLst/>
          </a:prstGeom>
          <a:solidFill>
            <a:srgbClr val="1A1A1A"/>
          </a:solidFill>
          <a:ln/>
        </p:spPr>
        <p:txBody>
          <a:bodyPr wrap="square" rtlCol="0" anchor="ctr"/>
          <a:lstStyle/>
          <a:p>
            <a:pPr indent="0" marL="0">
              <a:buNone/>
            </a:pPr>
            <a:endParaRPr lang="en-US" dirty="0"/>
          </a:p>
        </p:txBody>
      </p:sp>
      <p:sp>
        <p:nvSpPr>
          <p:cNvPr id="28" name="Text 26"/>
          <p:cNvSpPr/>
          <p:nvPr/>
        </p:nvSpPr>
        <p:spPr>
          <a:xfrm>
            <a:off x="6422566" y="1691060"/>
            <a:ext cx="230328" cy="129092"/>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main</a:t>
            </a:r>
            <a:endParaRPr lang="en-US" sz="600" dirty="0"/>
          </a:p>
        </p:txBody>
      </p:sp>
      <p:sp>
        <p:nvSpPr>
          <p:cNvPr id="29" name="Text 27"/>
          <p:cNvSpPr/>
          <p:nvPr/>
        </p:nvSpPr>
        <p:spPr>
          <a:xfrm>
            <a:off x="7026213" y="1691060"/>
            <a:ext cx="230328" cy="129092"/>
          </a:xfrm>
          <a:prstGeom prst="rect">
            <a:avLst/>
          </a:prstGeom>
          <a:noFill/>
          <a:ln/>
        </p:spPr>
        <p:txBody>
          <a:bodyPr wrap="none" lIns="0" tIns="0" rIns="0" bIns="0" rtlCol="0" anchor="t"/>
          <a:lstStyle/>
          <a:p>
            <a:pPr algn="l" indent="0" marL="0">
              <a:buNone/>
            </a:pPr>
            <a:r>
              <a:rPr lang="en-US" sz="600" b="1" dirty="0">
                <a:solidFill>
                  <a:srgbClr val="10B981"/>
                </a:solidFill>
                <a:latin typeface="Courier New" pitchFamily="34" charset="0"/>
                <a:ea typeface="Courier New" pitchFamily="34" charset="-122"/>
                <a:cs typeface="Courier New" pitchFamily="34" charset="-120"/>
              </a:rPr>
              <a:t>auth</a:t>
            </a:r>
            <a:endParaRPr lang="en-US" sz="600" dirty="0"/>
          </a:p>
        </p:txBody>
      </p:sp>
      <p:sp>
        <p:nvSpPr>
          <p:cNvPr id="30" name="Text 28"/>
          <p:cNvSpPr/>
          <p:nvPr/>
        </p:nvSpPr>
        <p:spPr>
          <a:xfrm>
            <a:off x="7579702" y="1691060"/>
            <a:ext cx="307208" cy="129092"/>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routes</a:t>
            </a:r>
            <a:endParaRPr lang="en-US" sz="600" dirty="0"/>
          </a:p>
        </p:txBody>
      </p:sp>
      <p:sp>
        <p:nvSpPr>
          <p:cNvPr id="31" name="Text 29"/>
          <p:cNvSpPr/>
          <p:nvPr/>
        </p:nvSpPr>
        <p:spPr>
          <a:xfrm>
            <a:off x="8215201" y="1691060"/>
            <a:ext cx="287998" cy="129092"/>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tests</a:t>
            </a:r>
            <a:endParaRPr lang="en-US" sz="600" dirty="0"/>
          </a:p>
        </p:txBody>
      </p:sp>
      <p:sp>
        <p:nvSpPr>
          <p:cNvPr id="32" name="Text 30"/>
          <p:cNvSpPr/>
          <p:nvPr/>
        </p:nvSpPr>
        <p:spPr>
          <a:xfrm>
            <a:off x="6193631" y="2117787"/>
            <a:ext cx="2414588" cy="142232"/>
          </a:xfrm>
          <a:prstGeom prst="rect">
            <a:avLst/>
          </a:prstGeom>
          <a:noFill/>
          <a:ln/>
        </p:spPr>
        <p:txBody>
          <a:bodyPr wrap="none" lIns="0" tIns="0" rIns="0" bIns="0" rtlCol="0" anchor="t">
            <a:normAutofit/>
          </a:bodyPr>
          <a:lstStyle/>
          <a:p>
            <a:pPr algn="l" indent="0" marL="0">
              <a:lnSpc>
                <a:spcPts val="1055"/>
              </a:lnSpc>
              <a:buNone/>
            </a:pPr>
            <a:r>
              <a:rPr lang="en-US" sz="844" b="1" dirty="0">
                <a:solidFill>
                  <a:srgbClr val="1A1A1A"/>
                </a:solidFill>
                <a:latin typeface="Carlito" pitchFamily="34" charset="0"/>
                <a:ea typeface="Carlito" pitchFamily="34" charset="-122"/>
                <a:cs typeface="Carlito" pitchFamily="34" charset="-120"/>
              </a:rPr>
              <a:t>Code Tours</a:t>
            </a:r>
            <a:endParaRPr lang="en-US" sz="844" dirty="0"/>
          </a:p>
        </p:txBody>
      </p:sp>
      <p:sp>
        <p:nvSpPr>
          <p:cNvPr id="33" name="Text 31"/>
          <p:cNvSpPr/>
          <p:nvPr/>
        </p:nvSpPr>
        <p:spPr>
          <a:xfrm>
            <a:off x="6193631" y="2287451"/>
            <a:ext cx="2524315" cy="119993"/>
          </a:xfrm>
          <a:prstGeom prst="rect">
            <a:avLst/>
          </a:prstGeom>
          <a:noFill/>
          <a:ln/>
        </p:spPr>
        <p:txBody>
          <a:bodyPr wrap="square" lIns="0" tIns="0" rIns="0" bIns="0" rtlCol="0" anchor="t"/>
          <a:lstStyle/>
          <a:p>
            <a:pPr algn="l" indent="0" marL="0">
              <a:lnSpc>
                <a:spcPts val="945"/>
              </a:lnSpc>
              <a:buNone/>
            </a:pPr>
            <a:r>
              <a:rPr lang="en-US" sz="800" dirty="0">
                <a:solidFill>
                  <a:srgbClr val="6B6B6B"/>
                </a:solidFill>
                <a:latin typeface="Carlito" pitchFamily="34" charset="0"/>
                <a:ea typeface="Carlito" pitchFamily="34" charset="-122"/>
                <a:cs typeface="Carlito" pitchFamily="34" charset="-120"/>
              </a:rPr>
              <a:t>Guided walkthroughs of any module.</a:t>
            </a:r>
            <a:endParaRPr lang="en-US" sz="800" dirty="0"/>
          </a:p>
        </p:txBody>
      </p:sp>
      <p:sp>
        <p:nvSpPr>
          <p:cNvPr id="34" name="Text 32"/>
          <p:cNvSpPr/>
          <p:nvPr/>
        </p:nvSpPr>
        <p:spPr>
          <a:xfrm>
            <a:off x="403622" y="2689622"/>
            <a:ext cx="2678906" cy="1493044"/>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35" name="Text 33"/>
          <p:cNvSpPr/>
          <p:nvPr/>
        </p:nvSpPr>
        <p:spPr>
          <a:xfrm>
            <a:off x="2861261" y="2778919"/>
            <a:ext cx="138166" cy="120701"/>
          </a:xfrm>
          <a:prstGeom prst="rect">
            <a:avLst/>
          </a:prstGeom>
          <a:noFill/>
          <a:ln/>
        </p:spPr>
        <p:txBody>
          <a:bodyPr wrap="none" lIns="0" tIns="0" rIns="0" bIns="0" rtlCol="0" anchor="t"/>
          <a:lstStyle/>
          <a:p>
            <a:pPr algn="l" indent="0" marL="0">
              <a:buNone/>
            </a:pPr>
            <a:r>
              <a:rPr lang="en-US" sz="600" spc="34" kern="0" dirty="0">
                <a:solidFill>
                  <a:srgbClr val="6B6B6B"/>
                </a:solidFill>
                <a:latin typeface="Liberation Sans Narrow" pitchFamily="34" charset="0"/>
                <a:ea typeface="Liberation Sans Narrow" pitchFamily="34" charset="-122"/>
                <a:cs typeface="Liberation Sans Narrow" pitchFamily="34" charset="-120"/>
              </a:rPr>
              <a:t>04</a:t>
            </a:r>
            <a:endParaRPr lang="en-US" sz="600" dirty="0"/>
          </a:p>
        </p:txBody>
      </p:sp>
      <p:pic>
        <p:nvPicPr>
          <p:cNvPr id="36" name="Image 0" descr="/tmp/h2p-svg-1790773507495-wz2yl7.png">    </p:cNvPr>
          <p:cNvPicPr>
            <a:picLocks noChangeAspect="1"/>
          </p:cNvPicPr>
          <p:nvPr/>
        </p:nvPicPr>
        <p:blipFill>
          <a:blip r:embed="rId1"/>
          <a:stretch>
            <a:fillRect/>
          </a:stretch>
        </p:blipFill>
        <p:spPr>
          <a:xfrm>
            <a:off x="535781" y="2821781"/>
            <a:ext cx="2428875" cy="842963"/>
          </a:xfrm>
          <a:prstGeom prst="rect">
            <a:avLst/>
          </a:prstGeom>
        </p:spPr>
      </p:pic>
      <p:sp>
        <p:nvSpPr>
          <p:cNvPr id="37" name="Text 34"/>
          <p:cNvSpPr/>
          <p:nvPr/>
        </p:nvSpPr>
        <p:spPr>
          <a:xfrm>
            <a:off x="535781" y="3760850"/>
            <a:ext cx="2414588" cy="142232"/>
          </a:xfrm>
          <a:prstGeom prst="rect">
            <a:avLst/>
          </a:prstGeom>
          <a:noFill/>
          <a:ln/>
        </p:spPr>
        <p:txBody>
          <a:bodyPr wrap="none" lIns="0" tIns="0" rIns="0" bIns="0" rtlCol="0" anchor="t">
            <a:normAutofit/>
          </a:bodyPr>
          <a:lstStyle/>
          <a:p>
            <a:pPr algn="l" indent="0" marL="0">
              <a:lnSpc>
                <a:spcPts val="1055"/>
              </a:lnSpc>
              <a:buNone/>
            </a:pPr>
            <a:r>
              <a:rPr lang="en-US" sz="844" b="1" dirty="0">
                <a:solidFill>
                  <a:srgbClr val="1A1A1A"/>
                </a:solidFill>
                <a:latin typeface="Carlito" pitchFamily="34" charset="0"/>
                <a:ea typeface="Carlito" pitchFamily="34" charset="-122"/>
                <a:cs typeface="Carlito" pitchFamily="34" charset="-120"/>
              </a:rPr>
              <a:t>Impact Analysis</a:t>
            </a:r>
            <a:endParaRPr lang="en-US" sz="844" dirty="0"/>
          </a:p>
        </p:txBody>
      </p:sp>
      <p:sp>
        <p:nvSpPr>
          <p:cNvPr id="38" name="Text 35"/>
          <p:cNvSpPr/>
          <p:nvPr/>
        </p:nvSpPr>
        <p:spPr>
          <a:xfrm>
            <a:off x="535781" y="3930514"/>
            <a:ext cx="2524316" cy="119993"/>
          </a:xfrm>
          <a:prstGeom prst="rect">
            <a:avLst/>
          </a:prstGeom>
          <a:noFill/>
          <a:ln/>
        </p:spPr>
        <p:txBody>
          <a:bodyPr wrap="square" lIns="0" tIns="0" rIns="0" bIns="0" rtlCol="0" anchor="t"/>
          <a:lstStyle/>
          <a:p>
            <a:pPr algn="l" indent="0" marL="0">
              <a:lnSpc>
                <a:spcPts val="945"/>
              </a:lnSpc>
              <a:buNone/>
            </a:pPr>
            <a:r>
              <a:rPr lang="en-US" sz="800" dirty="0">
                <a:solidFill>
                  <a:srgbClr val="6B6B6B"/>
                </a:solidFill>
                <a:latin typeface="Carlito" pitchFamily="34" charset="0"/>
                <a:ea typeface="Carlito" pitchFamily="34" charset="-122"/>
                <a:cs typeface="Carlito" pitchFamily="34" charset="-120"/>
              </a:rPr>
              <a:t>Change a function — see the blast radius.</a:t>
            </a:r>
            <a:endParaRPr lang="en-US" sz="800" dirty="0"/>
          </a:p>
        </p:txBody>
      </p:sp>
      <p:sp>
        <p:nvSpPr>
          <p:cNvPr id="39" name="Text 36"/>
          <p:cNvSpPr/>
          <p:nvPr/>
        </p:nvSpPr>
        <p:spPr>
          <a:xfrm>
            <a:off x="3232547" y="2689622"/>
            <a:ext cx="2678906" cy="1493044"/>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0" name="Text 37"/>
          <p:cNvSpPr/>
          <p:nvPr/>
        </p:nvSpPr>
        <p:spPr>
          <a:xfrm>
            <a:off x="5690186" y="2778919"/>
            <a:ext cx="138166" cy="120701"/>
          </a:xfrm>
          <a:prstGeom prst="rect">
            <a:avLst/>
          </a:prstGeom>
          <a:noFill/>
          <a:ln/>
        </p:spPr>
        <p:txBody>
          <a:bodyPr wrap="none" lIns="0" tIns="0" rIns="0" bIns="0" rtlCol="0" anchor="t"/>
          <a:lstStyle/>
          <a:p>
            <a:pPr algn="l" indent="0" marL="0">
              <a:buNone/>
            </a:pPr>
            <a:r>
              <a:rPr lang="en-US" sz="600" spc="34" kern="0" dirty="0">
                <a:solidFill>
                  <a:srgbClr val="6B6B6B"/>
                </a:solidFill>
                <a:latin typeface="Liberation Sans Narrow" pitchFamily="34" charset="0"/>
                <a:ea typeface="Liberation Sans Narrow" pitchFamily="34" charset="-122"/>
                <a:cs typeface="Liberation Sans Narrow" pitchFamily="34" charset="-120"/>
              </a:rPr>
              <a:t>05</a:t>
            </a:r>
            <a:endParaRPr lang="en-US" sz="600" dirty="0"/>
          </a:p>
        </p:txBody>
      </p:sp>
      <p:pic>
        <p:nvPicPr>
          <p:cNvPr id="41" name="Image 1" descr="/tmp/h2p-svg-1790773507495-u0njrb.png">    </p:cNvPr>
          <p:cNvPicPr>
            <a:picLocks noChangeAspect="1"/>
          </p:cNvPicPr>
          <p:nvPr/>
        </p:nvPicPr>
        <p:blipFill>
          <a:blip r:embed="rId2"/>
          <a:stretch>
            <a:fillRect/>
          </a:stretch>
        </p:blipFill>
        <p:spPr>
          <a:xfrm>
            <a:off x="3364706" y="3048372"/>
            <a:ext cx="85725" cy="85725"/>
          </a:xfrm>
          <a:prstGeom prst="rect">
            <a:avLst/>
          </a:prstGeom>
        </p:spPr>
      </p:pic>
      <p:sp>
        <p:nvSpPr>
          <p:cNvPr id="42" name="Text 38"/>
          <p:cNvSpPr/>
          <p:nvPr/>
        </p:nvSpPr>
        <p:spPr>
          <a:xfrm>
            <a:off x="3514725" y="3048372"/>
            <a:ext cx="2264569" cy="125403"/>
          </a:xfrm>
          <a:prstGeom prst="rect">
            <a:avLst/>
          </a:prstGeom>
          <a:noFill/>
          <a:ln/>
        </p:spPr>
        <p:txBody>
          <a:bodyPr wrap="square" lIns="0" tIns="0" rIns="0" bIns="0"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commit a1b2c3</a:t>
            </a:r>
            <a:endParaRPr lang="en-US" sz="800" dirty="0"/>
          </a:p>
        </p:txBody>
      </p:sp>
      <p:pic>
        <p:nvPicPr>
          <p:cNvPr id="43" name="Image 2" descr="/tmp/h2p-svg-1790773507495-1mdokr.png">    </p:cNvPr>
          <p:cNvPicPr>
            <a:picLocks noChangeAspect="1"/>
          </p:cNvPicPr>
          <p:nvPr/>
        </p:nvPicPr>
        <p:blipFill>
          <a:blip r:embed="rId3"/>
          <a:stretch>
            <a:fillRect/>
          </a:stretch>
        </p:blipFill>
        <p:spPr>
          <a:xfrm>
            <a:off x="3364706" y="3212678"/>
            <a:ext cx="85725" cy="85725"/>
          </a:xfrm>
          <a:prstGeom prst="rect">
            <a:avLst/>
          </a:prstGeom>
        </p:spPr>
      </p:pic>
      <p:sp>
        <p:nvSpPr>
          <p:cNvPr id="44" name="Text 39"/>
          <p:cNvSpPr/>
          <p:nvPr/>
        </p:nvSpPr>
        <p:spPr>
          <a:xfrm>
            <a:off x="3514725" y="3212678"/>
            <a:ext cx="2264569" cy="125403"/>
          </a:xfrm>
          <a:prstGeom prst="rect">
            <a:avLst/>
          </a:prstGeom>
          <a:noFill/>
          <a:ln/>
        </p:spPr>
        <p:txBody>
          <a:bodyPr wrap="none" lIns="0" tIns="0" rIns="0" bIns="0"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PR #42 merged</a:t>
            </a:r>
            <a:endParaRPr lang="en-US" sz="800" dirty="0"/>
          </a:p>
        </p:txBody>
      </p:sp>
      <p:pic>
        <p:nvPicPr>
          <p:cNvPr id="45" name="Image 3" descr="/tmp/h2p-svg-1790773507495-7o0ouh.png">    </p:cNvPr>
          <p:cNvPicPr>
            <a:picLocks noChangeAspect="1"/>
          </p:cNvPicPr>
          <p:nvPr/>
        </p:nvPicPr>
        <p:blipFill>
          <a:blip r:embed="rId4"/>
          <a:stretch>
            <a:fillRect/>
          </a:stretch>
        </p:blipFill>
        <p:spPr>
          <a:xfrm>
            <a:off x="3364706" y="3376985"/>
            <a:ext cx="85725" cy="85725"/>
          </a:xfrm>
          <a:prstGeom prst="rect">
            <a:avLst/>
          </a:prstGeom>
        </p:spPr>
      </p:pic>
      <p:sp>
        <p:nvSpPr>
          <p:cNvPr id="46" name="Text 40"/>
          <p:cNvSpPr/>
          <p:nvPr/>
        </p:nvSpPr>
        <p:spPr>
          <a:xfrm>
            <a:off x="3514725" y="3376985"/>
            <a:ext cx="2264569" cy="125403"/>
          </a:xfrm>
          <a:prstGeom prst="rect">
            <a:avLst/>
          </a:prstGeom>
          <a:noFill/>
          <a:ln/>
        </p:spPr>
        <p:txBody>
          <a:bodyPr wrap="none" lIns="0" tIns="0" rIns="0" bIns="0"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issue #17 closed</a:t>
            </a:r>
            <a:endParaRPr lang="en-US" sz="800" dirty="0"/>
          </a:p>
        </p:txBody>
      </p:sp>
      <p:sp>
        <p:nvSpPr>
          <p:cNvPr id="47" name="Text 41"/>
          <p:cNvSpPr/>
          <p:nvPr/>
        </p:nvSpPr>
        <p:spPr>
          <a:xfrm>
            <a:off x="3364706" y="3760850"/>
            <a:ext cx="2414588" cy="142232"/>
          </a:xfrm>
          <a:prstGeom prst="rect">
            <a:avLst/>
          </a:prstGeom>
          <a:noFill/>
          <a:ln/>
        </p:spPr>
        <p:txBody>
          <a:bodyPr wrap="none" lIns="0" tIns="0" rIns="0" bIns="0" rtlCol="0" anchor="t">
            <a:normAutofit/>
          </a:bodyPr>
          <a:lstStyle/>
          <a:p>
            <a:pPr algn="l" indent="0" marL="0">
              <a:lnSpc>
                <a:spcPts val="1055"/>
              </a:lnSpc>
              <a:buNone/>
            </a:pPr>
            <a:r>
              <a:rPr lang="en-US" sz="844" b="1" dirty="0">
                <a:solidFill>
                  <a:srgbClr val="1A1A1A"/>
                </a:solidFill>
                <a:latin typeface="Carlito" pitchFamily="34" charset="0"/>
                <a:ea typeface="Carlito" pitchFamily="34" charset="-122"/>
                <a:cs typeface="Carlito" pitchFamily="34" charset="-120"/>
              </a:rPr>
              <a:t>Tracking</a:t>
            </a:r>
            <a:endParaRPr lang="en-US" sz="844" dirty="0"/>
          </a:p>
        </p:txBody>
      </p:sp>
      <p:sp>
        <p:nvSpPr>
          <p:cNvPr id="48" name="Text 42"/>
          <p:cNvSpPr/>
          <p:nvPr/>
        </p:nvSpPr>
        <p:spPr>
          <a:xfrm>
            <a:off x="3364706" y="3930514"/>
            <a:ext cx="2524316" cy="119993"/>
          </a:xfrm>
          <a:prstGeom prst="rect">
            <a:avLst/>
          </a:prstGeom>
          <a:noFill/>
          <a:ln/>
        </p:spPr>
        <p:txBody>
          <a:bodyPr wrap="square" lIns="0" tIns="0" rIns="0" bIns="0" rtlCol="0" anchor="t"/>
          <a:lstStyle/>
          <a:p>
            <a:pPr algn="l" indent="0" marL="0">
              <a:lnSpc>
                <a:spcPts val="945"/>
              </a:lnSpc>
              <a:buNone/>
            </a:pPr>
            <a:r>
              <a:rPr lang="en-US" sz="800" dirty="0">
                <a:solidFill>
                  <a:srgbClr val="6B6B6B"/>
                </a:solidFill>
                <a:latin typeface="Carlito" pitchFamily="34" charset="0"/>
                <a:ea typeface="Carlito" pitchFamily="34" charset="-122"/>
                <a:cs typeface="Carlito" pitchFamily="34" charset="-120"/>
              </a:rPr>
              <a:t>Commits, PRs, issues, releases — on demand.</a:t>
            </a:r>
            <a:endParaRPr lang="en-US" sz="800" dirty="0"/>
          </a:p>
        </p:txBody>
      </p:sp>
      <p:sp>
        <p:nvSpPr>
          <p:cNvPr id="49" name="Text 43"/>
          <p:cNvSpPr/>
          <p:nvPr/>
        </p:nvSpPr>
        <p:spPr>
          <a:xfrm>
            <a:off x="6061472" y="2689622"/>
            <a:ext cx="2678906" cy="1493044"/>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50" name="Text 44"/>
          <p:cNvSpPr/>
          <p:nvPr/>
        </p:nvSpPr>
        <p:spPr>
          <a:xfrm>
            <a:off x="8519111" y="2778919"/>
            <a:ext cx="138166" cy="120701"/>
          </a:xfrm>
          <a:prstGeom prst="rect">
            <a:avLst/>
          </a:prstGeom>
          <a:noFill/>
          <a:ln/>
        </p:spPr>
        <p:txBody>
          <a:bodyPr wrap="none" lIns="0" tIns="0" rIns="0" bIns="0" rtlCol="0" anchor="t"/>
          <a:lstStyle/>
          <a:p>
            <a:pPr algn="l" indent="0" marL="0">
              <a:buNone/>
            </a:pPr>
            <a:r>
              <a:rPr lang="en-US" sz="600" spc="34" kern="0" dirty="0">
                <a:solidFill>
                  <a:srgbClr val="6B6B6B"/>
                </a:solidFill>
                <a:latin typeface="Liberation Sans Narrow" pitchFamily="34" charset="0"/>
                <a:ea typeface="Liberation Sans Narrow" pitchFamily="34" charset="-122"/>
                <a:cs typeface="Liberation Sans Narrow" pitchFamily="34" charset="-120"/>
              </a:rPr>
              <a:t>06</a:t>
            </a:r>
            <a:endParaRPr lang="en-US" sz="600" dirty="0"/>
          </a:p>
        </p:txBody>
      </p:sp>
      <p:sp>
        <p:nvSpPr>
          <p:cNvPr id="51" name="Text 45"/>
          <p:cNvSpPr/>
          <p:nvPr/>
        </p:nvSpPr>
        <p:spPr>
          <a:xfrm>
            <a:off x="6197203" y="2984078"/>
            <a:ext cx="2407444" cy="542925"/>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2" name="Text 46"/>
          <p:cNvSpPr/>
          <p:nvPr/>
        </p:nvSpPr>
        <p:spPr>
          <a:xfrm>
            <a:off x="6300788" y="3073375"/>
            <a:ext cx="2200275" cy="94012"/>
          </a:xfrm>
          <a:prstGeom prst="rect">
            <a:avLst/>
          </a:prstGeom>
          <a:noFill/>
          <a:ln/>
        </p:spPr>
        <p:txBody>
          <a:bodyPr wrap="none" lIns="0" tIns="0" rIns="0" bIns="0" rtlCol="0" anchor="t">
            <a:normAutofit/>
          </a:bodyPr>
          <a:lstStyle/>
          <a:p>
            <a:pPr algn="l" indent="0" marL="0">
              <a:lnSpc>
                <a:spcPts val="956"/>
              </a:lnSpc>
              <a:buNone/>
            </a:pPr>
            <a:r>
              <a:rPr lang="en-US" sz="800" dirty="0">
                <a:solidFill>
                  <a:srgbClr val="6B6B6B"/>
                </a:solidFill>
                <a:latin typeface="Courier New" pitchFamily="34" charset="0"/>
                <a:ea typeface="Courier New" pitchFamily="34" charset="-122"/>
                <a:cs typeface="Courier New" pitchFamily="34" charset="-120"/>
              </a:rPr>
              <a:t># rebuild prompt</a:t>
            </a:r>
            <a:endParaRPr lang="en-US" sz="800" dirty="0"/>
          </a:p>
        </p:txBody>
      </p:sp>
      <p:sp>
        <p:nvSpPr>
          <p:cNvPr id="53" name="Text 47"/>
          <p:cNvSpPr/>
          <p:nvPr/>
        </p:nvSpPr>
        <p:spPr>
          <a:xfrm>
            <a:off x="6300788" y="3194819"/>
            <a:ext cx="2310003" cy="94012"/>
          </a:xfrm>
          <a:prstGeom prst="rect">
            <a:avLst/>
          </a:prstGeom>
          <a:noFill/>
          <a:ln/>
        </p:spPr>
        <p:txBody>
          <a:bodyPr wrap="square" lIns="0" tIns="0" rIns="0" bIns="0" rtlCol="0" anchor="t">
            <a:normAutofit/>
          </a:bodyPr>
          <a:lstStyle/>
          <a:p>
            <a:pPr algn="l" indent="0" marL="0">
              <a:lnSpc>
                <a:spcPts val="956"/>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FastAPI backend, 3 services…</a:t>
            </a:r>
            <a:endParaRPr lang="en-US" sz="800" dirty="0"/>
          </a:p>
        </p:txBody>
      </p:sp>
      <p:sp>
        <p:nvSpPr>
          <p:cNvPr id="54" name="Text 48"/>
          <p:cNvSpPr/>
          <p:nvPr/>
        </p:nvSpPr>
        <p:spPr>
          <a:xfrm>
            <a:off x="6300788" y="3316263"/>
            <a:ext cx="2200275" cy="121444"/>
          </a:xfrm>
          <a:prstGeom prst="rect">
            <a:avLst/>
          </a:prstGeom>
          <a:noFill/>
          <a:ln/>
        </p:spPr>
        <p:txBody>
          <a:bodyPr wrap="none" lIns="0" tIns="0" rIns="0" bIns="0" rtlCol="0" anchor="t"/>
          <a:lstStyle/>
          <a:p>
            <a:pPr algn="l" indent="0" marL="0">
              <a:lnSpc>
                <a:spcPts val="956"/>
              </a:lnSpc>
              <a:buNone/>
            </a:pPr>
            <a:r>
              <a:rPr lang="en-US" sz="800" dirty="0">
                <a:solidFill>
                  <a:srgbClr val="6B6B6B"/>
                </a:solidFill>
                <a:latin typeface="Courier New" pitchFamily="34" charset="0"/>
                <a:ea typeface="Courier New" pitchFamily="34" charset="-122"/>
                <a:cs typeface="Courier New" pitchFamily="34" charset="-120"/>
              </a:rPr>
              <a:t>agent — rebuild this repo.</a:t>
            </a:r>
            <a:endParaRPr lang="en-US" sz="800" dirty="0"/>
          </a:p>
        </p:txBody>
      </p:sp>
      <p:sp>
        <p:nvSpPr>
          <p:cNvPr id="55" name="Text 49"/>
          <p:cNvSpPr/>
          <p:nvPr/>
        </p:nvSpPr>
        <p:spPr>
          <a:xfrm>
            <a:off x="6193631" y="3760850"/>
            <a:ext cx="2414587" cy="142232"/>
          </a:xfrm>
          <a:prstGeom prst="rect">
            <a:avLst/>
          </a:prstGeom>
          <a:noFill/>
          <a:ln/>
        </p:spPr>
        <p:txBody>
          <a:bodyPr wrap="none" lIns="0" tIns="0" rIns="0" bIns="0" rtlCol="0" anchor="t">
            <a:normAutofit/>
          </a:bodyPr>
          <a:lstStyle/>
          <a:p>
            <a:pPr algn="l" indent="0" marL="0">
              <a:lnSpc>
                <a:spcPts val="1055"/>
              </a:lnSpc>
              <a:buNone/>
            </a:pPr>
            <a:r>
              <a:rPr lang="en-US" sz="844" b="1" dirty="0">
                <a:solidFill>
                  <a:srgbClr val="1A1A1A"/>
                </a:solidFill>
                <a:latin typeface="Carlito" pitchFamily="34" charset="0"/>
                <a:ea typeface="Carlito" pitchFamily="34" charset="-122"/>
                <a:cs typeface="Carlito" pitchFamily="34" charset="-120"/>
              </a:rPr>
              <a:t>Reverse Prompt</a:t>
            </a:r>
            <a:endParaRPr lang="en-US" sz="844" dirty="0"/>
          </a:p>
        </p:txBody>
      </p:sp>
      <p:sp>
        <p:nvSpPr>
          <p:cNvPr id="56" name="Text 50"/>
          <p:cNvSpPr/>
          <p:nvPr/>
        </p:nvSpPr>
        <p:spPr>
          <a:xfrm>
            <a:off x="6193631" y="3930514"/>
            <a:ext cx="2524315" cy="119993"/>
          </a:xfrm>
          <a:prstGeom prst="rect">
            <a:avLst/>
          </a:prstGeom>
          <a:noFill/>
          <a:ln/>
        </p:spPr>
        <p:txBody>
          <a:bodyPr wrap="square" lIns="0" tIns="0" rIns="0" bIns="0" rtlCol="0" anchor="t"/>
          <a:lstStyle/>
          <a:p>
            <a:pPr algn="l" indent="0" marL="0">
              <a:lnSpc>
                <a:spcPts val="945"/>
              </a:lnSpc>
              <a:buNone/>
            </a:pPr>
            <a:r>
              <a:rPr lang="en-US" sz="800" dirty="0">
                <a:solidFill>
                  <a:srgbClr val="6B6B6B"/>
                </a:solidFill>
                <a:latin typeface="Carlito" pitchFamily="34" charset="0"/>
                <a:ea typeface="Carlito" pitchFamily="34" charset="-122"/>
                <a:cs typeface="Carlito" pitchFamily="34" charset="-120"/>
              </a:rPr>
              <a:t>Any repo → an agent-ready rebuild prompt.</a:t>
            </a:r>
            <a:endParaRPr lang="en-US" sz="800" dirty="0"/>
          </a:p>
        </p:txBody>
      </p:sp>
      <p:sp>
        <p:nvSpPr>
          <p:cNvPr id="57" name="Text 51"/>
          <p:cNvSpPr/>
          <p:nvPr/>
        </p:nvSpPr>
        <p:spPr>
          <a:xfrm>
            <a:off x="6434733" y="1508894"/>
            <a:ext cx="121444" cy="121444"/>
          </a:xfrm>
          <a:prstGeom prst="ellipse">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8" name="Text 52"/>
          <p:cNvSpPr/>
          <p:nvPr/>
        </p:nvSpPr>
        <p:spPr>
          <a:xfrm>
            <a:off x="6431161" y="1505322"/>
            <a:ext cx="128588" cy="128588"/>
          </a:xfrm>
          <a:prstGeom prst="rect">
            <a:avLst/>
          </a:prstGeom>
          <a:noFill/>
          <a:ln/>
        </p:spPr>
        <p:txBody>
          <a:bodyPr wrap="none" lIns="0" tIns="0" rIns="0" bIns="0" rtlCol="0" anchor="ctr"/>
          <a:lstStyle/>
          <a:p>
            <a:pPr algn="l" indent="0" marL="0">
              <a:buNone/>
            </a:pPr>
            <a:r>
              <a:rPr lang="en-US" sz="800" dirty="0">
                <a:solidFill>
                  <a:srgbClr val="6B6B6B"/>
                </a:solidFill>
                <a:latin typeface="Liberation Sans Narrow" pitchFamily="34" charset="0"/>
                <a:ea typeface="Liberation Sans Narrow" pitchFamily="34" charset="-122"/>
                <a:cs typeface="Liberation Sans Narrow" pitchFamily="34" charset="-120"/>
              </a:rPr>
              <a:t>1</a:t>
            </a:r>
            <a:endParaRPr lang="en-US" sz="800" dirty="0"/>
          </a:p>
        </p:txBody>
      </p:sp>
      <p:sp>
        <p:nvSpPr>
          <p:cNvPr id="59" name="Text 53"/>
          <p:cNvSpPr/>
          <p:nvPr/>
        </p:nvSpPr>
        <p:spPr>
          <a:xfrm>
            <a:off x="7038380" y="1508894"/>
            <a:ext cx="121444" cy="121444"/>
          </a:xfrm>
          <a:prstGeom prst="ellipse">
            <a:avLst/>
          </a:prstGeom>
          <a:solidFill>
            <a:srgbClr val="10B981"/>
          </a:solidFill>
          <a:ln w="7144">
            <a:solidFill>
              <a:srgbClr val="10B981"/>
            </a:solidFill>
            <a:prstDash val="solid"/>
          </a:ln>
        </p:spPr>
        <p:txBody>
          <a:bodyPr wrap="square" rtlCol="0" anchor="ctr"/>
          <a:lstStyle/>
          <a:p>
            <a:pPr indent="0" marL="0">
              <a:buNone/>
            </a:pPr>
            <a:endParaRPr lang="en-US" dirty="0"/>
          </a:p>
        </p:txBody>
      </p:sp>
      <p:sp>
        <p:nvSpPr>
          <p:cNvPr id="60" name="Text 54"/>
          <p:cNvSpPr/>
          <p:nvPr/>
        </p:nvSpPr>
        <p:spPr>
          <a:xfrm>
            <a:off x="7034808" y="1505322"/>
            <a:ext cx="128588" cy="128588"/>
          </a:xfrm>
          <a:prstGeom prst="rect">
            <a:avLst/>
          </a:prstGeom>
          <a:noFill/>
          <a:ln/>
        </p:spPr>
        <p:txBody>
          <a:bodyPr wrap="none" lIns="0" tIns="0" rIns="0" bIns="0" rtlCol="0" anchor="ctr"/>
          <a:lstStyle/>
          <a:p>
            <a:pPr algn="l" indent="0" marL="0">
              <a:buNone/>
            </a:pPr>
            <a:r>
              <a:rPr lang="en-US" sz="800"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61" name="Text 55"/>
          <p:cNvSpPr/>
          <p:nvPr/>
        </p:nvSpPr>
        <p:spPr>
          <a:xfrm>
            <a:off x="7642027" y="1508894"/>
            <a:ext cx="121444" cy="121444"/>
          </a:xfrm>
          <a:prstGeom prst="ellipse">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62" name="Text 56"/>
          <p:cNvSpPr/>
          <p:nvPr/>
        </p:nvSpPr>
        <p:spPr>
          <a:xfrm>
            <a:off x="7638455" y="1505322"/>
            <a:ext cx="128588" cy="128588"/>
          </a:xfrm>
          <a:prstGeom prst="rect">
            <a:avLst/>
          </a:prstGeom>
          <a:noFill/>
          <a:ln/>
        </p:spPr>
        <p:txBody>
          <a:bodyPr wrap="none" lIns="0" tIns="0" rIns="0" bIns="0" rtlCol="0" anchor="ctr"/>
          <a:lstStyle/>
          <a:p>
            <a:pPr algn="l" indent="0" marL="0">
              <a:buNone/>
            </a:pPr>
            <a:r>
              <a:rPr lang="en-US" sz="800" dirty="0">
                <a:solidFill>
                  <a:srgbClr val="6B6B6B"/>
                </a:solidFill>
                <a:latin typeface="Liberation Sans Narrow" pitchFamily="34" charset="0"/>
                <a:ea typeface="Liberation Sans Narrow" pitchFamily="34" charset="-122"/>
                <a:cs typeface="Liberation Sans Narrow" pitchFamily="34" charset="-120"/>
              </a:rPr>
              <a:t>3</a:t>
            </a:r>
            <a:endParaRPr lang="en-US" sz="800" dirty="0"/>
          </a:p>
        </p:txBody>
      </p:sp>
      <p:sp>
        <p:nvSpPr>
          <p:cNvPr id="63" name="Text 57"/>
          <p:cNvSpPr/>
          <p:nvPr/>
        </p:nvSpPr>
        <p:spPr>
          <a:xfrm>
            <a:off x="8245673" y="1508894"/>
            <a:ext cx="121444" cy="121444"/>
          </a:xfrm>
          <a:prstGeom prst="ellipse">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64" name="Text 58"/>
          <p:cNvSpPr/>
          <p:nvPr/>
        </p:nvSpPr>
        <p:spPr>
          <a:xfrm>
            <a:off x="8242102" y="1505322"/>
            <a:ext cx="128588" cy="128588"/>
          </a:xfrm>
          <a:prstGeom prst="rect">
            <a:avLst/>
          </a:prstGeom>
          <a:noFill/>
          <a:ln/>
        </p:spPr>
        <p:txBody>
          <a:bodyPr wrap="none" lIns="0" tIns="0" rIns="0" bIns="0" rtlCol="0" anchor="ctr"/>
          <a:lstStyle/>
          <a:p>
            <a:pPr algn="l" indent="0" marL="0">
              <a:buNone/>
            </a:pPr>
            <a:r>
              <a:rPr lang="en-US" sz="800" dirty="0">
                <a:solidFill>
                  <a:srgbClr val="6B6B6B"/>
                </a:solidFill>
                <a:latin typeface="Liberation Sans Narrow" pitchFamily="34" charset="0"/>
                <a:ea typeface="Liberation Sans Narrow" pitchFamily="34" charset="-122"/>
                <a:cs typeface="Liberation Sans Narrow" pitchFamily="34" charset="-120"/>
              </a:rPr>
              <a:t>4</a:t>
            </a:r>
            <a:endParaRPr lang="en-US" sz="800" dirty="0"/>
          </a:p>
        </p:txBody>
      </p:sp>
      <p:sp>
        <p:nvSpPr>
          <p:cNvPr id="65" name="Text 59"/>
          <p:cNvSpPr/>
          <p:nvPr/>
        </p:nvSpPr>
        <p:spPr>
          <a:xfrm>
            <a:off x="1539478" y="3146822"/>
            <a:ext cx="421481" cy="19288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66" name="Text 60"/>
          <p:cNvSpPr/>
          <p:nvPr/>
        </p:nvSpPr>
        <p:spPr>
          <a:xfrm>
            <a:off x="1543050" y="3150394"/>
            <a:ext cx="414338" cy="21431"/>
          </a:xfrm>
          <a:prstGeom prst="rect">
            <a:avLst/>
          </a:prstGeom>
          <a:solidFill>
            <a:srgbClr val="D4AF37"/>
          </a:solidFill>
          <a:ln/>
        </p:spPr>
        <p:txBody>
          <a:bodyPr wrap="square" rtlCol="0" anchor="ctr"/>
          <a:lstStyle/>
          <a:p>
            <a:pPr indent="0" marL="0">
              <a:buNone/>
            </a:pPr>
            <a:endParaRPr lang="en-US" dirty="0"/>
          </a:p>
        </p:txBody>
      </p:sp>
      <p:sp>
        <p:nvSpPr>
          <p:cNvPr id="67" name="Text 61"/>
          <p:cNvSpPr/>
          <p:nvPr/>
        </p:nvSpPr>
        <p:spPr>
          <a:xfrm>
            <a:off x="1543050" y="3171825"/>
            <a:ext cx="414338" cy="164306"/>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auth</a:t>
            </a:r>
            <a:endParaRPr lang="en-US" sz="800" dirty="0"/>
          </a:p>
        </p:txBody>
      </p:sp>
      <p:sp>
        <p:nvSpPr>
          <p:cNvPr id="68" name="Text 62"/>
          <p:cNvSpPr/>
          <p:nvPr/>
        </p:nvSpPr>
        <p:spPr>
          <a:xfrm>
            <a:off x="682228" y="2882503"/>
            <a:ext cx="378619" cy="13573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69" name="Text 63"/>
          <p:cNvSpPr/>
          <p:nvPr/>
        </p:nvSpPr>
        <p:spPr>
          <a:xfrm>
            <a:off x="666732" y="2886075"/>
            <a:ext cx="409611" cy="128588"/>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routes</a:t>
            </a:r>
            <a:endParaRPr lang="en-US" sz="800" dirty="0"/>
          </a:p>
        </p:txBody>
      </p:sp>
      <p:sp>
        <p:nvSpPr>
          <p:cNvPr id="70" name="Text 64"/>
          <p:cNvSpPr/>
          <p:nvPr/>
        </p:nvSpPr>
        <p:spPr>
          <a:xfrm>
            <a:off x="682228" y="3425428"/>
            <a:ext cx="321469" cy="13573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71" name="Text 65"/>
          <p:cNvSpPr/>
          <p:nvPr/>
        </p:nvSpPr>
        <p:spPr>
          <a:xfrm>
            <a:off x="669328" y="3429000"/>
            <a:ext cx="347269" cy="128588"/>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tests</a:t>
            </a:r>
            <a:endParaRPr lang="en-US" sz="800" dirty="0"/>
          </a:p>
        </p:txBody>
      </p:sp>
      <p:sp>
        <p:nvSpPr>
          <p:cNvPr id="72" name="Text 66"/>
          <p:cNvSpPr/>
          <p:nvPr/>
        </p:nvSpPr>
        <p:spPr>
          <a:xfrm>
            <a:off x="2411016" y="3168253"/>
            <a:ext cx="292894" cy="13573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73" name="Text 67"/>
          <p:cNvSpPr/>
          <p:nvPr/>
        </p:nvSpPr>
        <p:spPr>
          <a:xfrm>
            <a:off x="2414588" y="3171825"/>
            <a:ext cx="285750" cy="128588"/>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ui</a:t>
            </a:r>
            <a:endParaRPr lang="en-US" sz="800" dirty="0"/>
          </a:p>
        </p:txBody>
      </p:sp>
      <p:sp>
        <p:nvSpPr>
          <p:cNvPr id="74" name="Text 68"/>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400050"/>
            <a:ext cx="1306368" cy="249902"/>
          </a:xfrm>
          <a:prstGeom prst="rect">
            <a:avLst/>
          </a:prstGeom>
          <a:noFill/>
          <a:ln/>
        </p:spPr>
        <p:txBody>
          <a:bodyPr wrap="squar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Architecture.</a:t>
            </a:r>
            <a:endParaRPr lang="en-US" sz="1519" dirty="0"/>
          </a:p>
        </p:txBody>
      </p:sp>
      <p:sp>
        <p:nvSpPr>
          <p:cNvPr id="3" name="Text 1"/>
          <p:cNvSpPr/>
          <p:nvPr/>
        </p:nvSpPr>
        <p:spPr>
          <a:xfrm>
            <a:off x="400050" y="671513"/>
            <a:ext cx="2399202" cy="126609"/>
          </a:xfrm>
          <a:prstGeom prst="rect">
            <a:avLst/>
          </a:prstGeom>
          <a:noFill/>
          <a:ln/>
        </p:spPr>
        <p:txBody>
          <a:bodyPr wrap="square" lIns="0" tIns="0" rIns="0" bIns="0" rtlCol="0" anchor="t"/>
          <a:lstStyle/>
          <a:p>
            <a:pPr algn="l" indent="0" marL="0">
              <a:buNone/>
            </a:pPr>
            <a:r>
              <a:rPr lang="en-US" sz="731" dirty="0">
                <a:solidFill>
                  <a:srgbClr val="6B6B6B"/>
                </a:solidFill>
                <a:latin typeface="Carlito" pitchFamily="34" charset="0"/>
                <a:ea typeface="Carlito" pitchFamily="34" charset="-122"/>
                <a:cs typeface="Carlito" pitchFamily="34" charset="-120"/>
              </a:rPr>
              <a:t>how a GitHub URL becomes a living knowledge graph</a:t>
            </a:r>
            <a:endParaRPr lang="en-US" sz="731" dirty="0"/>
          </a:p>
        </p:txBody>
      </p:sp>
      <p:sp>
        <p:nvSpPr>
          <p:cNvPr id="4" name="Text 2"/>
          <p:cNvSpPr/>
          <p:nvPr/>
        </p:nvSpPr>
        <p:spPr>
          <a:xfrm>
            <a:off x="403622" y="989409"/>
            <a:ext cx="8336756" cy="307895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5" name="Image 0" descr="/tmp/h2p-svg-1790773507490-e9mv8m.png">    </p:cNvPr>
          <p:cNvPicPr>
            <a:picLocks noChangeAspect="1"/>
          </p:cNvPicPr>
          <p:nvPr/>
        </p:nvPicPr>
        <p:blipFill>
          <a:blip r:embed="rId1"/>
          <a:stretch>
            <a:fillRect/>
          </a:stretch>
        </p:blipFill>
        <p:spPr>
          <a:xfrm>
            <a:off x="407194" y="992981"/>
            <a:ext cx="8343900" cy="3086100"/>
          </a:xfrm>
          <a:prstGeom prst="rect">
            <a:avLst/>
          </a:prstGeom>
        </p:spPr>
      </p:pic>
      <p:sp>
        <p:nvSpPr>
          <p:cNvPr id="6" name="Text 3"/>
          <p:cNvSpPr/>
          <p:nvPr/>
        </p:nvSpPr>
        <p:spPr>
          <a:xfrm>
            <a:off x="810816" y="2325291"/>
            <a:ext cx="1350169" cy="421481"/>
          </a:xfrm>
          <a:prstGeom prst="rect">
            <a:avLst/>
          </a:prstGeom>
          <a:solidFill>
            <a:srgbClr val="FFFFFF"/>
          </a:solidFill>
          <a:ln w="7144">
            <a:solidFill>
              <a:srgbClr val="1A1A1A"/>
            </a:solidFill>
            <a:prstDash val="solid"/>
          </a:ln>
          <a:effectLst>
            <a:outerShdw sx="100000" sy="100000" kx="0" ky="0" algn="bl" rotWithShape="0" blurRad="101600" dist="40411" dir="2700000">
              <a:srgbClr val="1A1A1A">
                <a:alpha val="50000"/>
              </a:srgbClr>
            </a:outerShdw>
          </a:effectLst>
        </p:spPr>
        <p:txBody>
          <a:bodyPr wrap="square" rtlCol="0" anchor="ctr"/>
          <a:lstStyle/>
          <a:p>
            <a:pPr indent="0" marL="0">
              <a:buNone/>
            </a:pPr>
            <a:endParaRPr lang="en-US" dirty="0"/>
          </a:p>
        </p:txBody>
      </p:sp>
      <p:sp>
        <p:nvSpPr>
          <p:cNvPr id="7" name="Text 4"/>
          <p:cNvSpPr/>
          <p:nvPr/>
        </p:nvSpPr>
        <p:spPr>
          <a:xfrm>
            <a:off x="814388" y="2328863"/>
            <a:ext cx="1343025" cy="21431"/>
          </a:xfrm>
          <a:prstGeom prst="rect">
            <a:avLst/>
          </a:prstGeom>
          <a:solidFill>
            <a:srgbClr val="1A1A1A"/>
          </a:solidFill>
          <a:ln/>
        </p:spPr>
        <p:txBody>
          <a:bodyPr wrap="square" rtlCol="0" anchor="ctr"/>
          <a:lstStyle/>
          <a:p>
            <a:pPr indent="0" marL="0">
              <a:buNone/>
            </a:pPr>
            <a:endParaRPr lang="en-US" dirty="0"/>
          </a:p>
        </p:txBody>
      </p:sp>
      <p:sp>
        <p:nvSpPr>
          <p:cNvPr id="8" name="Text 5"/>
          <p:cNvSpPr/>
          <p:nvPr/>
        </p:nvSpPr>
        <p:spPr>
          <a:xfrm>
            <a:off x="914400" y="2428875"/>
            <a:ext cx="1243013" cy="108299"/>
          </a:xfrm>
          <a:prstGeom prst="rect">
            <a:avLst/>
          </a:prstGeom>
          <a:noFill/>
          <a:ln/>
        </p:spPr>
        <p:txBody>
          <a:bodyPr wrap="none" lIns="0" tIns="0" rIns="0" bIns="0" rtlCol="0" anchor="t">
            <a:normAutofit/>
          </a:bodyPr>
          <a:lstStyle/>
          <a:p>
            <a:pPr algn="l" indent="0" marL="0">
              <a:lnSpc>
                <a:spcPts val="900"/>
              </a:lnSpc>
              <a:buNone/>
            </a:pPr>
            <a:r>
              <a:rPr lang="en-US" sz="800" dirty="0">
                <a:solidFill>
                  <a:srgbClr val="1A1A1A"/>
                </a:solidFill>
                <a:latin typeface="Courier New" pitchFamily="34" charset="0"/>
                <a:ea typeface="Courier New" pitchFamily="34" charset="-122"/>
                <a:cs typeface="Courier New" pitchFamily="34" charset="-120"/>
              </a:rPr>
              <a:t>React UI</a:t>
            </a:r>
            <a:endParaRPr lang="en-US" sz="800" dirty="0"/>
          </a:p>
        </p:txBody>
      </p:sp>
      <p:sp>
        <p:nvSpPr>
          <p:cNvPr id="9" name="Text 6"/>
          <p:cNvSpPr/>
          <p:nvPr/>
        </p:nvSpPr>
        <p:spPr>
          <a:xfrm>
            <a:off x="914400" y="2564606"/>
            <a:ext cx="1243013" cy="146304"/>
          </a:xfrm>
          <a:prstGeom prst="rect">
            <a:avLst/>
          </a:prstGeom>
          <a:noFill/>
          <a:ln/>
        </p:spPr>
        <p:txBody>
          <a:bodyPr wrap="none" lIns="0" tIns="0" rIns="0" bIns="0" rtlCol="0" anchor="t"/>
          <a:lstStyle/>
          <a:p>
            <a:pPr algn="l" indent="0" marL="0">
              <a:lnSpc>
                <a:spcPts val="788"/>
              </a:lnSpc>
              <a:buNone/>
            </a:pPr>
            <a:r>
              <a:rPr lang="en-US" sz="600" dirty="0">
                <a:solidFill>
                  <a:srgbClr val="6B6B6B"/>
                </a:solidFill>
                <a:latin typeface="Courier New" pitchFamily="34" charset="0"/>
                <a:ea typeface="Courier New" pitchFamily="34" charset="-122"/>
                <a:cs typeface="Courier New" pitchFamily="34" charset="-120"/>
              </a:rPr>
              <a:t>React Flow · SSE client</a:t>
            </a:r>
            <a:endParaRPr lang="en-US" sz="600" dirty="0"/>
          </a:p>
        </p:txBody>
      </p:sp>
      <p:sp>
        <p:nvSpPr>
          <p:cNvPr id="10" name="Text 7"/>
          <p:cNvSpPr/>
          <p:nvPr/>
        </p:nvSpPr>
        <p:spPr>
          <a:xfrm>
            <a:off x="2496741" y="2325291"/>
            <a:ext cx="1421606" cy="421481"/>
          </a:xfrm>
          <a:prstGeom prst="rect">
            <a:avLst/>
          </a:prstGeom>
          <a:solidFill>
            <a:srgbClr val="FFFFFF"/>
          </a:solidFill>
          <a:ln w="7144">
            <a:solidFill>
              <a:srgbClr val="10B981"/>
            </a:solidFill>
            <a:prstDash val="solid"/>
          </a:ln>
          <a:effectLst>
            <a:outerShdw sx="100000" sy="100000" kx="0" ky="0" algn="bl" rotWithShape="0" blurRad="101600" dist="40411" dir="2700000">
              <a:srgbClr val="1A1A1A">
                <a:alpha val="50000"/>
              </a:srgbClr>
            </a:outerShdw>
          </a:effectLst>
        </p:spPr>
        <p:txBody>
          <a:bodyPr wrap="square" rtlCol="0" anchor="ctr"/>
          <a:lstStyle/>
          <a:p>
            <a:pPr indent="0" marL="0">
              <a:buNone/>
            </a:pPr>
            <a:endParaRPr lang="en-US" dirty="0"/>
          </a:p>
        </p:txBody>
      </p:sp>
      <p:sp>
        <p:nvSpPr>
          <p:cNvPr id="11" name="Text 8"/>
          <p:cNvSpPr/>
          <p:nvPr/>
        </p:nvSpPr>
        <p:spPr>
          <a:xfrm>
            <a:off x="2500313" y="2328863"/>
            <a:ext cx="1414463" cy="21431"/>
          </a:xfrm>
          <a:prstGeom prst="rect">
            <a:avLst/>
          </a:prstGeom>
          <a:solidFill>
            <a:srgbClr val="10B981"/>
          </a:solidFill>
          <a:ln/>
        </p:spPr>
        <p:txBody>
          <a:bodyPr wrap="square" rtlCol="0" anchor="ctr"/>
          <a:lstStyle/>
          <a:p>
            <a:pPr indent="0" marL="0">
              <a:buNone/>
            </a:pPr>
            <a:endParaRPr lang="en-US" dirty="0"/>
          </a:p>
        </p:txBody>
      </p:sp>
      <p:sp>
        <p:nvSpPr>
          <p:cNvPr id="12" name="Text 9"/>
          <p:cNvSpPr/>
          <p:nvPr/>
        </p:nvSpPr>
        <p:spPr>
          <a:xfrm>
            <a:off x="2600325" y="2428875"/>
            <a:ext cx="1314450" cy="108299"/>
          </a:xfrm>
          <a:prstGeom prst="rect">
            <a:avLst/>
          </a:prstGeom>
          <a:noFill/>
          <a:ln/>
        </p:spPr>
        <p:txBody>
          <a:bodyPr wrap="none" lIns="0" tIns="0" rIns="0" bIns="0" rtlCol="0" anchor="t">
            <a:normAutofit/>
          </a:bodyPr>
          <a:lstStyle/>
          <a:p>
            <a:pPr algn="l" indent="0" marL="0">
              <a:lnSpc>
                <a:spcPts val="900"/>
              </a:lnSpc>
              <a:buNone/>
            </a:pPr>
            <a:r>
              <a:rPr lang="en-US" sz="800" dirty="0">
                <a:solidFill>
                  <a:srgbClr val="1A1A1A"/>
                </a:solidFill>
                <a:latin typeface="Courier New" pitchFamily="34" charset="0"/>
                <a:ea typeface="Courier New" pitchFamily="34" charset="-122"/>
                <a:cs typeface="Courier New" pitchFamily="34" charset="-120"/>
              </a:rPr>
              <a:t>FastAPI</a:t>
            </a:r>
            <a:endParaRPr lang="en-US" sz="800" dirty="0"/>
          </a:p>
        </p:txBody>
      </p:sp>
      <p:sp>
        <p:nvSpPr>
          <p:cNvPr id="13" name="Text 10"/>
          <p:cNvSpPr/>
          <p:nvPr/>
        </p:nvSpPr>
        <p:spPr>
          <a:xfrm>
            <a:off x="2600325" y="2564606"/>
            <a:ext cx="1314450" cy="146304"/>
          </a:xfrm>
          <a:prstGeom prst="rect">
            <a:avLst/>
          </a:prstGeom>
          <a:noFill/>
          <a:ln/>
        </p:spPr>
        <p:txBody>
          <a:bodyPr wrap="none" lIns="0" tIns="0" rIns="0" bIns="0" rtlCol="0" anchor="t"/>
          <a:lstStyle/>
          <a:p>
            <a:pPr algn="l" indent="0" marL="0">
              <a:lnSpc>
                <a:spcPts val="788"/>
              </a:lnSpc>
              <a:buNone/>
            </a:pPr>
            <a:r>
              <a:rPr lang="en-US" sz="600" dirty="0">
                <a:solidFill>
                  <a:srgbClr val="6B6B6B"/>
                </a:solidFill>
                <a:latin typeface="Liberation Sans Narrow" pitchFamily="34" charset="0"/>
                <a:ea typeface="Liberation Sans Narrow" pitchFamily="34" charset="-122"/>
                <a:cs typeface="Liberation Sans Narrow" pitchFamily="34" charset="-120"/>
              </a:rPr>
              <a:t>Python 3.11 · REST + SSE</a:t>
            </a:r>
            <a:endParaRPr lang="en-US" sz="600" dirty="0"/>
          </a:p>
        </p:txBody>
      </p:sp>
      <p:sp>
        <p:nvSpPr>
          <p:cNvPr id="14" name="Text 11"/>
          <p:cNvSpPr/>
          <p:nvPr/>
        </p:nvSpPr>
        <p:spPr>
          <a:xfrm>
            <a:off x="810816" y="3296841"/>
            <a:ext cx="1493044" cy="421481"/>
          </a:xfrm>
          <a:prstGeom prst="rect">
            <a:avLst/>
          </a:prstGeom>
          <a:solidFill>
            <a:srgbClr val="FFFFFF"/>
          </a:solidFill>
          <a:ln w="7144">
            <a:solidFill>
              <a:srgbClr val="1A1A1A"/>
            </a:solidFill>
            <a:prstDash val="solid"/>
          </a:ln>
          <a:effectLst>
            <a:outerShdw sx="100000" sy="100000" kx="0" ky="0" algn="bl" rotWithShape="0" blurRad="101600" dist="40411" dir="2700000">
              <a:srgbClr val="1A1A1A">
                <a:alpha val="50000"/>
              </a:srgbClr>
            </a:outerShdw>
          </a:effectLst>
        </p:spPr>
        <p:txBody>
          <a:bodyPr wrap="square" rtlCol="0" anchor="ctr"/>
          <a:lstStyle/>
          <a:p>
            <a:pPr indent="0" marL="0">
              <a:buNone/>
            </a:pPr>
            <a:endParaRPr lang="en-US" dirty="0"/>
          </a:p>
        </p:txBody>
      </p:sp>
      <p:sp>
        <p:nvSpPr>
          <p:cNvPr id="15" name="Text 12"/>
          <p:cNvSpPr/>
          <p:nvPr/>
        </p:nvSpPr>
        <p:spPr>
          <a:xfrm>
            <a:off x="814388" y="3300413"/>
            <a:ext cx="1485900" cy="21431"/>
          </a:xfrm>
          <a:prstGeom prst="rect">
            <a:avLst/>
          </a:prstGeom>
          <a:solidFill>
            <a:srgbClr val="1A1A1A"/>
          </a:solidFill>
          <a:ln/>
        </p:spPr>
        <p:txBody>
          <a:bodyPr wrap="square" rtlCol="0" anchor="ctr"/>
          <a:lstStyle/>
          <a:p>
            <a:pPr indent="0" marL="0">
              <a:buNone/>
            </a:pPr>
            <a:endParaRPr lang="en-US" dirty="0"/>
          </a:p>
        </p:txBody>
      </p:sp>
      <p:sp>
        <p:nvSpPr>
          <p:cNvPr id="16" name="Text 13"/>
          <p:cNvSpPr/>
          <p:nvPr/>
        </p:nvSpPr>
        <p:spPr>
          <a:xfrm>
            <a:off x="914400" y="3400425"/>
            <a:ext cx="1385888" cy="108299"/>
          </a:xfrm>
          <a:prstGeom prst="rect">
            <a:avLst/>
          </a:prstGeom>
          <a:noFill/>
          <a:ln/>
        </p:spPr>
        <p:txBody>
          <a:bodyPr wrap="none" lIns="0" tIns="0" rIns="0" bIns="0" rtlCol="0" anchor="t">
            <a:normAutofit/>
          </a:bodyPr>
          <a:lstStyle/>
          <a:p>
            <a:pPr algn="l" indent="0" marL="0">
              <a:lnSpc>
                <a:spcPts val="900"/>
              </a:lnSpc>
              <a:buNone/>
            </a:pPr>
            <a:r>
              <a:rPr lang="en-US" sz="800" dirty="0">
                <a:solidFill>
                  <a:srgbClr val="1A1A1A"/>
                </a:solidFill>
                <a:latin typeface="Courier New" pitchFamily="34" charset="0"/>
                <a:ea typeface="Courier New" pitchFamily="34" charset="-122"/>
                <a:cs typeface="Courier New" pitchFamily="34" charset="-120"/>
              </a:rPr>
              <a:t>GitHub REST API</a:t>
            </a:r>
            <a:endParaRPr lang="en-US" sz="800" dirty="0"/>
          </a:p>
        </p:txBody>
      </p:sp>
      <p:sp>
        <p:nvSpPr>
          <p:cNvPr id="17" name="Text 14"/>
          <p:cNvSpPr/>
          <p:nvPr/>
        </p:nvSpPr>
        <p:spPr>
          <a:xfrm>
            <a:off x="914400" y="3536156"/>
            <a:ext cx="1385888" cy="146304"/>
          </a:xfrm>
          <a:prstGeom prst="rect">
            <a:avLst/>
          </a:prstGeom>
          <a:noFill/>
          <a:ln/>
        </p:spPr>
        <p:txBody>
          <a:bodyPr wrap="none" lIns="0" tIns="0" rIns="0" bIns="0" rtlCol="0" anchor="t"/>
          <a:lstStyle/>
          <a:p>
            <a:pPr algn="l" indent="0" marL="0">
              <a:lnSpc>
                <a:spcPts val="788"/>
              </a:lnSpc>
              <a:buNone/>
            </a:pPr>
            <a:r>
              <a:rPr lang="en-US" sz="800" dirty="0">
                <a:solidFill>
                  <a:srgbClr val="6B6B6B"/>
                </a:solidFill>
                <a:latin typeface="Courier New" pitchFamily="34" charset="0"/>
                <a:ea typeface="Courier New" pitchFamily="34" charset="-122"/>
                <a:cs typeface="Courier New" pitchFamily="34" charset="-120"/>
              </a:rPr>
              <a:t>tree · commits · PRs</a:t>
            </a:r>
            <a:endParaRPr lang="en-US" sz="800" dirty="0"/>
          </a:p>
        </p:txBody>
      </p:sp>
      <p:sp>
        <p:nvSpPr>
          <p:cNvPr id="18" name="Text 15"/>
          <p:cNvSpPr/>
          <p:nvPr/>
        </p:nvSpPr>
        <p:spPr>
          <a:xfrm>
            <a:off x="5182791" y="1368028"/>
            <a:ext cx="1493044" cy="421481"/>
          </a:xfrm>
          <a:prstGeom prst="rect">
            <a:avLst/>
          </a:prstGeom>
          <a:solidFill>
            <a:srgbClr val="FFFFFF"/>
          </a:solidFill>
          <a:ln w="7144">
            <a:solidFill>
              <a:srgbClr val="1A1A1A"/>
            </a:solidFill>
            <a:prstDash val="solid"/>
          </a:ln>
          <a:effectLst>
            <a:outerShdw sx="100000" sy="100000" kx="0" ky="0" algn="bl" rotWithShape="0" blurRad="101600" dist="40411" dir="2700000">
              <a:srgbClr val="1A1A1A">
                <a:alpha val="50000"/>
              </a:srgbClr>
            </a:outerShdw>
          </a:effectLst>
        </p:spPr>
        <p:txBody>
          <a:bodyPr wrap="square" rtlCol="0" anchor="ctr"/>
          <a:lstStyle/>
          <a:p>
            <a:pPr indent="0" marL="0">
              <a:buNone/>
            </a:pPr>
            <a:endParaRPr lang="en-US" dirty="0"/>
          </a:p>
        </p:txBody>
      </p:sp>
      <p:sp>
        <p:nvSpPr>
          <p:cNvPr id="19" name="Text 16"/>
          <p:cNvSpPr/>
          <p:nvPr/>
        </p:nvSpPr>
        <p:spPr>
          <a:xfrm>
            <a:off x="5186363" y="1371600"/>
            <a:ext cx="1485900" cy="21431"/>
          </a:xfrm>
          <a:prstGeom prst="rect">
            <a:avLst/>
          </a:prstGeom>
          <a:solidFill>
            <a:srgbClr val="10B981"/>
          </a:solidFill>
          <a:ln/>
        </p:spPr>
        <p:txBody>
          <a:bodyPr wrap="square" rtlCol="0" anchor="ctr"/>
          <a:lstStyle/>
          <a:p>
            <a:pPr indent="0" marL="0">
              <a:buNone/>
            </a:pPr>
            <a:endParaRPr lang="en-US" dirty="0"/>
          </a:p>
        </p:txBody>
      </p:sp>
      <p:sp>
        <p:nvSpPr>
          <p:cNvPr id="20" name="Text 17"/>
          <p:cNvSpPr/>
          <p:nvPr/>
        </p:nvSpPr>
        <p:spPr>
          <a:xfrm>
            <a:off x="5286375" y="1471613"/>
            <a:ext cx="1385888" cy="108299"/>
          </a:xfrm>
          <a:prstGeom prst="rect">
            <a:avLst/>
          </a:prstGeom>
          <a:noFill/>
          <a:ln/>
        </p:spPr>
        <p:txBody>
          <a:bodyPr wrap="none" lIns="0" tIns="0" rIns="0" bIns="0" rtlCol="0" anchor="t">
            <a:normAutofit/>
          </a:bodyPr>
          <a:lstStyle/>
          <a:p>
            <a:pPr algn="l" indent="0" marL="0">
              <a:lnSpc>
                <a:spcPts val="900"/>
              </a:lnSpc>
              <a:buNone/>
            </a:pPr>
            <a:r>
              <a:rPr lang="en-US" sz="800" dirty="0">
                <a:solidFill>
                  <a:srgbClr val="1A1A1A"/>
                </a:solidFill>
                <a:latin typeface="Courier New" pitchFamily="34" charset="0"/>
                <a:ea typeface="Courier New" pitchFamily="34" charset="-122"/>
                <a:cs typeface="Courier New" pitchFamily="34" charset="-120"/>
              </a:rPr>
              <a:t>graph_builder</a:t>
            </a:r>
            <a:endParaRPr lang="en-US" sz="800" dirty="0"/>
          </a:p>
        </p:txBody>
      </p:sp>
      <p:sp>
        <p:nvSpPr>
          <p:cNvPr id="21" name="Text 18"/>
          <p:cNvSpPr/>
          <p:nvPr/>
        </p:nvSpPr>
        <p:spPr>
          <a:xfrm>
            <a:off x="5286375" y="1607344"/>
            <a:ext cx="1385888" cy="146304"/>
          </a:xfrm>
          <a:prstGeom prst="rect">
            <a:avLst/>
          </a:prstGeom>
          <a:noFill/>
          <a:ln/>
        </p:spPr>
        <p:txBody>
          <a:bodyPr wrap="none" lIns="0" tIns="0" rIns="0" bIns="0" rtlCol="0" anchor="t"/>
          <a:lstStyle/>
          <a:p>
            <a:pPr algn="l" indent="0" marL="0">
              <a:lnSpc>
                <a:spcPts val="788"/>
              </a:lnSpc>
              <a:buNone/>
            </a:pPr>
            <a:r>
              <a:rPr lang="en-US" sz="600" dirty="0">
                <a:solidFill>
                  <a:srgbClr val="6B6B6B"/>
                </a:solidFill>
                <a:latin typeface="Courier New" pitchFamily="34" charset="0"/>
                <a:ea typeface="Courier New" pitchFamily="34" charset="-122"/>
                <a:cs typeface="Courier New" pitchFamily="34" charset="-120"/>
              </a:rPr>
              <a:t>AST walk · files, imports</a:t>
            </a:r>
            <a:endParaRPr lang="en-US" sz="600" dirty="0"/>
          </a:p>
        </p:txBody>
      </p:sp>
      <p:sp>
        <p:nvSpPr>
          <p:cNvPr id="22" name="Text 19"/>
          <p:cNvSpPr/>
          <p:nvPr/>
        </p:nvSpPr>
        <p:spPr>
          <a:xfrm>
            <a:off x="7018734" y="2325291"/>
            <a:ext cx="1457325" cy="421481"/>
          </a:xfrm>
          <a:prstGeom prst="rect">
            <a:avLst/>
          </a:prstGeom>
          <a:solidFill>
            <a:srgbClr val="10B981">
              <a:alpha val="10000"/>
            </a:srgbClr>
          </a:solidFill>
          <a:ln w="7144">
            <a:solidFill>
              <a:srgbClr val="10B981"/>
            </a:solidFill>
            <a:prstDash val="solid"/>
          </a:ln>
          <a:effectLst>
            <a:outerShdw sx="100000" sy="100000" kx="0" ky="0" algn="bl" rotWithShape="0" blurRad="101600" dist="40411" dir="2700000">
              <a:srgbClr val="1A1A1A">
                <a:alpha val="50000"/>
              </a:srgbClr>
            </a:outerShdw>
          </a:effectLst>
        </p:spPr>
        <p:txBody>
          <a:bodyPr wrap="square" rtlCol="0" anchor="ctr"/>
          <a:lstStyle/>
          <a:p>
            <a:pPr indent="0" marL="0">
              <a:buNone/>
            </a:pPr>
            <a:endParaRPr lang="en-US" dirty="0"/>
          </a:p>
        </p:txBody>
      </p:sp>
      <p:sp>
        <p:nvSpPr>
          <p:cNvPr id="23" name="Text 20"/>
          <p:cNvSpPr/>
          <p:nvPr/>
        </p:nvSpPr>
        <p:spPr>
          <a:xfrm>
            <a:off x="7022306" y="2328863"/>
            <a:ext cx="1450181" cy="21431"/>
          </a:xfrm>
          <a:prstGeom prst="rect">
            <a:avLst/>
          </a:prstGeom>
          <a:solidFill>
            <a:srgbClr val="10B981"/>
          </a:solidFill>
          <a:ln/>
        </p:spPr>
        <p:txBody>
          <a:bodyPr wrap="square" rtlCol="0" anchor="ctr"/>
          <a:lstStyle/>
          <a:p>
            <a:pPr indent="0" marL="0">
              <a:buNone/>
            </a:pPr>
            <a:endParaRPr lang="en-US" dirty="0"/>
          </a:p>
        </p:txBody>
      </p:sp>
      <p:sp>
        <p:nvSpPr>
          <p:cNvPr id="24" name="Text 21"/>
          <p:cNvSpPr/>
          <p:nvPr/>
        </p:nvSpPr>
        <p:spPr>
          <a:xfrm>
            <a:off x="7122319" y="2428875"/>
            <a:ext cx="1350169" cy="108299"/>
          </a:xfrm>
          <a:prstGeom prst="rect">
            <a:avLst/>
          </a:prstGeom>
          <a:noFill/>
          <a:ln/>
        </p:spPr>
        <p:txBody>
          <a:bodyPr wrap="none" lIns="0" tIns="0" rIns="0" bIns="0" rtlCol="0" anchor="t">
            <a:normAutofit/>
          </a:bodyPr>
          <a:lstStyle/>
          <a:p>
            <a:pPr algn="l" indent="0" marL="0">
              <a:lnSpc>
                <a:spcPts val="900"/>
              </a:lnSpc>
              <a:buNone/>
            </a:pPr>
            <a:r>
              <a:rPr lang="en-US" sz="800" dirty="0">
                <a:solidFill>
                  <a:srgbClr val="1A1A1A"/>
                </a:solidFill>
                <a:latin typeface="Courier New" pitchFamily="34" charset="0"/>
                <a:ea typeface="Courier New" pitchFamily="34" charset="-122"/>
                <a:cs typeface="Courier New" pitchFamily="34" charset="-120"/>
              </a:rPr>
              <a:t>Knowledge Graph</a:t>
            </a:r>
            <a:endParaRPr lang="en-US" sz="800" dirty="0"/>
          </a:p>
        </p:txBody>
      </p:sp>
      <p:sp>
        <p:nvSpPr>
          <p:cNvPr id="25" name="Text 22"/>
          <p:cNvSpPr/>
          <p:nvPr/>
        </p:nvSpPr>
        <p:spPr>
          <a:xfrm>
            <a:off x="7122319" y="2564606"/>
            <a:ext cx="1350169" cy="146304"/>
          </a:xfrm>
          <a:prstGeom prst="rect">
            <a:avLst/>
          </a:prstGeom>
          <a:noFill/>
          <a:ln/>
        </p:spPr>
        <p:txBody>
          <a:bodyPr wrap="none" lIns="0" tIns="0" rIns="0" bIns="0" rtlCol="0" anchor="t"/>
          <a:lstStyle/>
          <a:p>
            <a:pPr algn="l" indent="0" marL="0">
              <a:lnSpc>
                <a:spcPts val="788"/>
              </a:lnSpc>
              <a:buNone/>
            </a:pPr>
            <a:r>
              <a:rPr lang="en-US" sz="800" dirty="0">
                <a:solidFill>
                  <a:srgbClr val="6B6B6B"/>
                </a:solidFill>
                <a:latin typeface="Courier New" pitchFamily="34" charset="0"/>
                <a:ea typeface="Courier New" pitchFamily="34" charset="-122"/>
                <a:cs typeface="Courier New" pitchFamily="34" charset="-120"/>
              </a:rPr>
              <a:t>nodes · edges · layers</a:t>
            </a:r>
            <a:endParaRPr lang="en-US" sz="800" dirty="0"/>
          </a:p>
        </p:txBody>
      </p:sp>
      <p:sp>
        <p:nvSpPr>
          <p:cNvPr id="26" name="Text 23"/>
          <p:cNvSpPr/>
          <p:nvPr/>
        </p:nvSpPr>
        <p:spPr>
          <a:xfrm>
            <a:off x="4411266" y="3296841"/>
            <a:ext cx="1385888" cy="421481"/>
          </a:xfrm>
          <a:prstGeom prst="rect">
            <a:avLst/>
          </a:prstGeom>
          <a:solidFill>
            <a:srgbClr val="FFFFFF"/>
          </a:solidFill>
          <a:ln w="7144">
            <a:solidFill>
              <a:srgbClr val="1A1A1A"/>
            </a:solidFill>
            <a:prstDash val="solid"/>
          </a:ln>
          <a:effectLst>
            <a:outerShdw sx="100000" sy="100000" kx="0" ky="0" algn="bl" rotWithShape="0" blurRad="101600" dist="40411" dir="2700000">
              <a:srgbClr val="1A1A1A">
                <a:alpha val="50000"/>
              </a:srgbClr>
            </a:outerShdw>
          </a:effectLst>
        </p:spPr>
        <p:txBody>
          <a:bodyPr wrap="square" rtlCol="0" anchor="ctr"/>
          <a:lstStyle/>
          <a:p>
            <a:pPr indent="0" marL="0">
              <a:buNone/>
            </a:pPr>
            <a:endParaRPr lang="en-US" dirty="0"/>
          </a:p>
        </p:txBody>
      </p:sp>
      <p:sp>
        <p:nvSpPr>
          <p:cNvPr id="27" name="Text 24"/>
          <p:cNvSpPr/>
          <p:nvPr/>
        </p:nvSpPr>
        <p:spPr>
          <a:xfrm>
            <a:off x="4414838" y="3300413"/>
            <a:ext cx="1378744" cy="21431"/>
          </a:xfrm>
          <a:prstGeom prst="rect">
            <a:avLst/>
          </a:prstGeom>
          <a:solidFill>
            <a:srgbClr val="D4AF37"/>
          </a:solidFill>
          <a:ln/>
        </p:spPr>
        <p:txBody>
          <a:bodyPr wrap="square" rtlCol="0" anchor="ctr"/>
          <a:lstStyle/>
          <a:p>
            <a:pPr indent="0" marL="0">
              <a:buNone/>
            </a:pPr>
            <a:endParaRPr lang="en-US" dirty="0"/>
          </a:p>
        </p:txBody>
      </p:sp>
      <p:sp>
        <p:nvSpPr>
          <p:cNvPr id="28" name="Text 25"/>
          <p:cNvSpPr/>
          <p:nvPr/>
        </p:nvSpPr>
        <p:spPr>
          <a:xfrm>
            <a:off x="4514850" y="3400425"/>
            <a:ext cx="1278731" cy="108299"/>
          </a:xfrm>
          <a:prstGeom prst="rect">
            <a:avLst/>
          </a:prstGeom>
          <a:noFill/>
          <a:ln/>
        </p:spPr>
        <p:txBody>
          <a:bodyPr wrap="none" lIns="0" tIns="0" rIns="0" bIns="0" rtlCol="0" anchor="t">
            <a:normAutofit/>
          </a:bodyPr>
          <a:lstStyle/>
          <a:p>
            <a:pPr algn="l" indent="0" marL="0">
              <a:lnSpc>
                <a:spcPts val="900"/>
              </a:lnSpc>
              <a:buNone/>
            </a:pPr>
            <a:r>
              <a:rPr lang="en-US" sz="800" dirty="0">
                <a:solidFill>
                  <a:srgbClr val="1A1A1A"/>
                </a:solidFill>
                <a:latin typeface="Courier New" pitchFamily="34" charset="0"/>
                <a:ea typeface="Courier New" pitchFamily="34" charset="-122"/>
                <a:cs typeface="Courier New" pitchFamily="34" charset="-120"/>
              </a:rPr>
              <a:t>key_rotator</a:t>
            </a:r>
            <a:endParaRPr lang="en-US" sz="800" dirty="0"/>
          </a:p>
        </p:txBody>
      </p:sp>
      <p:sp>
        <p:nvSpPr>
          <p:cNvPr id="29" name="Text 26"/>
          <p:cNvSpPr/>
          <p:nvPr/>
        </p:nvSpPr>
        <p:spPr>
          <a:xfrm>
            <a:off x="4514850" y="3536156"/>
            <a:ext cx="1278731" cy="146304"/>
          </a:xfrm>
          <a:prstGeom prst="rect">
            <a:avLst/>
          </a:prstGeom>
          <a:noFill/>
          <a:ln/>
        </p:spPr>
        <p:txBody>
          <a:bodyPr wrap="none" lIns="0" tIns="0" rIns="0" bIns="0" rtlCol="0" anchor="t"/>
          <a:lstStyle/>
          <a:p>
            <a:pPr algn="l" indent="0" marL="0">
              <a:lnSpc>
                <a:spcPts val="788"/>
              </a:lnSpc>
              <a:buNone/>
            </a:pPr>
            <a:r>
              <a:rPr lang="en-US" sz="800" dirty="0">
                <a:solidFill>
                  <a:srgbClr val="6B6B6B"/>
                </a:solidFill>
                <a:latin typeface="Courier New" pitchFamily="34" charset="0"/>
                <a:ea typeface="Courier New" pitchFamily="34" charset="-122"/>
                <a:cs typeface="Courier New" pitchFamily="34" charset="-120"/>
              </a:rPr>
              <a:t>Groq ⇄ NIM failover</a:t>
            </a:r>
            <a:endParaRPr lang="en-US" sz="800" dirty="0"/>
          </a:p>
        </p:txBody>
      </p:sp>
      <p:sp>
        <p:nvSpPr>
          <p:cNvPr id="30" name="Text 27"/>
          <p:cNvSpPr/>
          <p:nvPr/>
        </p:nvSpPr>
        <p:spPr>
          <a:xfrm>
            <a:off x="6732984" y="3296841"/>
            <a:ext cx="1385888" cy="421481"/>
          </a:xfrm>
          <a:prstGeom prst="rect">
            <a:avLst/>
          </a:prstGeom>
          <a:solidFill>
            <a:srgbClr val="FFFFFF"/>
          </a:solidFill>
          <a:ln w="7144">
            <a:solidFill>
              <a:srgbClr val="1A1A1A"/>
            </a:solidFill>
            <a:prstDash val="solid"/>
          </a:ln>
          <a:effectLst>
            <a:outerShdw sx="100000" sy="100000" kx="0" ky="0" algn="bl" rotWithShape="0" blurRad="101600" dist="40411" dir="2700000">
              <a:srgbClr val="1A1A1A">
                <a:alpha val="50000"/>
              </a:srgbClr>
            </a:outerShdw>
          </a:effectLst>
        </p:spPr>
        <p:txBody>
          <a:bodyPr wrap="square" rtlCol="0" anchor="ctr"/>
          <a:lstStyle/>
          <a:p>
            <a:pPr indent="0" marL="0">
              <a:buNone/>
            </a:pPr>
            <a:endParaRPr lang="en-US" dirty="0"/>
          </a:p>
        </p:txBody>
      </p:sp>
      <p:sp>
        <p:nvSpPr>
          <p:cNvPr id="31" name="Text 28"/>
          <p:cNvSpPr/>
          <p:nvPr/>
        </p:nvSpPr>
        <p:spPr>
          <a:xfrm>
            <a:off x="6736556" y="3300413"/>
            <a:ext cx="1378744" cy="21431"/>
          </a:xfrm>
          <a:prstGeom prst="rect">
            <a:avLst/>
          </a:prstGeom>
          <a:solidFill>
            <a:srgbClr val="D4AF37"/>
          </a:solidFill>
          <a:ln/>
        </p:spPr>
        <p:txBody>
          <a:bodyPr wrap="square" rtlCol="0" anchor="ctr"/>
          <a:lstStyle/>
          <a:p>
            <a:pPr indent="0" marL="0">
              <a:buNone/>
            </a:pPr>
            <a:endParaRPr lang="en-US" dirty="0"/>
          </a:p>
        </p:txBody>
      </p:sp>
      <p:sp>
        <p:nvSpPr>
          <p:cNvPr id="32" name="Text 29"/>
          <p:cNvSpPr/>
          <p:nvPr/>
        </p:nvSpPr>
        <p:spPr>
          <a:xfrm>
            <a:off x="6836569" y="3400425"/>
            <a:ext cx="1278731" cy="108299"/>
          </a:xfrm>
          <a:prstGeom prst="rect">
            <a:avLst/>
          </a:prstGeom>
          <a:noFill/>
          <a:ln/>
        </p:spPr>
        <p:txBody>
          <a:bodyPr wrap="none" lIns="0" tIns="0" rIns="0" bIns="0" rtlCol="0" anchor="t">
            <a:normAutofit/>
          </a:bodyPr>
          <a:lstStyle/>
          <a:p>
            <a:pPr algn="l" indent="0" marL="0">
              <a:lnSpc>
                <a:spcPts val="900"/>
              </a:lnSpc>
              <a:buNone/>
            </a:pPr>
            <a:r>
              <a:rPr lang="en-US" sz="800" dirty="0">
                <a:solidFill>
                  <a:srgbClr val="1A1A1A"/>
                </a:solidFill>
                <a:latin typeface="Courier New" pitchFamily="34" charset="0"/>
                <a:ea typeface="Courier New" pitchFamily="34" charset="-122"/>
                <a:cs typeface="Courier New" pitchFamily="34" charset="-120"/>
              </a:rPr>
              <a:t>Groq / NIM</a:t>
            </a:r>
            <a:endParaRPr lang="en-US" sz="800" dirty="0"/>
          </a:p>
        </p:txBody>
      </p:sp>
      <p:sp>
        <p:nvSpPr>
          <p:cNvPr id="33" name="Text 30"/>
          <p:cNvSpPr/>
          <p:nvPr/>
        </p:nvSpPr>
        <p:spPr>
          <a:xfrm>
            <a:off x="6836569" y="3536156"/>
            <a:ext cx="1278731" cy="146304"/>
          </a:xfrm>
          <a:prstGeom prst="rect">
            <a:avLst/>
          </a:prstGeom>
          <a:noFill/>
          <a:ln/>
        </p:spPr>
        <p:txBody>
          <a:bodyPr wrap="none" lIns="0" tIns="0" rIns="0" bIns="0" rtlCol="0" anchor="t"/>
          <a:lstStyle/>
          <a:p>
            <a:pPr algn="l" indent="0" marL="0">
              <a:lnSpc>
                <a:spcPts val="788"/>
              </a:lnSpc>
              <a:buNone/>
            </a:pPr>
            <a:r>
              <a:rPr lang="en-US" sz="800" dirty="0">
                <a:solidFill>
                  <a:srgbClr val="6B6B6B"/>
                </a:solidFill>
                <a:latin typeface="Courier New" pitchFamily="34" charset="0"/>
                <a:ea typeface="Courier New" pitchFamily="34" charset="-122"/>
                <a:cs typeface="Courier New" pitchFamily="34" charset="-120"/>
              </a:rPr>
              <a:t>OpenAI-compatible LLM</a:t>
            </a:r>
            <a:endParaRPr lang="en-US" sz="800" dirty="0"/>
          </a:p>
        </p:txBody>
      </p:sp>
      <p:sp>
        <p:nvSpPr>
          <p:cNvPr id="34" name="Text 31"/>
          <p:cNvSpPr/>
          <p:nvPr/>
        </p:nvSpPr>
        <p:spPr>
          <a:xfrm>
            <a:off x="974117" y="4300538"/>
            <a:ext cx="35719" cy="35719"/>
          </a:xfrm>
          <a:prstGeom prst="rect">
            <a:avLst/>
          </a:prstGeom>
          <a:solidFill>
            <a:srgbClr val="10B981"/>
          </a:solidFill>
          <a:ln/>
        </p:spPr>
        <p:txBody>
          <a:bodyPr wrap="square" rtlCol="0" anchor="ctr"/>
          <a:lstStyle/>
          <a:p>
            <a:pPr indent="0" marL="0">
              <a:buNone/>
            </a:pPr>
            <a:endParaRPr lang="en-US" dirty="0"/>
          </a:p>
        </p:txBody>
      </p:sp>
      <p:sp>
        <p:nvSpPr>
          <p:cNvPr id="35" name="Text 32"/>
          <p:cNvSpPr/>
          <p:nvPr/>
        </p:nvSpPr>
        <p:spPr>
          <a:xfrm>
            <a:off x="1081274" y="4271963"/>
            <a:ext cx="2502514" cy="124040"/>
          </a:xfrm>
          <a:prstGeom prst="rect">
            <a:avLst/>
          </a:prstGeom>
          <a:noFill/>
          <a:ln/>
        </p:spPr>
        <p:txBody>
          <a:bodyPr wrap="none" lIns="0" tIns="0" rIns="0" bIns="0" rtlCol="0" anchor="t"/>
          <a:lstStyle/>
          <a:p>
            <a:pPr algn="l" indent="0" marL="0">
              <a:buNone/>
            </a:pPr>
            <a:r>
              <a:rPr lang="en-US" sz="647" dirty="0">
                <a:solidFill>
                  <a:srgbClr val="6B6B6B"/>
                </a:solidFill>
                <a:latin typeface="Courier New" pitchFamily="34" charset="0"/>
                <a:ea typeface="Courier New" pitchFamily="34" charset="-122"/>
                <a:cs typeface="Courier New" pitchFamily="34" charset="-120"/>
              </a:rPr>
              <a:t>graph_builder — one pass per repo, AST to edges</a:t>
            </a:r>
            <a:endParaRPr lang="en-US" sz="647" dirty="0"/>
          </a:p>
        </p:txBody>
      </p:sp>
      <p:sp>
        <p:nvSpPr>
          <p:cNvPr id="36" name="Text 33"/>
          <p:cNvSpPr/>
          <p:nvPr/>
        </p:nvSpPr>
        <p:spPr>
          <a:xfrm>
            <a:off x="3655591" y="4300538"/>
            <a:ext cx="35719" cy="35719"/>
          </a:xfrm>
          <a:prstGeom prst="rect">
            <a:avLst/>
          </a:prstGeom>
          <a:solidFill>
            <a:srgbClr val="10B981"/>
          </a:solidFill>
          <a:ln/>
        </p:spPr>
        <p:txBody>
          <a:bodyPr wrap="square" rtlCol="0" anchor="ctr"/>
          <a:lstStyle/>
          <a:p>
            <a:pPr indent="0" marL="0">
              <a:buNone/>
            </a:pPr>
            <a:endParaRPr lang="en-US" dirty="0"/>
          </a:p>
        </p:txBody>
      </p:sp>
      <p:sp>
        <p:nvSpPr>
          <p:cNvPr id="37" name="Text 34"/>
          <p:cNvSpPr/>
          <p:nvPr/>
        </p:nvSpPr>
        <p:spPr>
          <a:xfrm>
            <a:off x="3762747" y="4271963"/>
            <a:ext cx="2129771" cy="124040"/>
          </a:xfrm>
          <a:prstGeom prst="rect">
            <a:avLst/>
          </a:prstGeom>
          <a:noFill/>
          <a:ln/>
        </p:spPr>
        <p:txBody>
          <a:bodyPr wrap="none" lIns="0" tIns="0" rIns="0" bIns="0" rtlCol="0" anchor="t"/>
          <a:lstStyle/>
          <a:p>
            <a:pPr algn="l" indent="0" marL="0">
              <a:buNone/>
            </a:pPr>
            <a:r>
              <a:rPr lang="en-US" sz="647" dirty="0">
                <a:solidFill>
                  <a:srgbClr val="6B6B6B"/>
                </a:solidFill>
                <a:latin typeface="Courier New" pitchFamily="34" charset="0"/>
                <a:ea typeface="Courier New" pitchFamily="34" charset="-122"/>
                <a:cs typeface="Courier New" pitchFamily="34" charset="-120"/>
              </a:rPr>
              <a:t>key_rotator — Groq primary, NIM fallback</a:t>
            </a:r>
            <a:endParaRPr lang="en-US" sz="647" dirty="0"/>
          </a:p>
        </p:txBody>
      </p:sp>
      <p:sp>
        <p:nvSpPr>
          <p:cNvPr id="38" name="Text 35"/>
          <p:cNvSpPr/>
          <p:nvPr/>
        </p:nvSpPr>
        <p:spPr>
          <a:xfrm>
            <a:off x="5991932" y="4300538"/>
            <a:ext cx="35719" cy="35719"/>
          </a:xfrm>
          <a:prstGeom prst="rect">
            <a:avLst/>
          </a:prstGeom>
          <a:solidFill>
            <a:srgbClr val="10B981"/>
          </a:solidFill>
          <a:ln/>
        </p:spPr>
        <p:txBody>
          <a:bodyPr wrap="square" rtlCol="0" anchor="ctr"/>
          <a:lstStyle/>
          <a:p>
            <a:pPr indent="0" marL="0">
              <a:buNone/>
            </a:pPr>
            <a:endParaRPr lang="en-US" dirty="0"/>
          </a:p>
        </p:txBody>
      </p:sp>
      <p:sp>
        <p:nvSpPr>
          <p:cNvPr id="39" name="Text 36"/>
          <p:cNvSpPr/>
          <p:nvPr/>
        </p:nvSpPr>
        <p:spPr>
          <a:xfrm>
            <a:off x="6099088" y="4271963"/>
            <a:ext cx="2236338" cy="124040"/>
          </a:xfrm>
          <a:prstGeom prst="rect">
            <a:avLst/>
          </a:prstGeom>
          <a:noFill/>
          <a:ln/>
        </p:spPr>
        <p:txBody>
          <a:bodyPr wrap="none" lIns="0" tIns="0" rIns="0" bIns="0" rtlCol="0" anchor="t"/>
          <a:lstStyle/>
          <a:p>
            <a:pPr algn="l" indent="0" marL="0">
              <a:buNone/>
            </a:pPr>
            <a:r>
              <a:rPr lang="en-US" sz="647" dirty="0">
                <a:solidFill>
                  <a:srgbClr val="6B6B6B"/>
                </a:solidFill>
                <a:latin typeface="Courier New" pitchFamily="34" charset="0"/>
                <a:ea typeface="Courier New" pitchFamily="34" charset="-122"/>
                <a:cs typeface="Courier New" pitchFamily="34" charset="-120"/>
              </a:rPr>
              <a:t>every feature is a query on the same graph</a:t>
            </a:r>
            <a:endParaRPr lang="en-US" sz="647" dirty="0"/>
          </a:p>
        </p:txBody>
      </p:sp>
      <p:sp>
        <p:nvSpPr>
          <p:cNvPr id="40" name="Text 37"/>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450056"/>
            <a:ext cx="790055" cy="119703"/>
          </a:xfrm>
          <a:prstGeom prst="rect">
            <a:avLst/>
          </a:prstGeom>
          <a:noFill/>
          <a:ln/>
        </p:spPr>
        <p:txBody>
          <a:bodyPr wrap="none" lIns="0" tIns="0" rIns="0" bIns="0" rtlCol="0" anchor="t"/>
          <a:lstStyle/>
          <a:p>
            <a:pPr algn="l" indent="0" marL="0">
              <a:buNone/>
            </a:pPr>
            <a:r>
              <a:rPr lang="en-US" sz="800" b="1" spc="87" kern="0" dirty="0">
                <a:solidFill>
                  <a:srgbClr val="10B981"/>
                </a:solidFill>
                <a:latin typeface="Liberation Sans Narrow" pitchFamily="34" charset="0"/>
                <a:ea typeface="Liberation Sans Narrow" pitchFamily="34" charset="-122"/>
                <a:cs typeface="Liberation Sans Narrow" pitchFamily="34" charset="-120"/>
              </a:rPr>
              <a:t>NEW IN 3.0</a:t>
            </a:r>
            <a:endParaRPr lang="en-US" sz="800" dirty="0"/>
          </a:p>
        </p:txBody>
      </p:sp>
      <p:sp>
        <p:nvSpPr>
          <p:cNvPr id="3" name="Text 1"/>
          <p:cNvSpPr/>
          <p:nvPr/>
        </p:nvSpPr>
        <p:spPr>
          <a:xfrm>
            <a:off x="1067433" y="404908"/>
            <a:ext cx="1071786" cy="176022"/>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4" name="Text 2"/>
          <p:cNvSpPr/>
          <p:nvPr/>
        </p:nvSpPr>
        <p:spPr>
          <a:xfrm>
            <a:off x="1067433" y="414338"/>
            <a:ext cx="1071786" cy="229906"/>
          </a:xfrm>
          <a:prstGeom prst="rect">
            <a:avLst/>
          </a:prstGeom>
          <a:noFill/>
          <a:ln/>
        </p:spPr>
        <p:txBody>
          <a:bodyPr wrap="none" lIns="78581" tIns="28575" rIns="78581" bIns="28575" rtlCol="0" anchor="t"/>
          <a:lstStyle/>
          <a:p>
            <a:pPr algn="l" indent="0" marL="0">
              <a:buNone/>
            </a:pPr>
            <a:r>
              <a:rPr lang="en-US" sz="600" dirty="0">
                <a:solidFill>
                  <a:srgbClr val="6B6B6B"/>
                </a:solidFill>
                <a:latin typeface="Liberation Sans Narrow" pitchFamily="34" charset="0"/>
                <a:ea typeface="Liberation Sans Narrow" pitchFamily="34" charset="-122"/>
                <a:cs typeface="Liberation Sans Narrow" pitchFamily="34" charset="-120"/>
              </a:rPr>
              <a:t>5 features · 1 graph</a:t>
            </a:r>
            <a:endParaRPr lang="en-US" sz="600" dirty="0"/>
          </a:p>
        </p:txBody>
      </p:sp>
      <p:sp>
        <p:nvSpPr>
          <p:cNvPr id="5" name="Text 3"/>
          <p:cNvSpPr/>
          <p:nvPr/>
        </p:nvSpPr>
        <p:spPr>
          <a:xfrm>
            <a:off x="400050" y="642938"/>
            <a:ext cx="4004943" cy="314758"/>
          </a:xfrm>
          <a:prstGeom prst="rect">
            <a:avLst/>
          </a:prstGeom>
          <a:noFill/>
          <a:ln/>
        </p:spPr>
        <p:txBody>
          <a:bodyPr wrap="square" lIns="0" tIns="0" rIns="0" bIns="0" rtlCol="0" anchor="t"/>
          <a:lstStyle/>
          <a:p>
            <a:pPr algn="l" indent="0" marL="0">
              <a:lnSpc>
                <a:spcPts val="2295"/>
              </a:lnSpc>
              <a:buNone/>
            </a:pPr>
            <a:r>
              <a:rPr lang="en-US" sz="1913" b="1" spc="-38" kern="0" dirty="0">
                <a:solidFill>
                  <a:srgbClr val="1A1A1A"/>
                </a:solidFill>
                <a:latin typeface="Carlito" pitchFamily="34" charset="0"/>
                <a:ea typeface="Carlito" pitchFamily="34" charset="-122"/>
                <a:cs typeface="Carlito" pitchFamily="34" charset="-120"/>
              </a:rPr>
              <a:t>From Understanding to Building.</a:t>
            </a:r>
            <a:endParaRPr lang="en-US" sz="1913" dirty="0"/>
          </a:p>
        </p:txBody>
      </p:sp>
      <p:sp>
        <p:nvSpPr>
          <p:cNvPr id="6" name="Text 4"/>
          <p:cNvSpPr/>
          <p:nvPr/>
        </p:nvSpPr>
        <p:spPr>
          <a:xfrm>
            <a:off x="400050" y="1014413"/>
            <a:ext cx="2065517" cy="125403"/>
          </a:xfrm>
          <a:prstGeom prst="rect">
            <a:avLst/>
          </a:prstGeom>
          <a:noFill/>
          <a:ln/>
        </p:spPr>
        <p:txBody>
          <a:bodyPr wrap="square" lIns="0" tIns="0" rIns="0" bIns="0" rtlCol="0" anchor="t"/>
          <a:lstStyle/>
          <a:p>
            <a:pPr algn="l" indent="0" marL="0">
              <a:buNone/>
            </a:pPr>
            <a:r>
              <a:rPr lang="en-US" sz="788" dirty="0">
                <a:solidFill>
                  <a:srgbClr val="6B6B6B"/>
                </a:solidFill>
                <a:latin typeface="Carlito" pitchFamily="34" charset="0"/>
                <a:ea typeface="Carlito" pitchFamily="34" charset="-122"/>
                <a:cs typeface="Carlito" pitchFamily="34" charset="-120"/>
              </a:rPr>
              <a:t>v2 read your repo. v3.0 helps you ship to it.</a:t>
            </a:r>
            <a:endParaRPr lang="en-US" sz="788" dirty="0"/>
          </a:p>
        </p:txBody>
      </p:sp>
      <p:sp>
        <p:nvSpPr>
          <p:cNvPr id="7" name="Text 5"/>
          <p:cNvSpPr/>
          <p:nvPr/>
        </p:nvSpPr>
        <p:spPr>
          <a:xfrm>
            <a:off x="403622" y="1760934"/>
            <a:ext cx="1570174" cy="185023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8" name="Text 6"/>
          <p:cNvSpPr/>
          <p:nvPr/>
        </p:nvSpPr>
        <p:spPr>
          <a:xfrm>
            <a:off x="535781" y="1893094"/>
            <a:ext cx="1305855" cy="109728"/>
          </a:xfrm>
          <a:prstGeom prst="rect">
            <a:avLst/>
          </a:prstGeom>
          <a:noFill/>
          <a:ln/>
        </p:spPr>
        <p:txBody>
          <a:bodyPr wrap="none" lIns="0" tIns="0" rIns="0" bIns="0" rtlCol="0" anchor="t"/>
          <a:lstStyle/>
          <a:p>
            <a:pPr algn="l" indent="0" marL="0">
              <a:lnSpc>
                <a:spcPts val="619"/>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01</a:t>
            </a:r>
            <a:endParaRPr lang="en-US" sz="800" dirty="0"/>
          </a:p>
        </p:txBody>
      </p:sp>
      <p:pic>
        <p:nvPicPr>
          <p:cNvPr id="9" name="Image 0" descr="/tmp/h2p-svg-1790773507491-rc1xn8.png">    </p:cNvPr>
          <p:cNvPicPr>
            <a:picLocks noChangeAspect="1"/>
          </p:cNvPicPr>
          <p:nvPr/>
        </p:nvPicPr>
        <p:blipFill>
          <a:blip r:embed="rId1"/>
          <a:stretch>
            <a:fillRect/>
          </a:stretch>
        </p:blipFill>
        <p:spPr>
          <a:xfrm>
            <a:off x="535781" y="2485802"/>
            <a:ext cx="228600" cy="228600"/>
          </a:xfrm>
          <a:prstGeom prst="rect">
            <a:avLst/>
          </a:prstGeom>
        </p:spPr>
      </p:pic>
      <p:sp>
        <p:nvSpPr>
          <p:cNvPr id="10" name="Text 7"/>
          <p:cNvSpPr/>
          <p:nvPr/>
        </p:nvSpPr>
        <p:spPr>
          <a:xfrm>
            <a:off x="535781" y="3199954"/>
            <a:ext cx="1305855" cy="137767"/>
          </a:xfrm>
          <a:prstGeom prst="rect">
            <a:avLst/>
          </a:prstGeom>
          <a:noFill/>
          <a:ln/>
        </p:spPr>
        <p:txBody>
          <a:bodyPr wrap="none" lIns="0" tIns="0" rIns="0" bIns="0" rtlCol="0" anchor="t">
            <a:normAutofit/>
          </a:bodyPr>
          <a:lstStyle/>
          <a:p>
            <a:pPr algn="l" indent="0" marL="0">
              <a:lnSpc>
                <a:spcPts val="1020"/>
              </a:lnSpc>
              <a:buNone/>
            </a:pPr>
            <a:r>
              <a:rPr lang="en-US" sz="816" b="1" dirty="0">
                <a:solidFill>
                  <a:srgbClr val="1A1A1A"/>
                </a:solidFill>
                <a:latin typeface="Carlito" pitchFamily="34" charset="0"/>
                <a:ea typeface="Carlito" pitchFamily="34" charset="-122"/>
                <a:cs typeface="Carlito" pitchFamily="34" charset="-120"/>
              </a:rPr>
              <a:t>PR Bot</a:t>
            </a:r>
            <a:endParaRPr lang="en-US" sz="816" dirty="0"/>
          </a:p>
        </p:txBody>
      </p:sp>
      <p:sp>
        <p:nvSpPr>
          <p:cNvPr id="11" name="Text 8"/>
          <p:cNvSpPr/>
          <p:nvPr/>
        </p:nvSpPr>
        <p:spPr>
          <a:xfrm>
            <a:off x="535781" y="3365153"/>
            <a:ext cx="1305855" cy="113854"/>
          </a:xfrm>
          <a:prstGeom prst="rect">
            <a:avLst/>
          </a:prstGeom>
          <a:noFill/>
          <a:ln/>
        </p:spPr>
        <p:txBody>
          <a:bodyPr wrap="none" lIns="0" tIns="0" rIns="0" bIns="0" rtlCol="0" anchor="t"/>
          <a:lstStyle/>
          <a:p>
            <a:pPr algn="l" indent="0" marL="0">
              <a:lnSpc>
                <a:spcPts val="897"/>
              </a:lnSpc>
              <a:buNone/>
            </a:pPr>
            <a:r>
              <a:rPr lang="en-US" sz="619" dirty="0">
                <a:solidFill>
                  <a:srgbClr val="6B6B6B"/>
                </a:solidFill>
                <a:latin typeface="Carlito" pitchFamily="34" charset="0"/>
                <a:ea typeface="Carlito" pitchFamily="34" charset="-122"/>
                <a:cs typeface="Carlito" pitchFamily="34" charset="-120"/>
              </a:rPr>
              <a:t>impact review on every PR</a:t>
            </a:r>
            <a:endParaRPr lang="en-US" sz="619" dirty="0"/>
          </a:p>
        </p:txBody>
      </p:sp>
      <p:sp>
        <p:nvSpPr>
          <p:cNvPr id="12" name="Text 9"/>
          <p:cNvSpPr/>
          <p:nvPr/>
        </p:nvSpPr>
        <p:spPr>
          <a:xfrm>
            <a:off x="2095240" y="1760934"/>
            <a:ext cx="1570286" cy="185023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13" name="Text 10"/>
          <p:cNvSpPr/>
          <p:nvPr/>
        </p:nvSpPr>
        <p:spPr>
          <a:xfrm>
            <a:off x="2227399" y="1893094"/>
            <a:ext cx="1305967" cy="109728"/>
          </a:xfrm>
          <a:prstGeom prst="rect">
            <a:avLst/>
          </a:prstGeom>
          <a:noFill/>
          <a:ln/>
        </p:spPr>
        <p:txBody>
          <a:bodyPr wrap="none" lIns="0" tIns="0" rIns="0" bIns="0" rtlCol="0" anchor="t"/>
          <a:lstStyle/>
          <a:p>
            <a:pPr algn="l" indent="0" marL="0">
              <a:lnSpc>
                <a:spcPts val="619"/>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02</a:t>
            </a:r>
            <a:endParaRPr lang="en-US" sz="800" dirty="0"/>
          </a:p>
        </p:txBody>
      </p:sp>
      <p:pic>
        <p:nvPicPr>
          <p:cNvPr id="14" name="Image 1" descr="/tmp/h2p-svg-1790773507491-ns79cf.png">    </p:cNvPr>
          <p:cNvPicPr>
            <a:picLocks noChangeAspect="1"/>
          </p:cNvPicPr>
          <p:nvPr/>
        </p:nvPicPr>
        <p:blipFill>
          <a:blip r:embed="rId2"/>
          <a:stretch>
            <a:fillRect/>
          </a:stretch>
        </p:blipFill>
        <p:spPr>
          <a:xfrm>
            <a:off x="2227399" y="2485802"/>
            <a:ext cx="228600" cy="228600"/>
          </a:xfrm>
          <a:prstGeom prst="rect">
            <a:avLst/>
          </a:prstGeom>
        </p:spPr>
      </p:pic>
      <p:sp>
        <p:nvSpPr>
          <p:cNvPr id="15" name="Text 11"/>
          <p:cNvSpPr/>
          <p:nvPr/>
        </p:nvSpPr>
        <p:spPr>
          <a:xfrm>
            <a:off x="2227399" y="3199954"/>
            <a:ext cx="1305967" cy="137767"/>
          </a:xfrm>
          <a:prstGeom prst="rect">
            <a:avLst/>
          </a:prstGeom>
          <a:noFill/>
          <a:ln/>
        </p:spPr>
        <p:txBody>
          <a:bodyPr wrap="none" lIns="0" tIns="0" rIns="0" bIns="0" rtlCol="0" anchor="t">
            <a:normAutofit/>
          </a:bodyPr>
          <a:lstStyle/>
          <a:p>
            <a:pPr algn="l" indent="0" marL="0">
              <a:lnSpc>
                <a:spcPts val="1020"/>
              </a:lnSpc>
              <a:buNone/>
            </a:pPr>
            <a:r>
              <a:rPr lang="en-US" sz="816" b="1" dirty="0">
                <a:solidFill>
                  <a:srgbClr val="1A1A1A"/>
                </a:solidFill>
                <a:latin typeface="Carlito" pitchFamily="34" charset="0"/>
                <a:ea typeface="Carlito" pitchFamily="34" charset="-122"/>
                <a:cs typeface="Carlito" pitchFamily="34" charset="-120"/>
              </a:rPr>
              <a:t>Student Onboarding</a:t>
            </a:r>
            <a:endParaRPr lang="en-US" sz="816" dirty="0"/>
          </a:p>
        </p:txBody>
      </p:sp>
      <p:sp>
        <p:nvSpPr>
          <p:cNvPr id="16" name="Text 12"/>
          <p:cNvSpPr/>
          <p:nvPr/>
        </p:nvSpPr>
        <p:spPr>
          <a:xfrm>
            <a:off x="2227399" y="3365153"/>
            <a:ext cx="1305967" cy="113854"/>
          </a:xfrm>
          <a:prstGeom prst="rect">
            <a:avLst/>
          </a:prstGeom>
          <a:noFill/>
          <a:ln/>
        </p:spPr>
        <p:txBody>
          <a:bodyPr wrap="none" lIns="0" tIns="0" rIns="0" bIns="0" rtlCol="0" anchor="t"/>
          <a:lstStyle/>
          <a:p>
            <a:pPr algn="l" indent="0" marL="0">
              <a:lnSpc>
                <a:spcPts val="897"/>
              </a:lnSpc>
              <a:buNone/>
            </a:pPr>
            <a:r>
              <a:rPr lang="en-US" sz="619" dirty="0">
                <a:solidFill>
                  <a:srgbClr val="6B6B6B"/>
                </a:solidFill>
                <a:latin typeface="Carlito" pitchFamily="34" charset="0"/>
                <a:ea typeface="Carlito" pitchFamily="34" charset="-122"/>
                <a:cs typeface="Carlito" pitchFamily="34" charset="-120"/>
              </a:rPr>
              <a:t>guided path to a first PR</a:t>
            </a:r>
            <a:endParaRPr lang="en-US" sz="619" dirty="0"/>
          </a:p>
        </p:txBody>
      </p:sp>
      <p:sp>
        <p:nvSpPr>
          <p:cNvPr id="17" name="Text 13"/>
          <p:cNvSpPr/>
          <p:nvPr/>
        </p:nvSpPr>
        <p:spPr>
          <a:xfrm>
            <a:off x="3786969" y="1760934"/>
            <a:ext cx="1570174" cy="185023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18" name="Text 14"/>
          <p:cNvSpPr/>
          <p:nvPr/>
        </p:nvSpPr>
        <p:spPr>
          <a:xfrm>
            <a:off x="3919128" y="1893094"/>
            <a:ext cx="1305855" cy="109728"/>
          </a:xfrm>
          <a:prstGeom prst="rect">
            <a:avLst/>
          </a:prstGeom>
          <a:noFill/>
          <a:ln/>
        </p:spPr>
        <p:txBody>
          <a:bodyPr wrap="none" lIns="0" tIns="0" rIns="0" bIns="0" rtlCol="0" anchor="t"/>
          <a:lstStyle/>
          <a:p>
            <a:pPr algn="l" indent="0" marL="0">
              <a:lnSpc>
                <a:spcPts val="619"/>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03</a:t>
            </a:r>
            <a:endParaRPr lang="en-US" sz="800" dirty="0"/>
          </a:p>
        </p:txBody>
      </p:sp>
      <p:pic>
        <p:nvPicPr>
          <p:cNvPr id="19" name="Image 2" descr="/tmp/h2p-svg-1790773507491-fg8j9t.png">    </p:cNvPr>
          <p:cNvPicPr>
            <a:picLocks noChangeAspect="1"/>
          </p:cNvPicPr>
          <p:nvPr/>
        </p:nvPicPr>
        <p:blipFill>
          <a:blip r:embed="rId3"/>
          <a:stretch>
            <a:fillRect/>
          </a:stretch>
        </p:blipFill>
        <p:spPr>
          <a:xfrm>
            <a:off x="3919128" y="2485802"/>
            <a:ext cx="228600" cy="228600"/>
          </a:xfrm>
          <a:prstGeom prst="rect">
            <a:avLst/>
          </a:prstGeom>
        </p:spPr>
      </p:pic>
      <p:sp>
        <p:nvSpPr>
          <p:cNvPr id="20" name="Text 15"/>
          <p:cNvSpPr/>
          <p:nvPr/>
        </p:nvSpPr>
        <p:spPr>
          <a:xfrm>
            <a:off x="3919128" y="3199954"/>
            <a:ext cx="1305855" cy="137767"/>
          </a:xfrm>
          <a:prstGeom prst="rect">
            <a:avLst/>
          </a:prstGeom>
          <a:noFill/>
          <a:ln/>
        </p:spPr>
        <p:txBody>
          <a:bodyPr wrap="none" lIns="0" tIns="0" rIns="0" bIns="0" rtlCol="0" anchor="t">
            <a:normAutofit/>
          </a:bodyPr>
          <a:lstStyle/>
          <a:p>
            <a:pPr algn="l" indent="0" marL="0">
              <a:lnSpc>
                <a:spcPts val="1020"/>
              </a:lnSpc>
              <a:buNone/>
            </a:pPr>
            <a:r>
              <a:rPr lang="en-US" sz="816" b="1" dirty="0">
                <a:solidFill>
                  <a:srgbClr val="1A1A1A"/>
                </a:solidFill>
                <a:latin typeface="Carlito" pitchFamily="34" charset="0"/>
                <a:ea typeface="Carlito" pitchFamily="34" charset="-122"/>
                <a:cs typeface="Carlito" pitchFamily="34" charset="-120"/>
              </a:rPr>
              <a:t>Voice Tours</a:t>
            </a:r>
            <a:endParaRPr lang="en-US" sz="816" dirty="0"/>
          </a:p>
        </p:txBody>
      </p:sp>
      <p:sp>
        <p:nvSpPr>
          <p:cNvPr id="21" name="Text 16"/>
          <p:cNvSpPr/>
          <p:nvPr/>
        </p:nvSpPr>
        <p:spPr>
          <a:xfrm>
            <a:off x="3919128" y="3365153"/>
            <a:ext cx="1384206" cy="113854"/>
          </a:xfrm>
          <a:prstGeom prst="rect">
            <a:avLst/>
          </a:prstGeom>
          <a:noFill/>
          <a:ln/>
        </p:spPr>
        <p:txBody>
          <a:bodyPr wrap="square" lIns="0" tIns="0" rIns="0" bIns="0" rtlCol="0" anchor="t"/>
          <a:lstStyle/>
          <a:p>
            <a:pPr algn="l" indent="0" marL="0">
              <a:lnSpc>
                <a:spcPts val="897"/>
              </a:lnSpc>
              <a:buNone/>
            </a:pPr>
            <a:r>
              <a:rPr lang="en-US" sz="619" dirty="0">
                <a:solidFill>
                  <a:srgbClr val="6B6B6B"/>
                </a:solidFill>
                <a:latin typeface="Carlito" pitchFamily="34" charset="0"/>
                <a:ea typeface="Carlito" pitchFamily="34" charset="-122"/>
                <a:cs typeface="Carlito" pitchFamily="34" charset="-120"/>
              </a:rPr>
              <a:t>narrated graph walkthroughs</a:t>
            </a:r>
            <a:endParaRPr lang="en-US" sz="619" dirty="0"/>
          </a:p>
        </p:txBody>
      </p:sp>
      <p:sp>
        <p:nvSpPr>
          <p:cNvPr id="22" name="Text 17"/>
          <p:cNvSpPr/>
          <p:nvPr/>
        </p:nvSpPr>
        <p:spPr>
          <a:xfrm>
            <a:off x="5478587" y="1760934"/>
            <a:ext cx="1570174" cy="185023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23" name="Text 18"/>
          <p:cNvSpPr/>
          <p:nvPr/>
        </p:nvSpPr>
        <p:spPr>
          <a:xfrm>
            <a:off x="5610746" y="1893094"/>
            <a:ext cx="1305855" cy="109728"/>
          </a:xfrm>
          <a:prstGeom prst="rect">
            <a:avLst/>
          </a:prstGeom>
          <a:noFill/>
          <a:ln/>
        </p:spPr>
        <p:txBody>
          <a:bodyPr wrap="none" lIns="0" tIns="0" rIns="0" bIns="0" rtlCol="0" anchor="t"/>
          <a:lstStyle/>
          <a:p>
            <a:pPr algn="l" indent="0" marL="0">
              <a:lnSpc>
                <a:spcPts val="619"/>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04</a:t>
            </a:r>
            <a:endParaRPr lang="en-US" sz="800" dirty="0"/>
          </a:p>
        </p:txBody>
      </p:sp>
      <p:pic>
        <p:nvPicPr>
          <p:cNvPr id="24" name="Image 3" descr="/tmp/h2p-svg-1790773507491-ikkeww.png">    </p:cNvPr>
          <p:cNvPicPr>
            <a:picLocks noChangeAspect="1"/>
          </p:cNvPicPr>
          <p:nvPr/>
        </p:nvPicPr>
        <p:blipFill>
          <a:blip r:embed="rId4"/>
          <a:stretch>
            <a:fillRect/>
          </a:stretch>
        </p:blipFill>
        <p:spPr>
          <a:xfrm>
            <a:off x="5610746" y="2485802"/>
            <a:ext cx="228600" cy="228600"/>
          </a:xfrm>
          <a:prstGeom prst="rect">
            <a:avLst/>
          </a:prstGeom>
        </p:spPr>
      </p:pic>
      <p:sp>
        <p:nvSpPr>
          <p:cNvPr id="25" name="Text 19"/>
          <p:cNvSpPr/>
          <p:nvPr/>
        </p:nvSpPr>
        <p:spPr>
          <a:xfrm>
            <a:off x="5610746" y="3199954"/>
            <a:ext cx="1305855" cy="137767"/>
          </a:xfrm>
          <a:prstGeom prst="rect">
            <a:avLst/>
          </a:prstGeom>
          <a:noFill/>
          <a:ln/>
        </p:spPr>
        <p:txBody>
          <a:bodyPr wrap="none" lIns="0" tIns="0" rIns="0" bIns="0" rtlCol="0" anchor="t">
            <a:normAutofit/>
          </a:bodyPr>
          <a:lstStyle/>
          <a:p>
            <a:pPr algn="l" indent="0" marL="0">
              <a:lnSpc>
                <a:spcPts val="1020"/>
              </a:lnSpc>
              <a:buNone/>
            </a:pPr>
            <a:r>
              <a:rPr lang="en-US" sz="816" b="1" dirty="0">
                <a:solidFill>
                  <a:srgbClr val="1A1A1A"/>
                </a:solidFill>
                <a:latin typeface="Carlito" pitchFamily="34" charset="0"/>
                <a:ea typeface="Carlito" pitchFamily="34" charset="-122"/>
                <a:cs typeface="Carlito" pitchFamily="34" charset="-120"/>
              </a:rPr>
              <a:t>Security Scan</a:t>
            </a:r>
            <a:endParaRPr lang="en-US" sz="816" dirty="0"/>
          </a:p>
        </p:txBody>
      </p:sp>
      <p:sp>
        <p:nvSpPr>
          <p:cNvPr id="26" name="Text 20"/>
          <p:cNvSpPr/>
          <p:nvPr/>
        </p:nvSpPr>
        <p:spPr>
          <a:xfrm>
            <a:off x="5610746" y="3365153"/>
            <a:ext cx="1384206" cy="113854"/>
          </a:xfrm>
          <a:prstGeom prst="rect">
            <a:avLst/>
          </a:prstGeom>
          <a:noFill/>
          <a:ln/>
        </p:spPr>
        <p:txBody>
          <a:bodyPr wrap="square" lIns="0" tIns="0" rIns="0" bIns="0" rtlCol="0" anchor="t"/>
          <a:lstStyle/>
          <a:p>
            <a:pPr algn="l" indent="0" marL="0">
              <a:lnSpc>
                <a:spcPts val="897"/>
              </a:lnSpc>
              <a:buNone/>
            </a:pPr>
            <a:r>
              <a:rPr lang="en-US" sz="619" dirty="0">
                <a:solidFill>
                  <a:srgbClr val="6B6B6B"/>
                </a:solidFill>
                <a:latin typeface="Carlito" pitchFamily="34" charset="0"/>
                <a:ea typeface="Carlito" pitchFamily="34" charset="-122"/>
                <a:cs typeface="Carlito" pitchFamily="34" charset="-120"/>
              </a:rPr>
              <a:t>secrets · CVEs · breaking bumps</a:t>
            </a:r>
            <a:endParaRPr lang="en-US" sz="619" dirty="0"/>
          </a:p>
        </p:txBody>
      </p:sp>
      <p:sp>
        <p:nvSpPr>
          <p:cNvPr id="27" name="Text 21"/>
          <p:cNvSpPr/>
          <p:nvPr/>
        </p:nvSpPr>
        <p:spPr>
          <a:xfrm>
            <a:off x="7170204" y="1760934"/>
            <a:ext cx="1570174" cy="1850231"/>
          </a:xfrm>
          <a:prstGeom prst="rect">
            <a:avLst/>
          </a:prstGeom>
          <a:solidFill>
            <a:srgbClr val="FFFFFF"/>
          </a:solidFill>
          <a:ln w="7144">
            <a:solidFill>
              <a:srgbClr val="10B981"/>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28" name="Text 22"/>
          <p:cNvSpPr/>
          <p:nvPr/>
        </p:nvSpPr>
        <p:spPr>
          <a:xfrm>
            <a:off x="7302364" y="1893094"/>
            <a:ext cx="988070" cy="109728"/>
          </a:xfrm>
          <a:prstGeom prst="rect">
            <a:avLst/>
          </a:prstGeom>
          <a:noFill/>
          <a:ln/>
        </p:spPr>
        <p:txBody>
          <a:bodyPr wrap="square" lIns="0" tIns="0" rIns="0" bIns="0" rtlCol="0" anchor="t"/>
          <a:lstStyle/>
          <a:p>
            <a:pPr algn="l" indent="0" marL="0">
              <a:lnSpc>
                <a:spcPts val="619"/>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05</a:t>
            </a:r>
            <a:endParaRPr lang="en-US" sz="800" dirty="0"/>
          </a:p>
        </p:txBody>
      </p:sp>
      <p:sp>
        <p:nvSpPr>
          <p:cNvPr id="29" name="Text 23"/>
          <p:cNvSpPr/>
          <p:nvPr/>
        </p:nvSpPr>
        <p:spPr>
          <a:xfrm>
            <a:off x="8292581" y="1886236"/>
            <a:ext cx="327778" cy="128016"/>
          </a:xfrm>
          <a:prstGeom prst="rect">
            <a:avLst/>
          </a:prstGeom>
          <a:solidFill>
            <a:srgbClr val="FFFFFF"/>
          </a:solidFill>
          <a:ln w="7144">
            <a:solidFill>
              <a:srgbClr val="10B981"/>
            </a:solidFill>
            <a:prstDash val="solid"/>
          </a:ln>
        </p:spPr>
        <p:txBody>
          <a:bodyPr wrap="square" rtlCol="0" anchor="ctr"/>
          <a:lstStyle/>
          <a:p>
            <a:pPr indent="0" marL="0">
              <a:buNone/>
            </a:pPr>
            <a:endParaRPr lang="en-US" dirty="0"/>
          </a:p>
        </p:txBody>
      </p:sp>
      <p:sp>
        <p:nvSpPr>
          <p:cNvPr id="30" name="Text 24"/>
          <p:cNvSpPr/>
          <p:nvPr/>
        </p:nvSpPr>
        <p:spPr>
          <a:xfrm>
            <a:off x="8290029" y="1893094"/>
            <a:ext cx="332882" cy="195072"/>
          </a:xfrm>
          <a:prstGeom prst="rect">
            <a:avLst/>
          </a:prstGeom>
          <a:noFill/>
          <a:ln/>
        </p:spPr>
        <p:txBody>
          <a:bodyPr wrap="none" lIns="57150" tIns="14288" rIns="57150" bIns="14288" rtlCol="0" anchor="t"/>
          <a:lstStyle/>
          <a:p>
            <a:pPr algn="l" indent="0" marL="0">
              <a:buNone/>
            </a:pPr>
            <a:r>
              <a:rPr lang="en-US" sz="800" b="1" spc="41" kern="0" dirty="0">
                <a:solidFill>
                  <a:srgbClr val="10B981"/>
                </a:solidFill>
                <a:latin typeface="Courier New" pitchFamily="34" charset="0"/>
                <a:ea typeface="Courier New" pitchFamily="34" charset="-122"/>
                <a:cs typeface="Courier New" pitchFamily="34" charset="-120"/>
              </a:rPr>
              <a:t>HERO</a:t>
            </a:r>
            <a:endParaRPr lang="en-US" sz="800" dirty="0"/>
          </a:p>
        </p:txBody>
      </p:sp>
      <p:pic>
        <p:nvPicPr>
          <p:cNvPr id="31" name="Image 4" descr="/tmp/h2p-svg-1790773507491-kn08db.png">    </p:cNvPr>
          <p:cNvPicPr>
            <a:picLocks noChangeAspect="1"/>
          </p:cNvPicPr>
          <p:nvPr/>
        </p:nvPicPr>
        <p:blipFill>
          <a:blip r:embed="rId5"/>
          <a:stretch>
            <a:fillRect/>
          </a:stretch>
        </p:blipFill>
        <p:spPr>
          <a:xfrm>
            <a:off x="7302364" y="2503661"/>
            <a:ext cx="228600" cy="228600"/>
          </a:xfrm>
          <a:prstGeom prst="rect">
            <a:avLst/>
          </a:prstGeom>
        </p:spPr>
      </p:pic>
      <p:sp>
        <p:nvSpPr>
          <p:cNvPr id="32" name="Text 25"/>
          <p:cNvSpPr/>
          <p:nvPr/>
        </p:nvSpPr>
        <p:spPr>
          <a:xfrm>
            <a:off x="7302364" y="3199954"/>
            <a:ext cx="1305855" cy="137767"/>
          </a:xfrm>
          <a:prstGeom prst="rect">
            <a:avLst/>
          </a:prstGeom>
          <a:noFill/>
          <a:ln/>
        </p:spPr>
        <p:txBody>
          <a:bodyPr wrap="none" lIns="0" tIns="0" rIns="0" bIns="0" rtlCol="0" anchor="t">
            <a:normAutofit/>
          </a:bodyPr>
          <a:lstStyle/>
          <a:p>
            <a:pPr algn="l" indent="0" marL="0">
              <a:lnSpc>
                <a:spcPts val="1020"/>
              </a:lnSpc>
              <a:buNone/>
            </a:pPr>
            <a:r>
              <a:rPr lang="en-US" sz="816" b="1" dirty="0">
                <a:solidFill>
                  <a:srgbClr val="1A1A1A"/>
                </a:solidFill>
                <a:latin typeface="Carlito" pitchFamily="34" charset="0"/>
                <a:ea typeface="Carlito" pitchFamily="34" charset="-122"/>
                <a:cs typeface="Carlito" pitchFamily="34" charset="-120"/>
              </a:rPr>
              <a:t>Scaffold</a:t>
            </a:r>
            <a:endParaRPr lang="en-US" sz="816" dirty="0"/>
          </a:p>
        </p:txBody>
      </p:sp>
      <p:sp>
        <p:nvSpPr>
          <p:cNvPr id="33" name="Text 26"/>
          <p:cNvSpPr/>
          <p:nvPr/>
        </p:nvSpPr>
        <p:spPr>
          <a:xfrm>
            <a:off x="7302364" y="3365153"/>
            <a:ext cx="1305855" cy="113854"/>
          </a:xfrm>
          <a:prstGeom prst="rect">
            <a:avLst/>
          </a:prstGeom>
          <a:noFill/>
          <a:ln/>
        </p:spPr>
        <p:txBody>
          <a:bodyPr wrap="none" lIns="0" tIns="0" rIns="0" bIns="0" rtlCol="0" anchor="t"/>
          <a:lstStyle/>
          <a:p>
            <a:pPr algn="l" indent="0" marL="0">
              <a:lnSpc>
                <a:spcPts val="897"/>
              </a:lnSpc>
              <a:buNone/>
            </a:pPr>
            <a:r>
              <a:rPr lang="en-US" sz="619" dirty="0">
                <a:solidFill>
                  <a:srgbClr val="6B6B6B"/>
                </a:solidFill>
                <a:latin typeface="Liberation Sans Narrow" pitchFamily="34" charset="0"/>
                <a:ea typeface="Liberation Sans Narrow" pitchFamily="34" charset="-122"/>
                <a:cs typeface="Liberation Sans Narrow" pitchFamily="34" charset="-120"/>
              </a:rPr>
              <a:t>repo → starter kit in 5 sec</a:t>
            </a:r>
            <a:endParaRPr lang="en-US" sz="619" dirty="0"/>
          </a:p>
        </p:txBody>
      </p:sp>
      <p:sp>
        <p:nvSpPr>
          <p:cNvPr id="34" name="Text 27"/>
          <p:cNvSpPr/>
          <p:nvPr/>
        </p:nvSpPr>
        <p:spPr>
          <a:xfrm>
            <a:off x="0" y="4486275"/>
            <a:ext cx="8636000" cy="119703"/>
          </a:xfrm>
          <a:prstGeom prst="rect">
            <a:avLst/>
          </a:prstGeom>
          <a:noFill/>
          <a:ln/>
        </p:spPr>
        <p:txBody>
          <a:bodyPr wrap="square" lIns="0" tIns="0" rIns="0" bIns="0" rtlCol="0" anchor="t"/>
          <a:lstStyle/>
          <a:p>
            <a:pPr algn="ctr" indent="0" marL="0">
              <a:buNone/>
            </a:pPr>
            <a:r>
              <a:rPr lang="en-US" sz="800" spc="25" kern="0" dirty="0">
                <a:solidFill>
                  <a:srgbClr val="6B6B6B"/>
                </a:solidFill>
                <a:latin typeface="Courier New" pitchFamily="34" charset="0"/>
                <a:ea typeface="Courier New" pitchFamily="34" charset="-122"/>
                <a:cs typeface="Courier New" pitchFamily="34" charset="-120"/>
              </a:rPr>
              <a:t>each feature → one deep-dive slide next</a:t>
            </a:r>
            <a:endParaRPr lang="en-US" sz="800" dirty="0"/>
          </a:p>
        </p:txBody>
      </p:sp>
      <p:sp>
        <p:nvSpPr>
          <p:cNvPr id="35" name="Text 28"/>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385763"/>
            <a:ext cx="1967614" cy="119703"/>
          </a:xfrm>
          <a:prstGeom prst="rect">
            <a:avLst/>
          </a:prstGeom>
          <a:noFill/>
          <a:ln/>
        </p:spPr>
        <p:txBody>
          <a:bodyPr wrap="none" lIns="0" tIns="0" rIns="0" bIns="0" rtlCol="0" anchor="t"/>
          <a:lstStyle/>
          <a:p>
            <a:pPr algn="l" indent="0" marL="0">
              <a:buNone/>
            </a:pPr>
            <a:r>
              <a:rPr lang="en-US" sz="800" b="1" spc="87" kern="0" dirty="0">
                <a:solidFill>
                  <a:srgbClr val="10B981"/>
                </a:solidFill>
                <a:latin typeface="Liberation Sans Narrow" pitchFamily="34" charset="0"/>
                <a:ea typeface="Liberation Sans Narrow" pitchFamily="34" charset="-122"/>
                <a:cs typeface="Liberation Sans Narrow" pitchFamily="34" charset="-120"/>
              </a:rPr>
              <a:t>NEW IN 3.0 · FEATURE 01 / 05</a:t>
            </a:r>
            <a:endParaRPr lang="en-US" sz="800" dirty="0"/>
          </a:p>
        </p:txBody>
      </p:sp>
      <p:sp>
        <p:nvSpPr>
          <p:cNvPr id="3" name="Text 1"/>
          <p:cNvSpPr/>
          <p:nvPr/>
        </p:nvSpPr>
        <p:spPr>
          <a:xfrm>
            <a:off x="373040" y="528638"/>
            <a:ext cx="893696"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PR Bot.</a:t>
            </a:r>
            <a:endParaRPr lang="en-US" sz="1519" dirty="0"/>
          </a:p>
        </p:txBody>
      </p:sp>
      <p:sp>
        <p:nvSpPr>
          <p:cNvPr id="4" name="Text 2"/>
          <p:cNvSpPr/>
          <p:nvPr/>
        </p:nvSpPr>
        <p:spPr>
          <a:xfrm>
            <a:off x="400050" y="814388"/>
            <a:ext cx="1839725" cy="126609"/>
          </a:xfrm>
          <a:prstGeom prst="rect">
            <a:avLst/>
          </a:prstGeom>
          <a:noFill/>
          <a:ln/>
        </p:spPr>
        <p:txBody>
          <a:bodyPr wrap="square" lIns="0" tIns="0" rIns="0" bIns="0" rtlCol="0" anchor="t"/>
          <a:lstStyle/>
          <a:p>
            <a:pPr algn="l" indent="0" marL="0">
              <a:buNone/>
            </a:pPr>
            <a:r>
              <a:rPr lang="en-US" sz="731" dirty="0">
                <a:solidFill>
                  <a:srgbClr val="6B6B6B"/>
                </a:solidFill>
                <a:latin typeface="Carlito" pitchFamily="34" charset="0"/>
                <a:ea typeface="Carlito" pitchFamily="34" charset="-122"/>
                <a:cs typeface="Carlito" pitchFamily="34" charset="-120"/>
              </a:rPr>
              <a:t>impact review lands on every pull request</a:t>
            </a:r>
            <a:endParaRPr lang="en-US" sz="731" dirty="0"/>
          </a:p>
        </p:txBody>
      </p:sp>
      <p:sp>
        <p:nvSpPr>
          <p:cNvPr id="5" name="Text 3"/>
          <p:cNvSpPr/>
          <p:nvPr/>
        </p:nvSpPr>
        <p:spPr>
          <a:xfrm>
            <a:off x="403622" y="1089422"/>
            <a:ext cx="4564856" cy="359330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6" name="Text 4"/>
          <p:cNvSpPr/>
          <p:nvPr/>
        </p:nvSpPr>
        <p:spPr>
          <a:xfrm>
            <a:off x="407194" y="1092994"/>
            <a:ext cx="4557713" cy="335756"/>
          </a:xfrm>
          <a:prstGeom prst="rect">
            <a:avLst/>
          </a:prstGeom>
          <a:solidFill>
            <a:srgbClr val="FAF7F0"/>
          </a:solidFill>
          <a:ln/>
        </p:spPr>
        <p:txBody>
          <a:bodyPr wrap="square" rtlCol="0" anchor="ctr"/>
          <a:lstStyle/>
          <a:p>
            <a:pPr indent="0" marL="0">
              <a:buNone/>
            </a:pPr>
            <a:endParaRPr lang="en-US" dirty="0"/>
          </a:p>
        </p:txBody>
      </p:sp>
      <p:sp>
        <p:nvSpPr>
          <p:cNvPr id="7" name="Shape 5"/>
          <p:cNvSpPr/>
          <p:nvPr/>
        </p:nvSpPr>
        <p:spPr>
          <a:xfrm>
            <a:off x="407194" y="1425178"/>
            <a:ext cx="4557713" cy="0"/>
          </a:xfrm>
          <a:prstGeom prst="line">
            <a:avLst/>
          </a:prstGeom>
          <a:noFill/>
          <a:ln w="7144">
            <a:solidFill>
              <a:srgbClr val="1A1A1A"/>
            </a:solidFill>
            <a:prstDash val="solid"/>
          </a:ln>
        </p:spPr>
      </p:sp>
      <p:sp>
        <p:nvSpPr>
          <p:cNvPr id="8" name="Text 6"/>
          <p:cNvSpPr/>
          <p:nvPr/>
        </p:nvSpPr>
        <p:spPr>
          <a:xfrm>
            <a:off x="525066" y="1182291"/>
            <a:ext cx="150019" cy="150019"/>
          </a:xfrm>
          <a:prstGeom prst="ellipse">
            <a:avLst/>
          </a:prstGeom>
          <a:solidFill>
            <a:srgbClr val="FFFFFF"/>
          </a:solidFill>
          <a:ln w="7144">
            <a:solidFill>
              <a:srgbClr val="10B981"/>
            </a:solidFill>
            <a:prstDash val="solid"/>
          </a:ln>
        </p:spPr>
        <p:txBody>
          <a:bodyPr wrap="square" rtlCol="0" anchor="ctr"/>
          <a:lstStyle/>
          <a:p>
            <a:pPr indent="0" marL="0">
              <a:buNone/>
            </a:pPr>
            <a:endParaRPr lang="en-US" dirty="0"/>
          </a:p>
        </p:txBody>
      </p:sp>
      <p:sp>
        <p:nvSpPr>
          <p:cNvPr id="9" name="Text 7"/>
          <p:cNvSpPr/>
          <p:nvPr/>
        </p:nvSpPr>
        <p:spPr>
          <a:xfrm>
            <a:off x="521494" y="1178719"/>
            <a:ext cx="192881" cy="157163"/>
          </a:xfrm>
          <a:prstGeom prst="rect">
            <a:avLst/>
          </a:prstGeom>
          <a:noFill/>
          <a:ln/>
        </p:spPr>
        <p:txBody>
          <a:bodyPr wrap="none" lIns="0" tIns="0" rIns="0" bIns="0" rtlCol="0" anchor="ctr"/>
          <a:lstStyle/>
          <a:p>
            <a:pPr algn="ctr" indent="0" marL="0">
              <a:buNone/>
            </a:pPr>
            <a:r>
              <a:rPr lang="en-US" sz="800" b="1" dirty="0">
                <a:solidFill>
                  <a:srgbClr val="10B981"/>
                </a:solidFill>
                <a:latin typeface="Courier New" pitchFamily="34" charset="0"/>
                <a:ea typeface="Courier New" pitchFamily="34" charset="-122"/>
                <a:cs typeface="Courier New" pitchFamily="34" charset="-120"/>
              </a:rPr>
              <a:t>RS</a:t>
            </a:r>
            <a:endParaRPr lang="en-US" sz="800" dirty="0"/>
          </a:p>
        </p:txBody>
      </p:sp>
      <p:sp>
        <p:nvSpPr>
          <p:cNvPr id="10" name="Text 8"/>
          <p:cNvSpPr/>
          <p:nvPr/>
        </p:nvSpPr>
        <p:spPr>
          <a:xfrm>
            <a:off x="750094" y="1207294"/>
            <a:ext cx="837158" cy="122895"/>
          </a:xfrm>
          <a:prstGeom prst="rect">
            <a:avLst/>
          </a:prstGeom>
          <a:noFill/>
          <a:ln/>
        </p:spPr>
        <p:txBody>
          <a:bodyPr wrap="none" lIns="0" tIns="0" rIns="0" bIns="0" rtlCol="0" anchor="t"/>
          <a:lstStyle/>
          <a:p>
            <a:pPr algn="l" indent="0" marL="0">
              <a:buNone/>
            </a:pPr>
            <a:r>
              <a:rPr lang="en-US" sz="800" dirty="0">
                <a:solidFill>
                  <a:srgbClr val="1A1A1A"/>
                </a:solidFill>
                <a:latin typeface="Carlito" pitchFamily="34" charset="0"/>
                <a:ea typeface="Carlito" pitchFamily="34" charset="-122"/>
                <a:cs typeface="Carlito" pitchFamily="34" charset="-120"/>
              </a:rPr>
              <a:t>RepoScope-Bot</a:t>
            </a:r>
            <a:endParaRPr lang="en-US" sz="800" dirty="0"/>
          </a:p>
        </p:txBody>
      </p:sp>
      <p:sp>
        <p:nvSpPr>
          <p:cNvPr id="11" name="Text 9"/>
          <p:cNvSpPr/>
          <p:nvPr/>
        </p:nvSpPr>
        <p:spPr>
          <a:xfrm>
            <a:off x="1491258" y="1193292"/>
            <a:ext cx="244339" cy="128016"/>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2" name="Text 10"/>
          <p:cNvSpPr/>
          <p:nvPr/>
        </p:nvSpPr>
        <p:spPr>
          <a:xfrm>
            <a:off x="1491258" y="1200150"/>
            <a:ext cx="2648434" cy="135731"/>
          </a:xfrm>
          <a:prstGeom prst="rect">
            <a:avLst/>
          </a:prstGeom>
          <a:noFill/>
          <a:ln/>
        </p:spPr>
        <p:txBody>
          <a:bodyPr wrap="none" lIns="57150" tIns="14288" rIns="57150" bIns="14288" rtlCol="0" anchor="t"/>
          <a:lstStyle/>
          <a:p>
            <a:pPr algn="l" indent="0" marL="0">
              <a:buNone/>
            </a:pPr>
            <a:r>
              <a:rPr lang="en-US" sz="800" dirty="0">
                <a:solidFill>
                  <a:srgbClr val="6B6B6B"/>
                </a:solidFill>
                <a:latin typeface="Courier New" pitchFamily="34" charset="0"/>
                <a:ea typeface="Courier New" pitchFamily="34" charset="-122"/>
                <a:cs typeface="Courier New" pitchFamily="34" charset="-120"/>
              </a:rPr>
              <a:t>BOT</a:t>
            </a:r>
            <a:endParaRPr lang="en-US" sz="800" dirty="0"/>
          </a:p>
        </p:txBody>
      </p:sp>
      <p:sp>
        <p:nvSpPr>
          <p:cNvPr id="13" name="Text 11"/>
          <p:cNvSpPr/>
          <p:nvPr/>
        </p:nvSpPr>
        <p:spPr>
          <a:xfrm>
            <a:off x="4175410" y="1214438"/>
            <a:ext cx="675196" cy="121444"/>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commented · now</a:t>
            </a:r>
            <a:endParaRPr lang="en-US" sz="600" dirty="0"/>
          </a:p>
        </p:txBody>
      </p:sp>
      <p:sp>
        <p:nvSpPr>
          <p:cNvPr id="14" name="Text 12"/>
          <p:cNvSpPr/>
          <p:nvPr/>
        </p:nvSpPr>
        <p:spPr>
          <a:xfrm>
            <a:off x="535781" y="1543050"/>
            <a:ext cx="4538853" cy="126609"/>
          </a:xfrm>
          <a:prstGeom prst="rect">
            <a:avLst/>
          </a:prstGeom>
          <a:noFill/>
          <a:ln/>
        </p:spPr>
        <p:txBody>
          <a:bodyPr wrap="square" lIns="0" tIns="0" rIns="0" bIns="0" rtlCol="0" anchor="t"/>
          <a:lstStyle/>
          <a:p>
            <a:pPr algn="l" indent="0" marL="0">
              <a:buNone/>
            </a:pPr>
            <a:r>
              <a:rPr lang="en-US" sz="800" dirty="0">
                <a:solidFill>
                  <a:srgbClr val="1A1A1A"/>
                </a:solidFill>
                <a:latin typeface="Carlito" pitchFamily="34" charset="0"/>
                <a:ea typeface="Carlito" pitchFamily="34" charset="-122"/>
                <a:cs typeface="Carlito" pitchFamily="34" charset="-120"/>
              </a:rPr>
              <a:t>Impact analysis for this PR</a:t>
            </a:r>
            <a:endParaRPr lang="en-US" sz="800" dirty="0"/>
          </a:p>
        </p:txBody>
      </p:sp>
      <p:sp>
        <p:nvSpPr>
          <p:cNvPr id="15" name="Text 13"/>
          <p:cNvSpPr/>
          <p:nvPr/>
        </p:nvSpPr>
        <p:spPr>
          <a:xfrm>
            <a:off x="535781" y="1785938"/>
            <a:ext cx="632127" cy="119703"/>
          </a:xfrm>
          <a:prstGeom prst="rect">
            <a:avLst/>
          </a:prstGeom>
          <a:noFill/>
          <a:ln/>
        </p:spPr>
        <p:txBody>
          <a:bodyPr wrap="none" lIns="0" tIns="0" rIns="0" bIns="0" rtlCol="0" anchor="t"/>
          <a:lstStyle/>
          <a:p>
            <a:pPr algn="l" indent="0" marL="0">
              <a:buNone/>
            </a:pPr>
            <a:r>
              <a:rPr lang="en-US" sz="619" spc="37" kern="0" dirty="0">
                <a:solidFill>
                  <a:srgbClr val="6B6B6B"/>
                </a:solidFill>
                <a:latin typeface="Courier New" pitchFamily="34" charset="0"/>
                <a:ea typeface="Courier New" pitchFamily="34" charset="-122"/>
                <a:cs typeface="Courier New" pitchFamily="34" charset="-120"/>
              </a:rPr>
              <a:t>RISK SCORE</a:t>
            </a:r>
            <a:endParaRPr lang="en-US" sz="619" dirty="0"/>
          </a:p>
        </p:txBody>
      </p:sp>
      <p:sp>
        <p:nvSpPr>
          <p:cNvPr id="16" name="Text 14"/>
          <p:cNvSpPr/>
          <p:nvPr/>
        </p:nvSpPr>
        <p:spPr>
          <a:xfrm>
            <a:off x="1118890" y="1735931"/>
            <a:ext cx="301823" cy="169736"/>
          </a:xfrm>
          <a:prstGeom prst="rect">
            <a:avLst/>
          </a:prstGeom>
          <a:noFill/>
          <a:ln/>
        </p:spPr>
        <p:txBody>
          <a:bodyPr wrap="none" lIns="0" tIns="0" rIns="0" bIns="0" rtlCol="0" anchor="t"/>
          <a:lstStyle/>
          <a:p>
            <a:pPr algn="l" indent="0" marL="0">
              <a:lnSpc>
                <a:spcPts val="1238"/>
              </a:lnSpc>
              <a:buNone/>
            </a:pPr>
            <a:r>
              <a:rPr lang="en-US" sz="1238" b="1" dirty="0">
                <a:solidFill>
                  <a:srgbClr val="A16207"/>
                </a:solidFill>
                <a:latin typeface="Liberation Sans Narrow" pitchFamily="34" charset="0"/>
                <a:ea typeface="Liberation Sans Narrow" pitchFamily="34" charset="-122"/>
                <a:cs typeface="Liberation Sans Narrow" pitchFamily="34" charset="-120"/>
              </a:rPr>
              <a:t>72</a:t>
            </a:r>
            <a:endParaRPr lang="en-US" sz="1238" dirty="0"/>
          </a:p>
        </p:txBody>
      </p:sp>
      <p:sp>
        <p:nvSpPr>
          <p:cNvPr id="17" name="Text 15"/>
          <p:cNvSpPr/>
          <p:nvPr/>
        </p:nvSpPr>
        <p:spPr>
          <a:xfrm>
            <a:off x="1371823" y="1785938"/>
            <a:ext cx="2932175" cy="119703"/>
          </a:xfrm>
          <a:prstGeom prst="rect">
            <a:avLst/>
          </a:prstGeom>
          <a:noFill/>
          <a:ln/>
        </p:spPr>
        <p:txBody>
          <a:bodyPr wrap="none" lIns="0" tIns="0" rIns="0" bIns="0" rtlCol="0" anchor="t"/>
          <a:lstStyle/>
          <a:p>
            <a:pPr algn="l" indent="0" marL="0">
              <a:buNone/>
            </a:pPr>
            <a:r>
              <a:rPr lang="en-US" sz="800" dirty="0">
                <a:solidFill>
                  <a:srgbClr val="6B6B6B"/>
                </a:solidFill>
                <a:latin typeface="Liberation Sans Narrow" pitchFamily="34" charset="0"/>
                <a:ea typeface="Liberation Sans Narrow" pitchFamily="34" charset="-122"/>
                <a:cs typeface="Liberation Sans Narrow" pitchFamily="34" charset="-120"/>
              </a:rPr>
              <a:t>/ 100</a:t>
            </a:r>
            <a:endParaRPr lang="en-US" sz="800" dirty="0"/>
          </a:p>
        </p:txBody>
      </p:sp>
      <p:sp>
        <p:nvSpPr>
          <p:cNvPr id="18" name="Text 16"/>
          <p:cNvSpPr/>
          <p:nvPr/>
        </p:nvSpPr>
        <p:spPr>
          <a:xfrm>
            <a:off x="4316138" y="1756362"/>
            <a:ext cx="540188" cy="152019"/>
          </a:xfrm>
          <a:prstGeom prst="rect">
            <a:avLst/>
          </a:prstGeom>
          <a:solidFill>
            <a:srgbClr val="FFFFFF"/>
          </a:solidFill>
          <a:ln w="7144">
            <a:solidFill>
              <a:srgbClr val="A16207"/>
            </a:solidFill>
            <a:prstDash val="solid"/>
          </a:ln>
        </p:spPr>
        <p:txBody>
          <a:bodyPr wrap="square" rtlCol="0" anchor="ctr"/>
          <a:lstStyle/>
          <a:p>
            <a:pPr indent="0" marL="0">
              <a:buNone/>
            </a:pPr>
            <a:endParaRPr lang="en-US" dirty="0"/>
          </a:p>
        </p:txBody>
      </p:sp>
      <p:sp>
        <p:nvSpPr>
          <p:cNvPr id="19" name="Text 17"/>
          <p:cNvSpPr/>
          <p:nvPr/>
        </p:nvSpPr>
        <p:spPr>
          <a:xfrm>
            <a:off x="4336145" y="1764506"/>
            <a:ext cx="500174" cy="208483"/>
          </a:xfrm>
          <a:prstGeom prst="rect">
            <a:avLst/>
          </a:prstGeom>
          <a:noFill/>
          <a:ln/>
        </p:spPr>
        <p:txBody>
          <a:bodyPr wrap="none" lIns="71438" tIns="21431" rIns="71438" bIns="21431" rtlCol="0" anchor="t"/>
          <a:lstStyle/>
          <a:p>
            <a:pPr algn="l" indent="0" marL="0">
              <a:buNone/>
            </a:pPr>
            <a:r>
              <a:rPr lang="en-US" sz="600" b="1" dirty="0">
                <a:solidFill>
                  <a:srgbClr val="A16207"/>
                </a:solidFill>
                <a:latin typeface="Courier New" pitchFamily="34" charset="0"/>
                <a:ea typeface="Courier New" pitchFamily="34" charset="-122"/>
                <a:cs typeface="Courier New" pitchFamily="34" charset="-120"/>
              </a:rPr>
              <a:t>MODERATE</a:t>
            </a:r>
            <a:endParaRPr lang="en-US" sz="600" dirty="0"/>
          </a:p>
        </p:txBody>
      </p:sp>
      <p:sp>
        <p:nvSpPr>
          <p:cNvPr id="20" name="Text 18"/>
          <p:cNvSpPr/>
          <p:nvPr/>
        </p:nvSpPr>
        <p:spPr>
          <a:xfrm>
            <a:off x="535781" y="2014538"/>
            <a:ext cx="4429125" cy="94012"/>
          </a:xfrm>
          <a:prstGeom prst="rect">
            <a:avLst/>
          </a:prstGeom>
          <a:noFill/>
          <a:ln/>
        </p:spPr>
        <p:txBody>
          <a:bodyPr wrap="none" lIns="0" tIns="0" rIns="0" bIns="0" rtlCol="0" anchor="t">
            <a:normAutofit/>
          </a:bodyPr>
          <a:lstStyle/>
          <a:p>
            <a:pPr algn="l" indent="0" marL="0">
              <a:buNone/>
            </a:pPr>
            <a:r>
              <a:rPr lang="en-US" sz="800" spc="64" kern="0" dirty="0">
                <a:solidFill>
                  <a:srgbClr val="6B6B6B"/>
                </a:solidFill>
                <a:latin typeface="Courier New" pitchFamily="34" charset="0"/>
                <a:ea typeface="Courier New" pitchFamily="34" charset="-122"/>
                <a:cs typeface="Courier New" pitchFamily="34" charset="-120"/>
              </a:rPr>
              <a:t>IMPACTED FILES</a:t>
            </a:r>
            <a:endParaRPr lang="en-US" sz="800" dirty="0"/>
          </a:p>
        </p:txBody>
      </p:sp>
      <p:sp>
        <p:nvSpPr>
          <p:cNvPr id="21" name="Shape 19"/>
          <p:cNvSpPr/>
          <p:nvPr/>
        </p:nvSpPr>
        <p:spPr>
          <a:xfrm>
            <a:off x="535781" y="2339578"/>
            <a:ext cx="4300538" cy="0"/>
          </a:xfrm>
          <a:prstGeom prst="line">
            <a:avLst/>
          </a:prstGeom>
          <a:noFill/>
          <a:ln w="7144">
            <a:solidFill>
              <a:srgbClr val="1A1A1A"/>
            </a:solidFill>
            <a:prstDash val="solid"/>
          </a:ln>
        </p:spPr>
      </p:sp>
      <p:sp>
        <p:nvSpPr>
          <p:cNvPr id="22" name="Text 20"/>
          <p:cNvSpPr/>
          <p:nvPr/>
        </p:nvSpPr>
        <p:spPr>
          <a:xfrm>
            <a:off x="550069" y="2193131"/>
            <a:ext cx="3964670" cy="91440"/>
          </a:xfrm>
          <a:prstGeom prst="rect">
            <a:avLst/>
          </a:prstGeom>
          <a:noFill/>
          <a:ln/>
        </p:spPr>
        <p:txBody>
          <a:bodyPr wrap="none" lIns="0" tIns="0" rIns="0" bIns="0" rtlCol="0" anchor="t"/>
          <a:lstStyle/>
          <a:p>
            <a:pPr algn="l" indent="0" marL="0">
              <a:buNone/>
            </a:pPr>
            <a:r>
              <a:rPr lang="en-US" sz="800" dirty="0">
                <a:solidFill>
                  <a:srgbClr val="1A1A1A"/>
                </a:solidFill>
                <a:latin typeface="Courier New" pitchFamily="34" charset="0"/>
                <a:ea typeface="Courier New" pitchFamily="34" charset="-122"/>
                <a:cs typeface="Courier New" pitchFamily="34" charset="-120"/>
              </a:rPr>
              <a:t>services/auth.py</a:t>
            </a:r>
            <a:endParaRPr lang="en-US" sz="800" dirty="0"/>
          </a:p>
        </p:txBody>
      </p:sp>
      <p:sp>
        <p:nvSpPr>
          <p:cNvPr id="23" name="Text 21"/>
          <p:cNvSpPr/>
          <p:nvPr/>
        </p:nvSpPr>
        <p:spPr>
          <a:xfrm>
            <a:off x="4520834" y="2193131"/>
            <a:ext cx="309390" cy="91440"/>
          </a:xfrm>
          <a:prstGeom prst="rect">
            <a:avLst/>
          </a:prstGeom>
          <a:noFill/>
          <a:ln/>
        </p:spPr>
        <p:txBody>
          <a:bodyPr wrap="none" lIns="0" tIns="0" rIns="0" bIns="0" rtlCol="0" anchor="t"/>
          <a:lstStyle/>
          <a:p>
            <a:pPr algn="l" indent="0" marL="0">
              <a:buNone/>
            </a:pPr>
            <a:r>
              <a:rPr lang="en-US" sz="619" b="1" dirty="0">
                <a:solidFill>
                  <a:srgbClr val="10B981"/>
                </a:solidFill>
                <a:latin typeface="Liberation Sans Narrow" pitchFamily="34" charset="0"/>
                <a:ea typeface="Liberation Sans Narrow" pitchFamily="34" charset="-122"/>
                <a:cs typeface="Liberation Sans Narrow" pitchFamily="34" charset="-120"/>
              </a:rPr>
              <a:t>+12</a:t>
            </a:r>
            <a:pPr algn="l" indent="0" marL="0">
              <a:buNone/>
            </a:pPr>
            <a:r>
              <a:rPr lang="en-US" sz="619" dirty="0">
                <a:solidFill>
                  <a:srgbClr val="1A1A1A"/>
                </a:solidFill>
                <a:latin typeface="Courier New" pitchFamily="34" charset="0"/>
                <a:ea typeface="Courier New" pitchFamily="34" charset="-122"/>
                <a:cs typeface="Courier New" pitchFamily="34" charset="-120"/>
              </a:rPr>
              <a:t> </a:t>
            </a:r>
            <a:pPr algn="l" indent="0" marL="0">
              <a:buNone/>
            </a:pPr>
            <a:r>
              <a:rPr lang="en-US" sz="619" b="1" dirty="0">
                <a:solidFill>
                  <a:srgbClr val="C62828"/>
                </a:solidFill>
                <a:latin typeface="Courier New" pitchFamily="34" charset="0"/>
                <a:ea typeface="Courier New" pitchFamily="34" charset="-122"/>
                <a:cs typeface="Courier New" pitchFamily="34" charset="-120"/>
              </a:rPr>
              <a:t>−4</a:t>
            </a:r>
            <a:endParaRPr lang="en-US" sz="619" dirty="0"/>
          </a:p>
        </p:txBody>
      </p:sp>
      <p:sp>
        <p:nvSpPr>
          <p:cNvPr id="24" name="Shape 22"/>
          <p:cNvSpPr/>
          <p:nvPr/>
        </p:nvSpPr>
        <p:spPr>
          <a:xfrm>
            <a:off x="535781" y="2546747"/>
            <a:ext cx="4300538" cy="0"/>
          </a:xfrm>
          <a:prstGeom prst="line">
            <a:avLst/>
          </a:prstGeom>
          <a:noFill/>
          <a:ln w="7144">
            <a:solidFill>
              <a:srgbClr val="1A1A1A"/>
            </a:solidFill>
            <a:prstDash val="solid"/>
          </a:ln>
        </p:spPr>
      </p:sp>
      <p:sp>
        <p:nvSpPr>
          <p:cNvPr id="25" name="Text 23"/>
          <p:cNvSpPr/>
          <p:nvPr/>
        </p:nvSpPr>
        <p:spPr>
          <a:xfrm>
            <a:off x="550069" y="2400300"/>
            <a:ext cx="4011885" cy="91440"/>
          </a:xfrm>
          <a:prstGeom prst="rect">
            <a:avLst/>
          </a:prstGeom>
          <a:noFill/>
          <a:ln/>
        </p:spPr>
        <p:txBody>
          <a:bodyPr wrap="none" lIns="0" tIns="0" rIns="0" bIns="0" rtlCol="0" anchor="t"/>
          <a:lstStyle/>
          <a:p>
            <a:pPr algn="l" indent="0" marL="0">
              <a:buNone/>
            </a:pPr>
            <a:r>
              <a:rPr lang="en-US" sz="800" dirty="0">
                <a:solidFill>
                  <a:srgbClr val="1A1A1A"/>
                </a:solidFill>
                <a:latin typeface="Courier New" pitchFamily="34" charset="0"/>
                <a:ea typeface="Courier New" pitchFamily="34" charset="-122"/>
                <a:cs typeface="Courier New" pitchFamily="34" charset="-120"/>
              </a:rPr>
              <a:t>routes/api.py</a:t>
            </a:r>
            <a:endParaRPr lang="en-US" sz="800" dirty="0"/>
          </a:p>
        </p:txBody>
      </p:sp>
      <p:sp>
        <p:nvSpPr>
          <p:cNvPr id="26" name="Text 24"/>
          <p:cNvSpPr/>
          <p:nvPr/>
        </p:nvSpPr>
        <p:spPr>
          <a:xfrm>
            <a:off x="4573186" y="2400300"/>
            <a:ext cx="251900" cy="91440"/>
          </a:xfrm>
          <a:prstGeom prst="rect">
            <a:avLst/>
          </a:prstGeom>
          <a:noFill/>
          <a:ln/>
        </p:spPr>
        <p:txBody>
          <a:bodyPr wrap="none" lIns="0" tIns="0" rIns="0" bIns="0" rtlCol="0" anchor="t"/>
          <a:lstStyle/>
          <a:p>
            <a:pPr algn="l" indent="0" marL="0">
              <a:buNone/>
            </a:pPr>
            <a:r>
              <a:rPr lang="en-US" sz="619" b="1" dirty="0">
                <a:solidFill>
                  <a:srgbClr val="10B981"/>
                </a:solidFill>
                <a:latin typeface="Liberation Sans Narrow" pitchFamily="34" charset="0"/>
                <a:ea typeface="Liberation Sans Narrow" pitchFamily="34" charset="-122"/>
                <a:cs typeface="Liberation Sans Narrow" pitchFamily="34" charset="-120"/>
              </a:rPr>
              <a:t>+8</a:t>
            </a:r>
            <a:pPr algn="l" indent="0" marL="0">
              <a:buNone/>
            </a:pPr>
            <a:r>
              <a:rPr lang="en-US" sz="619" dirty="0">
                <a:solidFill>
                  <a:srgbClr val="1A1A1A"/>
                </a:solidFill>
                <a:latin typeface="Courier New" pitchFamily="34" charset="0"/>
                <a:ea typeface="Courier New" pitchFamily="34" charset="-122"/>
                <a:cs typeface="Courier New" pitchFamily="34" charset="-120"/>
              </a:rPr>
              <a:t> </a:t>
            </a:r>
            <a:pPr algn="l" indent="0" marL="0">
              <a:buNone/>
            </a:pPr>
            <a:r>
              <a:rPr lang="en-US" sz="619" b="1" dirty="0">
                <a:solidFill>
                  <a:srgbClr val="C62828"/>
                </a:solidFill>
                <a:latin typeface="Courier New" pitchFamily="34" charset="0"/>
                <a:ea typeface="Courier New" pitchFamily="34" charset="-122"/>
                <a:cs typeface="Courier New" pitchFamily="34" charset="-120"/>
              </a:rPr>
              <a:t>−2</a:t>
            </a:r>
            <a:endParaRPr lang="en-US" sz="619" dirty="0"/>
          </a:p>
        </p:txBody>
      </p:sp>
      <p:sp>
        <p:nvSpPr>
          <p:cNvPr id="27" name="Text 25"/>
          <p:cNvSpPr/>
          <p:nvPr/>
        </p:nvSpPr>
        <p:spPr>
          <a:xfrm>
            <a:off x="550069" y="2607469"/>
            <a:ext cx="3964670" cy="119703"/>
          </a:xfrm>
          <a:prstGeom prst="rect">
            <a:avLst/>
          </a:prstGeom>
          <a:noFill/>
          <a:ln/>
        </p:spPr>
        <p:txBody>
          <a:bodyPr wrap="none" lIns="0" tIns="0" rIns="0" bIns="0" rtlCol="0" anchor="t"/>
          <a:lstStyle/>
          <a:p>
            <a:pPr algn="l" indent="0" marL="0">
              <a:buNone/>
            </a:pPr>
            <a:r>
              <a:rPr lang="en-US" sz="800" dirty="0">
                <a:solidFill>
                  <a:srgbClr val="1A1A1A"/>
                </a:solidFill>
                <a:latin typeface="Courier New" pitchFamily="34" charset="0"/>
                <a:ea typeface="Courier New" pitchFamily="34" charset="-122"/>
                <a:cs typeface="Courier New" pitchFamily="34" charset="-120"/>
              </a:rPr>
              <a:t>tests/test_auth.py</a:t>
            </a:r>
            <a:endParaRPr lang="en-US" sz="800" dirty="0"/>
          </a:p>
        </p:txBody>
      </p:sp>
      <p:sp>
        <p:nvSpPr>
          <p:cNvPr id="28" name="Text 26"/>
          <p:cNvSpPr/>
          <p:nvPr/>
        </p:nvSpPr>
        <p:spPr>
          <a:xfrm>
            <a:off x="4529026" y="2607469"/>
            <a:ext cx="418998" cy="119703"/>
          </a:xfrm>
          <a:prstGeom prst="rect">
            <a:avLst/>
          </a:prstGeom>
          <a:noFill/>
          <a:ln/>
        </p:spPr>
        <p:txBody>
          <a:bodyPr wrap="none" lIns="0" tIns="0" rIns="0" bIns="0" rtlCol="0" anchor="t"/>
          <a:lstStyle/>
          <a:p>
            <a:pPr algn="l" indent="0" marL="0">
              <a:buNone/>
            </a:pPr>
            <a:r>
              <a:rPr lang="en-US" sz="800" b="1" dirty="0">
                <a:solidFill>
                  <a:srgbClr val="10B981"/>
                </a:solidFill>
                <a:latin typeface="Liberation Sans Narrow" pitchFamily="34" charset="0"/>
                <a:ea typeface="Liberation Sans Narrow" pitchFamily="34" charset="-122"/>
                <a:cs typeface="Liberation Sans Narrow" pitchFamily="34" charset="-120"/>
              </a:rPr>
              <a:t>+21</a:t>
            </a:r>
            <a:pPr algn="l" indent="0" marL="0">
              <a:buNone/>
            </a:pPr>
            <a:r>
              <a:rPr lang="en-US" sz="800" dirty="0">
                <a:solidFill>
                  <a:srgbClr val="1A1A1A"/>
                </a:solidFill>
                <a:latin typeface="Courier New" pitchFamily="34" charset="0"/>
                <a:ea typeface="Courier New" pitchFamily="34" charset="-122"/>
                <a:cs typeface="Courier New" pitchFamily="34" charset="-120"/>
              </a:rPr>
              <a:t> </a:t>
            </a:r>
            <a:pPr algn="l" indent="0" marL="0">
              <a:buNone/>
            </a:pPr>
            <a:r>
              <a:rPr lang="en-US" sz="800" b="1" dirty="0">
                <a:solidFill>
                  <a:srgbClr val="C62828"/>
                </a:solidFill>
                <a:latin typeface="Courier New" pitchFamily="34" charset="0"/>
                <a:ea typeface="Courier New" pitchFamily="34" charset="-122"/>
                <a:cs typeface="Courier New" pitchFamily="34" charset="-120"/>
              </a:rPr>
              <a:t>−0</a:t>
            </a:r>
            <a:endParaRPr lang="en-US" sz="800" dirty="0"/>
          </a:p>
        </p:txBody>
      </p:sp>
      <p:sp>
        <p:nvSpPr>
          <p:cNvPr id="29" name="Text 27"/>
          <p:cNvSpPr/>
          <p:nvPr/>
        </p:nvSpPr>
        <p:spPr>
          <a:xfrm>
            <a:off x="539353" y="2868216"/>
            <a:ext cx="4293394" cy="1693069"/>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30" name="Shape 28"/>
          <p:cNvSpPr/>
          <p:nvPr/>
        </p:nvSpPr>
        <p:spPr>
          <a:xfrm>
            <a:off x="542925" y="3025378"/>
            <a:ext cx="4286250" cy="0"/>
          </a:xfrm>
          <a:prstGeom prst="line">
            <a:avLst/>
          </a:prstGeom>
          <a:noFill/>
          <a:ln w="7144">
            <a:solidFill>
              <a:srgbClr val="1A1A1A"/>
            </a:solidFill>
            <a:prstDash val="solid"/>
          </a:ln>
        </p:spPr>
      </p:sp>
      <p:sp>
        <p:nvSpPr>
          <p:cNvPr id="31" name="Text 29"/>
          <p:cNvSpPr/>
          <p:nvPr/>
        </p:nvSpPr>
        <p:spPr>
          <a:xfrm>
            <a:off x="614363" y="2907506"/>
            <a:ext cx="3640299" cy="91440"/>
          </a:xfrm>
          <a:prstGeom prst="rect">
            <a:avLst/>
          </a:prstGeom>
          <a:noFill/>
          <a:ln/>
        </p:spPr>
        <p:txBody>
          <a:bodyPr wrap="square" lIns="0" tIns="0" rIns="0" bIns="0" rtlCol="0" anchor="t"/>
          <a:lstStyle/>
          <a:p>
            <a:pPr algn="l" indent="0" marL="0">
              <a:buNone/>
            </a:pPr>
            <a:r>
              <a:rPr lang="en-US" sz="800" dirty="0">
                <a:solidFill>
                  <a:srgbClr val="6B6B6B"/>
                </a:solidFill>
                <a:latin typeface="Courier New" pitchFamily="34" charset="0"/>
                <a:ea typeface="Courier New" pitchFamily="34" charset="-122"/>
                <a:cs typeface="Courier New" pitchFamily="34" charset="-120"/>
              </a:rPr>
              <a:t>impact.png</a:t>
            </a:r>
            <a:endParaRPr lang="en-US" sz="800" dirty="0"/>
          </a:p>
        </p:txBody>
      </p:sp>
      <p:sp>
        <p:nvSpPr>
          <p:cNvPr id="32" name="Text 30"/>
          <p:cNvSpPr/>
          <p:nvPr/>
        </p:nvSpPr>
        <p:spPr>
          <a:xfrm>
            <a:off x="4230260" y="2907506"/>
            <a:ext cx="566166" cy="91440"/>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blast radius</a:t>
            </a:r>
            <a:endParaRPr lang="en-US" sz="600" dirty="0"/>
          </a:p>
        </p:txBody>
      </p:sp>
      <p:pic>
        <p:nvPicPr>
          <p:cNvPr id="33" name="Image 0" descr="/tmp/h2p-svg-1790773507520-ujswzp.png">    </p:cNvPr>
          <p:cNvPicPr>
            <a:picLocks noChangeAspect="1"/>
          </p:cNvPicPr>
          <p:nvPr/>
        </p:nvPicPr>
        <p:blipFill>
          <a:blip r:embed="rId1"/>
          <a:stretch>
            <a:fillRect/>
          </a:stretch>
        </p:blipFill>
        <p:spPr>
          <a:xfrm>
            <a:off x="542925" y="3028950"/>
            <a:ext cx="4271963" cy="1457325"/>
          </a:xfrm>
          <a:prstGeom prst="rect">
            <a:avLst/>
          </a:prstGeom>
        </p:spPr>
      </p:pic>
      <p:sp>
        <p:nvSpPr>
          <p:cNvPr id="34" name="Text 31"/>
          <p:cNvSpPr/>
          <p:nvPr/>
        </p:nvSpPr>
        <p:spPr>
          <a:xfrm>
            <a:off x="689372" y="3596878"/>
            <a:ext cx="921544" cy="321469"/>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35" name="Text 32"/>
          <p:cNvSpPr/>
          <p:nvPr/>
        </p:nvSpPr>
        <p:spPr>
          <a:xfrm>
            <a:off x="692944" y="3600450"/>
            <a:ext cx="914400" cy="21431"/>
          </a:xfrm>
          <a:prstGeom prst="rect">
            <a:avLst/>
          </a:prstGeom>
          <a:solidFill>
            <a:srgbClr val="D4AF37"/>
          </a:solidFill>
          <a:ln/>
        </p:spPr>
        <p:txBody>
          <a:bodyPr wrap="square" rtlCol="0" anchor="ctr"/>
          <a:lstStyle/>
          <a:p>
            <a:pPr indent="0" marL="0">
              <a:buNone/>
            </a:pPr>
            <a:endParaRPr lang="en-US" dirty="0"/>
          </a:p>
        </p:txBody>
      </p:sp>
      <p:sp>
        <p:nvSpPr>
          <p:cNvPr id="36" name="Text 33"/>
          <p:cNvSpPr/>
          <p:nvPr/>
        </p:nvSpPr>
        <p:spPr>
          <a:xfrm>
            <a:off x="750094" y="3643313"/>
            <a:ext cx="857250" cy="91440"/>
          </a:xfrm>
          <a:prstGeom prst="rect">
            <a:avLst/>
          </a:prstGeom>
          <a:noFill/>
          <a:ln/>
        </p:spPr>
        <p:txBody>
          <a:bodyPr wrap="none" lIns="0" tIns="0" rIns="0" bIns="0" rtlCol="0" anchor="t">
            <a:normAutofit/>
          </a:bodyPr>
          <a:lstStyle/>
          <a:p>
            <a:pPr algn="l" indent="0" marL="0">
              <a:lnSpc>
                <a:spcPts val="738"/>
              </a:lnSpc>
              <a:buNone/>
            </a:pPr>
            <a:r>
              <a:rPr lang="en-US" sz="600" dirty="0">
                <a:solidFill>
                  <a:srgbClr val="1A1A1A"/>
                </a:solidFill>
                <a:latin typeface="Courier New" pitchFamily="34" charset="0"/>
                <a:ea typeface="Courier New" pitchFamily="34" charset="-122"/>
                <a:cs typeface="Courier New" pitchFamily="34" charset="-120"/>
              </a:rPr>
              <a:t>services/auth.py</a:t>
            </a:r>
            <a:endParaRPr lang="en-US" sz="600" dirty="0"/>
          </a:p>
        </p:txBody>
      </p:sp>
      <p:sp>
        <p:nvSpPr>
          <p:cNvPr id="37" name="Text 34"/>
          <p:cNvSpPr/>
          <p:nvPr/>
        </p:nvSpPr>
        <p:spPr>
          <a:xfrm>
            <a:off x="750094" y="3751362"/>
            <a:ext cx="857250" cy="131565"/>
          </a:xfrm>
          <a:prstGeom prst="rect">
            <a:avLst/>
          </a:prstGeom>
          <a:noFill/>
          <a:ln/>
        </p:spPr>
        <p:txBody>
          <a:bodyPr wrap="none" lIns="0" tIns="0" rIns="0" bIns="0" rtlCol="0" anchor="t"/>
          <a:lstStyle/>
          <a:p>
            <a:pPr algn="l" indent="0" marL="0">
              <a:lnSpc>
                <a:spcPts val="641"/>
              </a:lnSpc>
              <a:buNone/>
            </a:pPr>
            <a:r>
              <a:rPr lang="en-US" sz="800" dirty="0">
                <a:solidFill>
                  <a:srgbClr val="6B6B6B"/>
                </a:solidFill>
                <a:latin typeface="Courier New" pitchFamily="34" charset="0"/>
                <a:ea typeface="Courier New" pitchFamily="34" charset="-122"/>
                <a:cs typeface="Courier New" pitchFamily="34" charset="-120"/>
              </a:rPr>
              <a:t>changed</a:t>
            </a:r>
            <a:endParaRPr lang="en-US" sz="800" dirty="0"/>
          </a:p>
        </p:txBody>
      </p:sp>
      <p:sp>
        <p:nvSpPr>
          <p:cNvPr id="38" name="Text 35"/>
          <p:cNvSpPr/>
          <p:nvPr/>
        </p:nvSpPr>
        <p:spPr>
          <a:xfrm>
            <a:off x="3746897" y="3103959"/>
            <a:ext cx="864394" cy="278606"/>
          </a:xfrm>
          <a:prstGeom prst="rect">
            <a:avLst/>
          </a:prstGeom>
          <a:solidFill>
            <a:srgbClr val="FFFFFF"/>
          </a:solidFill>
          <a:ln w="7144">
            <a:solidFill>
              <a:srgbClr val="C62828"/>
            </a:solidFill>
            <a:prstDash val="solid"/>
          </a:ln>
          <a:effectLst>
            <a:outerShdw sx="100000" sy="100000" kx="0" ky="0" algn="bl" rotWithShape="0" blurRad="101600" dist="26941" dir="2700000">
              <a:srgbClr val="C62828">
                <a:alpha val="50000"/>
              </a:srgbClr>
            </a:outerShdw>
          </a:effectLst>
        </p:spPr>
        <p:txBody>
          <a:bodyPr wrap="square" rtlCol="0" anchor="ctr"/>
          <a:lstStyle/>
          <a:p>
            <a:pPr indent="0" marL="0">
              <a:buNone/>
            </a:pPr>
            <a:endParaRPr lang="en-US" dirty="0"/>
          </a:p>
        </p:txBody>
      </p:sp>
      <p:sp>
        <p:nvSpPr>
          <p:cNvPr id="39" name="Text 36"/>
          <p:cNvSpPr/>
          <p:nvPr/>
        </p:nvSpPr>
        <p:spPr>
          <a:xfrm>
            <a:off x="3807619" y="3143250"/>
            <a:ext cx="800100" cy="91440"/>
          </a:xfrm>
          <a:prstGeom prst="rect">
            <a:avLst/>
          </a:prstGeom>
          <a:noFill/>
          <a:ln/>
        </p:spPr>
        <p:txBody>
          <a:bodyPr wrap="none" lIns="0" tIns="0" rIns="0" bIns="0" rtlCol="0" anchor="t">
            <a:normAutofit/>
          </a:bodyPr>
          <a:lstStyle/>
          <a:p>
            <a:pPr algn="l" indent="0" marL="0">
              <a:lnSpc>
                <a:spcPts val="738"/>
              </a:lnSpc>
              <a:buNone/>
            </a:pPr>
            <a:r>
              <a:rPr lang="en-US" sz="800" dirty="0">
                <a:solidFill>
                  <a:srgbClr val="1A1A1A"/>
                </a:solidFill>
                <a:latin typeface="Courier New" pitchFamily="34" charset="0"/>
                <a:ea typeface="Courier New" pitchFamily="34" charset="-122"/>
                <a:cs typeface="Courier New" pitchFamily="34" charset="-120"/>
              </a:rPr>
              <a:t>routes/api.py</a:t>
            </a:r>
            <a:endParaRPr lang="en-US" sz="800" dirty="0"/>
          </a:p>
        </p:txBody>
      </p:sp>
      <p:sp>
        <p:nvSpPr>
          <p:cNvPr id="40" name="Text 37"/>
          <p:cNvSpPr/>
          <p:nvPr/>
        </p:nvSpPr>
        <p:spPr>
          <a:xfrm>
            <a:off x="3807619" y="3251299"/>
            <a:ext cx="800100" cy="127695"/>
          </a:xfrm>
          <a:prstGeom prst="rect">
            <a:avLst/>
          </a:prstGeom>
          <a:noFill/>
          <a:ln/>
        </p:spPr>
        <p:txBody>
          <a:bodyPr wrap="none" lIns="0" tIns="0" rIns="0" bIns="0" rtlCol="0" anchor="t"/>
          <a:lstStyle/>
          <a:p>
            <a:pPr algn="l" indent="0" marL="0">
              <a:lnSpc>
                <a:spcPts val="641"/>
              </a:lnSpc>
              <a:buNone/>
            </a:pPr>
            <a:r>
              <a:rPr lang="en-US" sz="800" dirty="0">
                <a:solidFill>
                  <a:srgbClr val="6B6B6B"/>
                </a:solidFill>
                <a:latin typeface="Courier New" pitchFamily="34" charset="0"/>
                <a:ea typeface="Courier New" pitchFamily="34" charset="-122"/>
                <a:cs typeface="Courier New" pitchFamily="34" charset="-120"/>
              </a:rPr>
              <a:t>impacted</a:t>
            </a:r>
            <a:endParaRPr lang="en-US" sz="800" dirty="0"/>
          </a:p>
        </p:txBody>
      </p:sp>
      <p:sp>
        <p:nvSpPr>
          <p:cNvPr id="41" name="Text 38"/>
          <p:cNvSpPr/>
          <p:nvPr/>
        </p:nvSpPr>
        <p:spPr>
          <a:xfrm>
            <a:off x="3746897" y="3618309"/>
            <a:ext cx="978694" cy="278606"/>
          </a:xfrm>
          <a:prstGeom prst="rect">
            <a:avLst/>
          </a:prstGeom>
          <a:solidFill>
            <a:srgbClr val="FFFFFF"/>
          </a:solidFill>
          <a:ln w="7144">
            <a:solidFill>
              <a:srgbClr val="C62828"/>
            </a:solidFill>
            <a:prstDash val="solid"/>
          </a:ln>
          <a:effectLst>
            <a:outerShdw sx="100000" sy="100000" kx="0" ky="0" algn="bl" rotWithShape="0" blurRad="101600" dist="26941" dir="2700000">
              <a:srgbClr val="C62828">
                <a:alpha val="50000"/>
              </a:srgbClr>
            </a:outerShdw>
          </a:effectLst>
        </p:spPr>
        <p:txBody>
          <a:bodyPr wrap="square" rtlCol="0" anchor="ctr"/>
          <a:lstStyle/>
          <a:p>
            <a:pPr indent="0" marL="0">
              <a:buNone/>
            </a:pPr>
            <a:endParaRPr lang="en-US" dirty="0"/>
          </a:p>
        </p:txBody>
      </p:sp>
      <p:sp>
        <p:nvSpPr>
          <p:cNvPr id="42" name="Text 39"/>
          <p:cNvSpPr/>
          <p:nvPr/>
        </p:nvSpPr>
        <p:spPr>
          <a:xfrm>
            <a:off x="3807619" y="3657600"/>
            <a:ext cx="914400" cy="91440"/>
          </a:xfrm>
          <a:prstGeom prst="rect">
            <a:avLst/>
          </a:prstGeom>
          <a:noFill/>
          <a:ln/>
        </p:spPr>
        <p:txBody>
          <a:bodyPr wrap="none" lIns="0" tIns="0" rIns="0" bIns="0" rtlCol="0" anchor="t">
            <a:normAutofit/>
          </a:bodyPr>
          <a:lstStyle/>
          <a:p>
            <a:pPr algn="l" indent="0" marL="0">
              <a:lnSpc>
                <a:spcPts val="738"/>
              </a:lnSpc>
              <a:buNone/>
            </a:pPr>
            <a:r>
              <a:rPr lang="en-US" sz="600" dirty="0">
                <a:solidFill>
                  <a:srgbClr val="1A1A1A"/>
                </a:solidFill>
                <a:latin typeface="Courier New" pitchFamily="34" charset="0"/>
                <a:ea typeface="Courier New" pitchFamily="34" charset="-122"/>
                <a:cs typeface="Courier New" pitchFamily="34" charset="-120"/>
              </a:rPr>
              <a:t>tests/test_auth.py</a:t>
            </a:r>
            <a:endParaRPr lang="en-US" sz="600" dirty="0"/>
          </a:p>
        </p:txBody>
      </p:sp>
      <p:sp>
        <p:nvSpPr>
          <p:cNvPr id="43" name="Text 40"/>
          <p:cNvSpPr/>
          <p:nvPr/>
        </p:nvSpPr>
        <p:spPr>
          <a:xfrm>
            <a:off x="3807619" y="3765649"/>
            <a:ext cx="914400" cy="127695"/>
          </a:xfrm>
          <a:prstGeom prst="rect">
            <a:avLst/>
          </a:prstGeom>
          <a:noFill/>
          <a:ln/>
        </p:spPr>
        <p:txBody>
          <a:bodyPr wrap="none" lIns="0" tIns="0" rIns="0" bIns="0" rtlCol="0" anchor="t"/>
          <a:lstStyle/>
          <a:p>
            <a:pPr algn="l" indent="0" marL="0">
              <a:lnSpc>
                <a:spcPts val="641"/>
              </a:lnSpc>
              <a:buNone/>
            </a:pPr>
            <a:r>
              <a:rPr lang="en-US" sz="800" dirty="0">
                <a:solidFill>
                  <a:srgbClr val="6B6B6B"/>
                </a:solidFill>
                <a:latin typeface="Courier New" pitchFamily="34" charset="0"/>
                <a:ea typeface="Courier New" pitchFamily="34" charset="-122"/>
                <a:cs typeface="Courier New" pitchFamily="34" charset="-120"/>
              </a:rPr>
              <a:t>impacted</a:t>
            </a:r>
            <a:endParaRPr lang="en-US" sz="800" dirty="0"/>
          </a:p>
        </p:txBody>
      </p:sp>
      <p:sp>
        <p:nvSpPr>
          <p:cNvPr id="44" name="Text 41"/>
          <p:cNvSpPr/>
          <p:nvPr/>
        </p:nvSpPr>
        <p:spPr>
          <a:xfrm>
            <a:off x="3661172" y="4132659"/>
            <a:ext cx="864394" cy="278606"/>
          </a:xfrm>
          <a:prstGeom prst="rect">
            <a:avLst/>
          </a:prstGeom>
          <a:solidFill>
            <a:srgbClr val="FFFFFF"/>
          </a:solidFill>
          <a:ln w="7144">
            <a:solidFill>
              <a:srgbClr val="C62828"/>
            </a:solidFill>
            <a:prstDash val="solid"/>
          </a:ln>
          <a:effectLst>
            <a:outerShdw sx="100000" sy="100000" kx="0" ky="0" algn="bl" rotWithShape="0" blurRad="101600" dist="26941" dir="2700000">
              <a:srgbClr val="C62828">
                <a:alpha val="50000"/>
              </a:srgbClr>
            </a:outerShdw>
          </a:effectLst>
        </p:spPr>
        <p:txBody>
          <a:bodyPr wrap="square" rtlCol="0" anchor="ctr"/>
          <a:lstStyle/>
          <a:p>
            <a:pPr indent="0" marL="0">
              <a:buNone/>
            </a:pPr>
            <a:endParaRPr lang="en-US" dirty="0"/>
          </a:p>
        </p:txBody>
      </p:sp>
      <p:sp>
        <p:nvSpPr>
          <p:cNvPr id="45" name="Text 42"/>
          <p:cNvSpPr/>
          <p:nvPr/>
        </p:nvSpPr>
        <p:spPr>
          <a:xfrm>
            <a:off x="3721894" y="4171950"/>
            <a:ext cx="800100" cy="91440"/>
          </a:xfrm>
          <a:prstGeom prst="rect">
            <a:avLst/>
          </a:prstGeom>
          <a:noFill/>
          <a:ln/>
        </p:spPr>
        <p:txBody>
          <a:bodyPr wrap="none" lIns="0" tIns="0" rIns="0" bIns="0" rtlCol="0" anchor="t">
            <a:normAutofit/>
          </a:bodyPr>
          <a:lstStyle/>
          <a:p>
            <a:pPr algn="l" indent="0" marL="0">
              <a:lnSpc>
                <a:spcPts val="738"/>
              </a:lnSpc>
              <a:buNone/>
            </a:pPr>
            <a:r>
              <a:rPr lang="en-US" sz="800" dirty="0">
                <a:solidFill>
                  <a:srgbClr val="1A1A1A"/>
                </a:solidFill>
                <a:latin typeface="Courier New" pitchFamily="34" charset="0"/>
                <a:ea typeface="Courier New" pitchFamily="34" charset="-122"/>
                <a:cs typeface="Courier New" pitchFamily="34" charset="-120"/>
              </a:rPr>
              <a:t>db/session.py</a:t>
            </a:r>
            <a:endParaRPr lang="en-US" sz="800" dirty="0"/>
          </a:p>
        </p:txBody>
      </p:sp>
      <p:sp>
        <p:nvSpPr>
          <p:cNvPr id="46" name="Text 43"/>
          <p:cNvSpPr/>
          <p:nvPr/>
        </p:nvSpPr>
        <p:spPr>
          <a:xfrm>
            <a:off x="3721894" y="4279999"/>
            <a:ext cx="800100" cy="127695"/>
          </a:xfrm>
          <a:prstGeom prst="rect">
            <a:avLst/>
          </a:prstGeom>
          <a:noFill/>
          <a:ln/>
        </p:spPr>
        <p:txBody>
          <a:bodyPr wrap="none" lIns="0" tIns="0" rIns="0" bIns="0" rtlCol="0" anchor="t"/>
          <a:lstStyle/>
          <a:p>
            <a:pPr algn="l" indent="0" marL="0">
              <a:lnSpc>
                <a:spcPts val="641"/>
              </a:lnSpc>
              <a:buNone/>
            </a:pPr>
            <a:r>
              <a:rPr lang="en-US" sz="800" dirty="0">
                <a:solidFill>
                  <a:srgbClr val="6B6B6B"/>
                </a:solidFill>
                <a:latin typeface="Courier New" pitchFamily="34" charset="0"/>
                <a:ea typeface="Courier New" pitchFamily="34" charset="-122"/>
                <a:cs typeface="Courier New" pitchFamily="34" charset="-120"/>
              </a:rPr>
              <a:t>impacted</a:t>
            </a:r>
            <a:endParaRPr lang="en-US" sz="800" dirty="0"/>
          </a:p>
        </p:txBody>
      </p:sp>
      <p:sp>
        <p:nvSpPr>
          <p:cNvPr id="47" name="Text 44"/>
          <p:cNvSpPr/>
          <p:nvPr/>
        </p:nvSpPr>
        <p:spPr>
          <a:xfrm>
            <a:off x="5143500" y="1135856"/>
            <a:ext cx="35719" cy="35719"/>
          </a:xfrm>
          <a:prstGeom prst="rect">
            <a:avLst/>
          </a:prstGeom>
          <a:solidFill>
            <a:srgbClr val="10B981"/>
          </a:solidFill>
          <a:ln/>
        </p:spPr>
        <p:txBody>
          <a:bodyPr wrap="square" rtlCol="0" anchor="ctr"/>
          <a:lstStyle/>
          <a:p>
            <a:pPr indent="0" marL="0">
              <a:buNone/>
            </a:pPr>
            <a:endParaRPr lang="en-US" dirty="0"/>
          </a:p>
        </p:txBody>
      </p:sp>
      <p:sp>
        <p:nvSpPr>
          <p:cNvPr id="48" name="Text 45"/>
          <p:cNvSpPr/>
          <p:nvPr/>
        </p:nvSpPr>
        <p:spPr>
          <a:xfrm>
            <a:off x="5264944" y="1085850"/>
            <a:ext cx="2231646" cy="126493"/>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A1A1A"/>
                </a:solidFill>
                <a:latin typeface="Courier New" pitchFamily="34" charset="0"/>
                <a:ea typeface="Courier New" pitchFamily="34" charset="-122"/>
                <a:cs typeface="Courier New" pitchFamily="34" charset="-120"/>
              </a:rPr>
              <a:t>POST /api/impact/pr</a:t>
            </a:r>
            <a:endParaRPr lang="en-US" sz="800" dirty="0"/>
          </a:p>
        </p:txBody>
      </p:sp>
      <p:sp>
        <p:nvSpPr>
          <p:cNvPr id="49" name="Text 46"/>
          <p:cNvSpPr/>
          <p:nvPr/>
        </p:nvSpPr>
        <p:spPr>
          <a:xfrm>
            <a:off x="5264944" y="1239775"/>
            <a:ext cx="2125377"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one endpoint — fired automatically on every opened PR</a:t>
            </a:r>
            <a:endParaRPr lang="en-US" sz="675" dirty="0"/>
          </a:p>
        </p:txBody>
      </p:sp>
      <p:sp>
        <p:nvSpPr>
          <p:cNvPr id="50" name="Text 47"/>
          <p:cNvSpPr/>
          <p:nvPr/>
        </p:nvSpPr>
        <p:spPr>
          <a:xfrm>
            <a:off x="5143500" y="1923008"/>
            <a:ext cx="35719" cy="35719"/>
          </a:xfrm>
          <a:prstGeom prst="rect">
            <a:avLst/>
          </a:prstGeom>
          <a:solidFill>
            <a:srgbClr val="10B981"/>
          </a:solidFill>
          <a:ln/>
        </p:spPr>
        <p:txBody>
          <a:bodyPr wrap="square" rtlCol="0" anchor="ctr"/>
          <a:lstStyle/>
          <a:p>
            <a:pPr indent="0" marL="0">
              <a:buNone/>
            </a:pPr>
            <a:endParaRPr lang="en-US" dirty="0"/>
          </a:p>
        </p:txBody>
      </p:sp>
      <p:sp>
        <p:nvSpPr>
          <p:cNvPr id="51" name="Text 48"/>
          <p:cNvSpPr/>
          <p:nvPr/>
        </p:nvSpPr>
        <p:spPr>
          <a:xfrm>
            <a:off x="5264944" y="1873002"/>
            <a:ext cx="2877313" cy="133637"/>
          </a:xfrm>
          <a:prstGeom prst="rect">
            <a:avLst/>
          </a:prstGeom>
          <a:noFill/>
          <a:ln/>
        </p:spPr>
        <p:txBody>
          <a:bodyPr wrap="none" lIns="0" tIns="0" rIns="0" bIns="0" rtlCol="0" anchor="t">
            <a:normAutofit/>
          </a:bodyPr>
          <a:lstStyle/>
          <a:p>
            <a:pPr algn="l" indent="0" marL="0">
              <a:lnSpc>
                <a:spcPts val="1025"/>
              </a:lnSpc>
              <a:buNone/>
            </a:pPr>
            <a:r>
              <a:rPr lang="en-US" sz="800" dirty="0">
                <a:solidFill>
                  <a:srgbClr val="1A1A1A"/>
                </a:solidFill>
                <a:latin typeface="Carlito" pitchFamily="34" charset="0"/>
                <a:ea typeface="Carlito" pitchFamily="34" charset="-122"/>
                <a:cs typeface="Carlito" pitchFamily="34" charset="-120"/>
              </a:rPr>
              <a:t>Reuses </a:t>
            </a:r>
            <a:pPr algn="l" indent="0" marL="0">
              <a:lnSpc>
                <a:spcPts val="1025"/>
              </a:lnSpc>
              <a:buNone/>
            </a:pPr>
            <a:r>
              <a:rPr lang="en-US" sz="800" dirty="0">
                <a:solidFill>
                  <a:srgbClr val="1A1A1A"/>
                </a:solidFill>
                <a:latin typeface="Courier New" pitchFamily="34" charset="0"/>
                <a:ea typeface="Courier New" pitchFamily="34" charset="-122"/>
                <a:cs typeface="Courier New" pitchFamily="34" charset="-120"/>
              </a:rPr>
              <a:t>impact_analyzer</a:t>
            </a:r>
            <a:endParaRPr lang="en-US" sz="800" dirty="0"/>
          </a:p>
        </p:txBody>
      </p:sp>
      <p:sp>
        <p:nvSpPr>
          <p:cNvPr id="52" name="Text 49"/>
          <p:cNvSpPr/>
          <p:nvPr/>
        </p:nvSpPr>
        <p:spPr>
          <a:xfrm>
            <a:off x="5264944" y="2034071"/>
            <a:ext cx="2740298"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the exact engine behind the in-app impact panel — zero duplicated logic</a:t>
            </a:r>
            <a:endParaRPr lang="en-US" sz="675" dirty="0"/>
          </a:p>
        </p:txBody>
      </p:sp>
      <p:sp>
        <p:nvSpPr>
          <p:cNvPr id="53" name="Text 50"/>
          <p:cNvSpPr/>
          <p:nvPr/>
        </p:nvSpPr>
        <p:spPr>
          <a:xfrm>
            <a:off x="5143500" y="2717416"/>
            <a:ext cx="35719" cy="35719"/>
          </a:xfrm>
          <a:prstGeom prst="rect">
            <a:avLst/>
          </a:prstGeom>
          <a:solidFill>
            <a:srgbClr val="10B981"/>
          </a:solidFill>
          <a:ln/>
        </p:spPr>
        <p:txBody>
          <a:bodyPr wrap="square" rtlCol="0" anchor="ctr"/>
          <a:lstStyle/>
          <a:p>
            <a:pPr indent="0" marL="0">
              <a:buNone/>
            </a:pPr>
            <a:endParaRPr lang="en-US" dirty="0"/>
          </a:p>
        </p:txBody>
      </p:sp>
      <p:sp>
        <p:nvSpPr>
          <p:cNvPr id="54" name="Text 51"/>
          <p:cNvSpPr/>
          <p:nvPr/>
        </p:nvSpPr>
        <p:spPr>
          <a:xfrm>
            <a:off x="5264944" y="2667409"/>
            <a:ext cx="2099512" cy="126493"/>
          </a:xfrm>
          <a:prstGeom prst="rect">
            <a:avLst/>
          </a:prstGeom>
          <a:noFill/>
          <a:ln/>
        </p:spPr>
        <p:txBody>
          <a:bodyPr wrap="square" lIns="0" tIns="0" rIns="0" bIns="0" rtlCol="0" anchor="t">
            <a:normAutofit/>
          </a:bodyPr>
          <a:lstStyle/>
          <a:p>
            <a:pPr algn="l" indent="0" marL="0">
              <a:lnSpc>
                <a:spcPts val="987"/>
              </a:lnSpc>
              <a:buNone/>
            </a:pPr>
            <a:r>
              <a:rPr lang="en-US" sz="800" dirty="0">
                <a:solidFill>
                  <a:srgbClr val="1A1A1A"/>
                </a:solidFill>
                <a:latin typeface="Courier New" pitchFamily="34" charset="0"/>
                <a:ea typeface="Courier New" pitchFamily="34" charset="-122"/>
                <a:cs typeface="Courier New" pitchFamily="34" charset="-120"/>
              </a:rPr>
              <a:t>.github/workflows/pr-impact.yml</a:t>
            </a:r>
            <a:endParaRPr lang="en-US" sz="800" dirty="0"/>
          </a:p>
        </p:txBody>
      </p:sp>
      <p:sp>
        <p:nvSpPr>
          <p:cNvPr id="55" name="Text 52"/>
          <p:cNvSpPr/>
          <p:nvPr/>
        </p:nvSpPr>
        <p:spPr>
          <a:xfrm>
            <a:off x="5264944" y="2821335"/>
            <a:ext cx="2099512"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a GitHub Action workflow — install, comment, done</a:t>
            </a:r>
            <a:endParaRPr lang="en-US" sz="675" dirty="0"/>
          </a:p>
        </p:txBody>
      </p:sp>
      <p:sp>
        <p:nvSpPr>
          <p:cNvPr id="56" name="Text 53"/>
          <p:cNvSpPr/>
          <p:nvPr/>
        </p:nvSpPr>
        <p:spPr>
          <a:xfrm>
            <a:off x="5143500" y="3504567"/>
            <a:ext cx="35719" cy="35719"/>
          </a:xfrm>
          <a:prstGeom prst="rect">
            <a:avLst/>
          </a:prstGeom>
          <a:solidFill>
            <a:srgbClr val="10B981"/>
          </a:solidFill>
          <a:ln/>
        </p:spPr>
        <p:txBody>
          <a:bodyPr wrap="square" rtlCol="0" anchor="ctr"/>
          <a:lstStyle/>
          <a:p>
            <a:pPr indent="0" marL="0">
              <a:buNone/>
            </a:pPr>
            <a:endParaRPr lang="en-US" dirty="0"/>
          </a:p>
        </p:txBody>
      </p:sp>
      <p:sp>
        <p:nvSpPr>
          <p:cNvPr id="57" name="Text 54"/>
          <p:cNvSpPr/>
          <p:nvPr/>
        </p:nvSpPr>
        <p:spPr>
          <a:xfrm>
            <a:off x="5264944" y="3454561"/>
            <a:ext cx="2578099" cy="131293"/>
          </a:xfrm>
          <a:prstGeom prst="rect">
            <a:avLst/>
          </a:prstGeom>
          <a:noFill/>
          <a:ln/>
        </p:spPr>
        <p:txBody>
          <a:bodyPr wrap="square" lIns="0" tIns="0" rIns="0" bIns="0" rtlCol="0" anchor="t">
            <a:normAutofit/>
          </a:bodyPr>
          <a:lstStyle/>
          <a:p>
            <a:pPr algn="l" indent="0" marL="0">
              <a:lnSpc>
                <a:spcPts val="1025"/>
              </a:lnSpc>
              <a:buNone/>
            </a:pPr>
            <a:r>
              <a:rPr lang="en-US" sz="800" dirty="0">
                <a:solidFill>
                  <a:srgbClr val="1A1A1A"/>
                </a:solidFill>
                <a:latin typeface="Carlito" pitchFamily="34" charset="0"/>
                <a:ea typeface="Carlito" pitchFamily="34" charset="-122"/>
                <a:cs typeface="Carlito" pitchFamily="34" charset="-120"/>
              </a:rPr>
              <a:t>Impact panel preview button</a:t>
            </a:r>
            <a:endParaRPr lang="en-US" sz="800" dirty="0"/>
          </a:p>
        </p:txBody>
      </p:sp>
      <p:sp>
        <p:nvSpPr>
          <p:cNvPr id="58" name="Text 55"/>
          <p:cNvSpPr/>
          <p:nvPr/>
        </p:nvSpPr>
        <p:spPr>
          <a:xfrm>
            <a:off x="5264944" y="3613286"/>
            <a:ext cx="2387129"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one click from the comment jumps into the full interactive panel</a:t>
            </a:r>
            <a:endParaRPr lang="en-US" sz="675" dirty="0"/>
          </a:p>
        </p:txBody>
      </p:sp>
      <p:sp>
        <p:nvSpPr>
          <p:cNvPr id="59" name="Text 56"/>
          <p:cNvSpPr/>
          <p:nvPr/>
        </p:nvSpPr>
        <p:spPr>
          <a:xfrm>
            <a:off x="5143500" y="4246513"/>
            <a:ext cx="3600450" cy="439787"/>
          </a:xfrm>
          <a:prstGeom prst="rect">
            <a:avLst/>
          </a:prstGeom>
          <a:solidFill>
            <a:srgbClr val="FFFFFF"/>
          </a:solidFill>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60" name="Shape 57"/>
          <p:cNvSpPr/>
          <p:nvPr/>
        </p:nvSpPr>
        <p:spPr>
          <a:xfrm>
            <a:off x="5143500" y="4250085"/>
            <a:ext cx="3600450" cy="0"/>
          </a:xfrm>
          <a:prstGeom prst="line">
            <a:avLst/>
          </a:prstGeom>
          <a:noFill/>
          <a:ln w="7144">
            <a:solidFill>
              <a:srgbClr val="1A1A1A"/>
            </a:solidFill>
            <a:prstDash val="solid"/>
          </a:ln>
        </p:spPr>
      </p:sp>
      <p:sp>
        <p:nvSpPr>
          <p:cNvPr id="61" name="Shape 58"/>
          <p:cNvSpPr/>
          <p:nvPr/>
        </p:nvSpPr>
        <p:spPr>
          <a:xfrm>
            <a:off x="8740378" y="4246513"/>
            <a:ext cx="0" cy="439787"/>
          </a:xfrm>
          <a:prstGeom prst="line">
            <a:avLst/>
          </a:prstGeom>
          <a:noFill/>
          <a:ln w="7144">
            <a:solidFill>
              <a:srgbClr val="1A1A1A"/>
            </a:solidFill>
            <a:prstDash val="solid"/>
          </a:ln>
        </p:spPr>
      </p:sp>
      <p:sp>
        <p:nvSpPr>
          <p:cNvPr id="62" name="Shape 59"/>
          <p:cNvSpPr/>
          <p:nvPr/>
        </p:nvSpPr>
        <p:spPr>
          <a:xfrm>
            <a:off x="5143500" y="4682728"/>
            <a:ext cx="3600450" cy="0"/>
          </a:xfrm>
          <a:prstGeom prst="line">
            <a:avLst/>
          </a:prstGeom>
          <a:noFill/>
          <a:ln w="7144">
            <a:solidFill>
              <a:srgbClr val="1A1A1A"/>
            </a:solidFill>
            <a:prstDash val="solid"/>
          </a:ln>
        </p:spPr>
      </p:sp>
      <p:sp>
        <p:nvSpPr>
          <p:cNvPr id="63" name="Shape 60"/>
          <p:cNvSpPr/>
          <p:nvPr/>
        </p:nvSpPr>
        <p:spPr>
          <a:xfrm>
            <a:off x="5157788" y="4246513"/>
            <a:ext cx="0" cy="439787"/>
          </a:xfrm>
          <a:prstGeom prst="line">
            <a:avLst/>
          </a:prstGeom>
          <a:noFill/>
          <a:ln w="28575">
            <a:solidFill>
              <a:srgbClr val="10B981"/>
            </a:solidFill>
            <a:prstDash val="solid"/>
          </a:ln>
        </p:spPr>
      </p:sp>
      <p:sp>
        <p:nvSpPr>
          <p:cNvPr id="64" name="Text 61"/>
          <p:cNvSpPr/>
          <p:nvPr/>
        </p:nvSpPr>
        <p:spPr>
          <a:xfrm>
            <a:off x="5272088" y="4339382"/>
            <a:ext cx="3364706" cy="91440"/>
          </a:xfrm>
          <a:prstGeom prst="rect">
            <a:avLst/>
          </a:prstGeom>
          <a:noFill/>
          <a:ln/>
        </p:spPr>
        <p:txBody>
          <a:bodyPr wrap="none" lIns="0" tIns="0" rIns="0" bIns="0" rtlCol="0" anchor="t">
            <a:normAutofit/>
          </a:bodyPr>
          <a:lstStyle/>
          <a:p>
            <a:pPr algn="l" indent="0" marL="0">
              <a:buNone/>
            </a:pPr>
            <a:r>
              <a:rPr lang="en-US" sz="800" b="1" spc="79" kern="0" dirty="0">
                <a:solidFill>
                  <a:srgbClr val="10B981"/>
                </a:solidFill>
                <a:latin typeface="Courier New" pitchFamily="34" charset="0"/>
                <a:ea typeface="Courier New" pitchFamily="34" charset="-122"/>
                <a:cs typeface="Courier New" pitchFamily="34" charset="-120"/>
              </a:rPr>
              <a:t>IMPACT</a:t>
            </a:r>
            <a:endParaRPr lang="en-US" sz="800" dirty="0"/>
          </a:p>
        </p:txBody>
      </p:sp>
      <p:sp>
        <p:nvSpPr>
          <p:cNvPr id="65" name="Text 62"/>
          <p:cNvSpPr/>
          <p:nvPr/>
        </p:nvSpPr>
        <p:spPr>
          <a:xfrm>
            <a:off x="5272088" y="4453682"/>
            <a:ext cx="3474434" cy="139750"/>
          </a:xfrm>
          <a:prstGeom prst="rect">
            <a:avLst/>
          </a:prstGeom>
          <a:noFill/>
          <a:ln/>
        </p:spPr>
        <p:txBody>
          <a:bodyPr wrap="square" lIns="0" tIns="0" rIns="0" bIns="0" rtlCol="0" anchor="t"/>
          <a:lstStyle/>
          <a:p>
            <a:pPr algn="l" indent="0" marL="0">
              <a:lnSpc>
                <a:spcPts val="1101"/>
              </a:lnSpc>
              <a:buNone/>
            </a:pPr>
            <a:r>
              <a:rPr lang="en-US" sz="816" b="1" dirty="0">
                <a:solidFill>
                  <a:srgbClr val="1A1A1A"/>
                </a:solidFill>
                <a:latin typeface="Carlito" pitchFamily="34" charset="0"/>
                <a:ea typeface="Carlito" pitchFamily="34" charset="-122"/>
                <a:cs typeface="Carlito" pitchFamily="34" charset="-120"/>
              </a:rPr>
              <a:t>Prevents breaking changes in CI.</a:t>
            </a:r>
            <a:endParaRPr lang="en-US" sz="816" dirty="0"/>
          </a:p>
        </p:txBody>
      </p:sp>
      <p:sp>
        <p:nvSpPr>
          <p:cNvPr id="66" name="Text 63"/>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385763"/>
            <a:ext cx="1967614" cy="119703"/>
          </a:xfrm>
          <a:prstGeom prst="rect">
            <a:avLst/>
          </a:prstGeom>
          <a:noFill/>
          <a:ln/>
        </p:spPr>
        <p:txBody>
          <a:bodyPr wrap="none" lIns="0" tIns="0" rIns="0" bIns="0" rtlCol="0" anchor="t"/>
          <a:lstStyle/>
          <a:p>
            <a:pPr algn="l" indent="0" marL="0">
              <a:buNone/>
            </a:pPr>
            <a:r>
              <a:rPr lang="en-US" sz="800" b="1" spc="87" kern="0" dirty="0">
                <a:solidFill>
                  <a:srgbClr val="10B981"/>
                </a:solidFill>
                <a:latin typeface="Liberation Sans Narrow" pitchFamily="34" charset="0"/>
                <a:ea typeface="Liberation Sans Narrow" pitchFamily="34" charset="-122"/>
                <a:cs typeface="Liberation Sans Narrow" pitchFamily="34" charset="-120"/>
              </a:rPr>
              <a:t>NEW IN 3.0 · FEATURE 02 / 05</a:t>
            </a:r>
            <a:endParaRPr lang="en-US" sz="800" dirty="0"/>
          </a:p>
        </p:txBody>
      </p:sp>
      <p:sp>
        <p:nvSpPr>
          <p:cNvPr id="3" name="Text 1"/>
          <p:cNvSpPr/>
          <p:nvPr/>
        </p:nvSpPr>
        <p:spPr>
          <a:xfrm>
            <a:off x="400050" y="528638"/>
            <a:ext cx="2453041"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Student Onboarding Mode.</a:t>
            </a:r>
            <a:endParaRPr lang="en-US" sz="1519" dirty="0"/>
          </a:p>
        </p:txBody>
      </p:sp>
      <p:sp>
        <p:nvSpPr>
          <p:cNvPr id="4" name="Text 2"/>
          <p:cNvSpPr/>
          <p:nvPr/>
        </p:nvSpPr>
        <p:spPr>
          <a:xfrm>
            <a:off x="400050" y="814388"/>
            <a:ext cx="1248544" cy="126609"/>
          </a:xfrm>
          <a:prstGeom prst="rect">
            <a:avLst/>
          </a:prstGeom>
          <a:noFill/>
          <a:ln/>
        </p:spPr>
        <p:txBody>
          <a:bodyPr wrap="square" lIns="0" tIns="0" rIns="0" bIns="0" rtlCol="0" anchor="t"/>
          <a:lstStyle/>
          <a:p>
            <a:pPr algn="l" indent="0" marL="0">
              <a:buNone/>
            </a:pPr>
            <a:r>
              <a:rPr lang="en-US" sz="731" dirty="0">
                <a:solidFill>
                  <a:srgbClr val="6B6B6B"/>
                </a:solidFill>
                <a:latin typeface="Carlito" pitchFamily="34" charset="0"/>
                <a:ea typeface="Carlito" pitchFamily="34" charset="-122"/>
                <a:cs typeface="Carlito" pitchFamily="34" charset="-120"/>
              </a:rPr>
              <a:t>from lost → first pull request</a:t>
            </a:r>
            <a:endParaRPr lang="en-US" sz="731" dirty="0"/>
          </a:p>
        </p:txBody>
      </p:sp>
      <p:sp>
        <p:nvSpPr>
          <p:cNvPr id="5" name="Text 3"/>
          <p:cNvSpPr/>
          <p:nvPr/>
        </p:nvSpPr>
        <p:spPr>
          <a:xfrm>
            <a:off x="403622" y="1089422"/>
            <a:ext cx="4279106" cy="359330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6" name="Shape 4"/>
          <p:cNvSpPr/>
          <p:nvPr/>
        </p:nvSpPr>
        <p:spPr>
          <a:xfrm>
            <a:off x="550069" y="1468041"/>
            <a:ext cx="3986213" cy="0"/>
          </a:xfrm>
          <a:prstGeom prst="line">
            <a:avLst/>
          </a:prstGeom>
          <a:noFill/>
          <a:ln w="7144">
            <a:solidFill>
              <a:srgbClr val="1A1A1A"/>
            </a:solidFill>
            <a:prstDash val="solid"/>
          </a:ln>
        </p:spPr>
      </p:sp>
      <p:sp>
        <p:nvSpPr>
          <p:cNvPr id="7" name="Text 5"/>
          <p:cNvSpPr/>
          <p:nvPr/>
        </p:nvSpPr>
        <p:spPr>
          <a:xfrm>
            <a:off x="550069" y="1257300"/>
            <a:ext cx="3114452" cy="107156"/>
          </a:xfrm>
          <a:prstGeom prst="rect">
            <a:avLst/>
          </a:prstGeom>
          <a:noFill/>
          <a:ln/>
        </p:spPr>
        <p:txBody>
          <a:bodyPr wrap="none" lIns="0" tIns="0" rIns="0" bIns="0" rtlCol="0" anchor="t"/>
          <a:lstStyle/>
          <a:p>
            <a:pPr algn="l" indent="0" marL="0">
              <a:buNone/>
            </a:pPr>
            <a:r>
              <a:rPr lang="en-US" sz="800" dirty="0">
                <a:solidFill>
                  <a:srgbClr val="6B6B6B"/>
                </a:solidFill>
                <a:latin typeface="Courier New" pitchFamily="34" charset="0"/>
                <a:ea typeface="Courier New" pitchFamily="34" charset="-122"/>
                <a:cs typeface="Courier New" pitchFamily="34" charset="-120"/>
              </a:rPr>
              <a:t>StudyRot · workspace</a:t>
            </a:r>
            <a:endParaRPr lang="en-US" sz="800" dirty="0"/>
          </a:p>
        </p:txBody>
      </p:sp>
      <p:sp>
        <p:nvSpPr>
          <p:cNvPr id="8" name="Text 6"/>
          <p:cNvSpPr/>
          <p:nvPr/>
        </p:nvSpPr>
        <p:spPr>
          <a:xfrm>
            <a:off x="3678808" y="1257300"/>
            <a:ext cx="678935" cy="107156"/>
          </a:xfrm>
          <a:prstGeom prst="rect">
            <a:avLst/>
          </a:prstGeom>
          <a:noFill/>
          <a:ln/>
        </p:spPr>
        <p:txBody>
          <a:bodyPr wrap="none" lIns="0" tIns="0" rIns="0" bIns="0" rtlCol="0" anchor="t"/>
          <a:lstStyle/>
          <a:p>
            <a:pPr algn="l" indent="0" marL="0">
              <a:buNone/>
            </a:pPr>
            <a:r>
              <a:rPr lang="en-US" sz="647" dirty="0">
                <a:solidFill>
                  <a:srgbClr val="1A1A1A"/>
                </a:solidFill>
                <a:latin typeface="Carlito" pitchFamily="34" charset="0"/>
                <a:ea typeface="Carlito" pitchFamily="34" charset="-122"/>
                <a:cs typeface="Carlito" pitchFamily="34" charset="-120"/>
              </a:rPr>
              <a:t>Student Mode</a:t>
            </a:r>
            <a:endParaRPr lang="en-US" sz="647" dirty="0"/>
          </a:p>
        </p:txBody>
      </p:sp>
      <p:sp>
        <p:nvSpPr>
          <p:cNvPr id="9" name="Text 7"/>
          <p:cNvSpPr/>
          <p:nvPr/>
        </p:nvSpPr>
        <p:spPr>
          <a:xfrm>
            <a:off x="4296966" y="1239441"/>
            <a:ext cx="235744" cy="121444"/>
          </a:xfrm>
          <a:prstGeom prst="rect">
            <a:avLst/>
          </a:prstGeom>
          <a:solidFill>
            <a:srgbClr val="10B981"/>
          </a:solidFill>
          <a:ln w="7144">
            <a:solidFill>
              <a:srgbClr val="1A1A1A"/>
            </a:solidFill>
            <a:prstDash val="solid"/>
          </a:ln>
        </p:spPr>
        <p:txBody>
          <a:bodyPr wrap="square" rtlCol="0" anchor="ctr"/>
          <a:lstStyle/>
          <a:p>
            <a:pPr indent="0" marL="0">
              <a:buNone/>
            </a:pPr>
            <a:endParaRPr lang="en-US" dirty="0"/>
          </a:p>
        </p:txBody>
      </p:sp>
      <p:sp>
        <p:nvSpPr>
          <p:cNvPr id="10" name="Text 8"/>
          <p:cNvSpPr/>
          <p:nvPr/>
        </p:nvSpPr>
        <p:spPr>
          <a:xfrm>
            <a:off x="4432697" y="1260872"/>
            <a:ext cx="78581" cy="78581"/>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1" name="Text 9"/>
          <p:cNvSpPr/>
          <p:nvPr/>
        </p:nvSpPr>
        <p:spPr>
          <a:xfrm>
            <a:off x="550069" y="1821656"/>
            <a:ext cx="3986213" cy="108299"/>
          </a:xfrm>
          <a:prstGeom prst="rect">
            <a:avLst/>
          </a:prstGeom>
          <a:noFill/>
          <a:ln/>
        </p:spPr>
        <p:txBody>
          <a:bodyPr wrap="none" lIns="0" tIns="0" rIns="0" bIns="0" rtlCol="0" anchor="t">
            <a:normAutofit/>
          </a:bodyPr>
          <a:lstStyle/>
          <a:p>
            <a:pPr algn="l" indent="0" marL="0">
              <a:buNone/>
            </a:pPr>
            <a:r>
              <a:rPr lang="en-US" sz="800" spc="68" kern="0" dirty="0">
                <a:solidFill>
                  <a:srgbClr val="6B6B6B"/>
                </a:solidFill>
                <a:latin typeface="Courier New" pitchFamily="34" charset="0"/>
                <a:ea typeface="Courier New" pitchFamily="34" charset="-122"/>
                <a:cs typeface="Courier New" pitchFamily="34" charset="-120"/>
              </a:rPr>
              <a:t>GRAPH RANKING</a:t>
            </a:r>
            <a:endParaRPr lang="en-US" sz="800" dirty="0"/>
          </a:p>
        </p:txBody>
      </p:sp>
      <p:sp>
        <p:nvSpPr>
          <p:cNvPr id="12" name="Text 10"/>
          <p:cNvSpPr/>
          <p:nvPr/>
        </p:nvSpPr>
        <p:spPr>
          <a:xfrm>
            <a:off x="553641" y="1960959"/>
            <a:ext cx="1721979" cy="207169"/>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13" name="Text 11"/>
          <p:cNvSpPr/>
          <p:nvPr/>
        </p:nvSpPr>
        <p:spPr>
          <a:xfrm>
            <a:off x="550069" y="1957388"/>
            <a:ext cx="1729122" cy="274320"/>
          </a:xfrm>
          <a:prstGeom prst="rect">
            <a:avLst/>
          </a:prstGeom>
          <a:noFill/>
          <a:ln/>
        </p:spPr>
        <p:txBody>
          <a:bodyPr wrap="square" lIns="85725" tIns="50006" rIns="85725" bIns="50006"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rank = incoming × 2 + outgoing</a:t>
            </a:r>
            <a:endParaRPr lang="en-US" sz="800" dirty="0"/>
          </a:p>
        </p:txBody>
      </p:sp>
      <p:sp>
        <p:nvSpPr>
          <p:cNvPr id="14" name="Text 12"/>
          <p:cNvSpPr/>
          <p:nvPr/>
        </p:nvSpPr>
        <p:spPr>
          <a:xfrm>
            <a:off x="553641" y="2275284"/>
            <a:ext cx="307181" cy="164306"/>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5" name="Text 13"/>
          <p:cNvSpPr/>
          <p:nvPr/>
        </p:nvSpPr>
        <p:spPr>
          <a:xfrm>
            <a:off x="550069" y="2271713"/>
            <a:ext cx="342900" cy="171450"/>
          </a:xfrm>
          <a:prstGeom prst="rect">
            <a:avLst/>
          </a:prstGeom>
          <a:noFill/>
          <a:ln/>
        </p:spPr>
        <p:txBody>
          <a:bodyPr wrap="none" lIns="0" tIns="0" rIns="0" bIns="0" rtlCol="0" anchor="ctr"/>
          <a:lstStyle/>
          <a:p>
            <a:pPr algn="l" indent="0" marL="0">
              <a:buNone/>
            </a:pPr>
            <a:r>
              <a:rPr lang="en-US" sz="800" dirty="0">
                <a:solidFill>
                  <a:srgbClr val="6B6B6B"/>
                </a:solidFill>
                <a:latin typeface="Liberation Sans Narrow" pitchFamily="34" charset="0"/>
                <a:ea typeface="Liberation Sans Narrow" pitchFamily="34" charset="-122"/>
                <a:cs typeface="Liberation Sans Narrow" pitchFamily="34" charset="-120"/>
              </a:rPr>
              <a:t>Row 0</a:t>
            </a:r>
            <a:endParaRPr lang="en-US" sz="800" dirty="0"/>
          </a:p>
        </p:txBody>
      </p:sp>
      <p:sp>
        <p:nvSpPr>
          <p:cNvPr id="16" name="Text 14"/>
          <p:cNvSpPr/>
          <p:nvPr/>
        </p:nvSpPr>
        <p:spPr>
          <a:xfrm>
            <a:off x="925116" y="2275284"/>
            <a:ext cx="307181" cy="164306"/>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7" name="Text 15"/>
          <p:cNvSpPr/>
          <p:nvPr/>
        </p:nvSpPr>
        <p:spPr>
          <a:xfrm>
            <a:off x="921544" y="2271713"/>
            <a:ext cx="342900" cy="171450"/>
          </a:xfrm>
          <a:prstGeom prst="rect">
            <a:avLst/>
          </a:prstGeom>
          <a:noFill/>
          <a:ln/>
        </p:spPr>
        <p:txBody>
          <a:bodyPr wrap="none" lIns="0" tIns="0" rIns="0" bIns="0" rtlCol="0" anchor="ctr"/>
          <a:lstStyle/>
          <a:p>
            <a:pPr algn="l" indent="0" marL="0">
              <a:buNone/>
            </a:pPr>
            <a:r>
              <a:rPr lang="en-US" sz="800" dirty="0">
                <a:solidFill>
                  <a:srgbClr val="6B6B6B"/>
                </a:solidFill>
                <a:latin typeface="Liberation Sans Narrow" pitchFamily="34" charset="0"/>
                <a:ea typeface="Liberation Sans Narrow" pitchFamily="34" charset="-122"/>
                <a:cs typeface="Liberation Sans Narrow" pitchFamily="34" charset="-120"/>
              </a:rPr>
              <a:t>Row 1</a:t>
            </a:r>
            <a:endParaRPr lang="en-US" sz="800" dirty="0"/>
          </a:p>
        </p:txBody>
      </p:sp>
      <p:sp>
        <p:nvSpPr>
          <p:cNvPr id="18" name="Text 16"/>
          <p:cNvSpPr/>
          <p:nvPr/>
        </p:nvSpPr>
        <p:spPr>
          <a:xfrm>
            <a:off x="1296591" y="2275284"/>
            <a:ext cx="307181" cy="164306"/>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9" name="Text 17"/>
          <p:cNvSpPr/>
          <p:nvPr/>
        </p:nvSpPr>
        <p:spPr>
          <a:xfrm>
            <a:off x="1293019" y="2271713"/>
            <a:ext cx="342900" cy="171450"/>
          </a:xfrm>
          <a:prstGeom prst="rect">
            <a:avLst/>
          </a:prstGeom>
          <a:noFill/>
          <a:ln/>
        </p:spPr>
        <p:txBody>
          <a:bodyPr wrap="none" lIns="0" tIns="0" rIns="0" bIns="0" rtlCol="0" anchor="ctr"/>
          <a:lstStyle/>
          <a:p>
            <a:pPr algn="l" indent="0" marL="0">
              <a:buNone/>
            </a:pPr>
            <a:r>
              <a:rPr lang="en-US" sz="800" dirty="0">
                <a:solidFill>
                  <a:srgbClr val="6B6B6B"/>
                </a:solidFill>
                <a:latin typeface="Liberation Sans Narrow" pitchFamily="34" charset="0"/>
                <a:ea typeface="Liberation Sans Narrow" pitchFamily="34" charset="-122"/>
                <a:cs typeface="Liberation Sans Narrow" pitchFamily="34" charset="-120"/>
              </a:rPr>
              <a:t>Row 2</a:t>
            </a:r>
            <a:endParaRPr lang="en-US" sz="800" dirty="0"/>
          </a:p>
        </p:txBody>
      </p:sp>
      <p:sp>
        <p:nvSpPr>
          <p:cNvPr id="20" name="Text 18"/>
          <p:cNvSpPr/>
          <p:nvPr/>
        </p:nvSpPr>
        <p:spPr>
          <a:xfrm>
            <a:off x="1668066" y="2275284"/>
            <a:ext cx="307181" cy="164306"/>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1" name="Text 19"/>
          <p:cNvSpPr/>
          <p:nvPr/>
        </p:nvSpPr>
        <p:spPr>
          <a:xfrm>
            <a:off x="1664494" y="2271713"/>
            <a:ext cx="342900" cy="171450"/>
          </a:xfrm>
          <a:prstGeom prst="rect">
            <a:avLst/>
          </a:prstGeom>
          <a:noFill/>
          <a:ln/>
        </p:spPr>
        <p:txBody>
          <a:bodyPr wrap="none" lIns="0" tIns="0" rIns="0" bIns="0" rtlCol="0" anchor="ctr"/>
          <a:lstStyle/>
          <a:p>
            <a:pPr algn="l" indent="0" marL="0">
              <a:buNone/>
            </a:pPr>
            <a:r>
              <a:rPr lang="en-US" sz="800" dirty="0">
                <a:solidFill>
                  <a:srgbClr val="6B6B6B"/>
                </a:solidFill>
                <a:latin typeface="Liberation Sans Narrow" pitchFamily="34" charset="0"/>
                <a:ea typeface="Liberation Sans Narrow" pitchFamily="34" charset="-122"/>
                <a:cs typeface="Liberation Sans Narrow" pitchFamily="34" charset="-120"/>
              </a:rPr>
              <a:t>Row 3</a:t>
            </a:r>
            <a:endParaRPr lang="en-US" sz="800" dirty="0"/>
          </a:p>
        </p:txBody>
      </p:sp>
      <p:sp>
        <p:nvSpPr>
          <p:cNvPr id="22" name="Text 20"/>
          <p:cNvSpPr/>
          <p:nvPr/>
        </p:nvSpPr>
        <p:spPr>
          <a:xfrm>
            <a:off x="2039541" y="2275284"/>
            <a:ext cx="307181" cy="164306"/>
          </a:xfrm>
          <a:prstGeom prst="rect">
            <a:avLst/>
          </a:prstGeom>
          <a:solidFill>
            <a:srgbClr val="FFFFFF"/>
          </a:solidFill>
          <a:ln w="7144">
            <a:solidFill>
              <a:srgbClr val="10B981"/>
            </a:solidFill>
            <a:prstDash val="solid"/>
          </a:ln>
        </p:spPr>
        <p:txBody>
          <a:bodyPr wrap="square" rtlCol="0" anchor="ctr"/>
          <a:lstStyle/>
          <a:p>
            <a:pPr indent="0" marL="0">
              <a:buNone/>
            </a:pPr>
            <a:endParaRPr lang="en-US" dirty="0"/>
          </a:p>
        </p:txBody>
      </p:sp>
      <p:sp>
        <p:nvSpPr>
          <p:cNvPr id="23" name="Text 21"/>
          <p:cNvSpPr/>
          <p:nvPr/>
        </p:nvSpPr>
        <p:spPr>
          <a:xfrm>
            <a:off x="2035969" y="2271713"/>
            <a:ext cx="342900" cy="171450"/>
          </a:xfrm>
          <a:prstGeom prst="rect">
            <a:avLst/>
          </a:prstGeom>
          <a:noFill/>
          <a:ln/>
        </p:spPr>
        <p:txBody>
          <a:bodyPr wrap="none" lIns="0" tIns="0" rIns="0" bIns="0" rtlCol="0" anchor="ctr"/>
          <a:lstStyle/>
          <a:p>
            <a:pPr algn="ctr" indent="0" marL="0">
              <a:buNone/>
            </a:pPr>
            <a:r>
              <a:rPr lang="en-US" sz="800" b="1" dirty="0">
                <a:solidFill>
                  <a:srgbClr val="10B981"/>
                </a:solidFill>
                <a:latin typeface="Liberation Sans Narrow" pitchFamily="34" charset="0"/>
                <a:ea typeface="Liberation Sans Narrow" pitchFamily="34" charset="-122"/>
                <a:cs typeface="Liberation Sans Narrow" pitchFamily="34" charset="-120"/>
              </a:rPr>
              <a:t>Row 4</a:t>
            </a:r>
            <a:endParaRPr lang="en-US" sz="800" dirty="0"/>
          </a:p>
        </p:txBody>
      </p:sp>
      <p:sp>
        <p:nvSpPr>
          <p:cNvPr id="24" name="Text 22"/>
          <p:cNvSpPr/>
          <p:nvPr/>
        </p:nvSpPr>
        <p:spPr>
          <a:xfrm>
            <a:off x="2411016" y="2275284"/>
            <a:ext cx="307181" cy="164306"/>
          </a:xfrm>
          <a:prstGeom prst="rect">
            <a:avLst/>
          </a:prstGeom>
          <a:solidFill>
            <a:srgbClr val="FFFFFF"/>
          </a:solidFill>
          <a:ln w="7144">
            <a:solidFill>
              <a:srgbClr val="10B981"/>
            </a:solidFill>
            <a:prstDash val="solid"/>
          </a:ln>
        </p:spPr>
        <p:txBody>
          <a:bodyPr wrap="square" rtlCol="0" anchor="ctr"/>
          <a:lstStyle/>
          <a:p>
            <a:pPr indent="0" marL="0">
              <a:buNone/>
            </a:pPr>
            <a:endParaRPr lang="en-US" dirty="0"/>
          </a:p>
        </p:txBody>
      </p:sp>
      <p:sp>
        <p:nvSpPr>
          <p:cNvPr id="25" name="Text 23"/>
          <p:cNvSpPr/>
          <p:nvPr/>
        </p:nvSpPr>
        <p:spPr>
          <a:xfrm>
            <a:off x="2407444" y="2271713"/>
            <a:ext cx="2128838" cy="171450"/>
          </a:xfrm>
          <a:prstGeom prst="rect">
            <a:avLst/>
          </a:prstGeom>
          <a:noFill/>
          <a:ln/>
        </p:spPr>
        <p:txBody>
          <a:bodyPr wrap="none" lIns="0" tIns="0" rIns="0" bIns="0" rtlCol="0" anchor="ctr"/>
          <a:lstStyle/>
          <a:p>
            <a:pPr algn="ctr" indent="0" marL="0">
              <a:buNone/>
            </a:pPr>
            <a:r>
              <a:rPr lang="en-US" sz="800" b="1" dirty="0">
                <a:solidFill>
                  <a:srgbClr val="10B981"/>
                </a:solidFill>
                <a:latin typeface="Liberation Sans Narrow" pitchFamily="34" charset="0"/>
                <a:ea typeface="Liberation Sans Narrow" pitchFamily="34" charset="-122"/>
                <a:cs typeface="Liberation Sans Narrow" pitchFamily="34" charset="-120"/>
              </a:rPr>
              <a:t>Row 5</a:t>
            </a:r>
            <a:endParaRPr lang="en-US" sz="800" dirty="0"/>
          </a:p>
        </p:txBody>
      </p:sp>
      <p:sp>
        <p:nvSpPr>
          <p:cNvPr id="26" name="Shape 24"/>
          <p:cNvSpPr/>
          <p:nvPr/>
        </p:nvSpPr>
        <p:spPr>
          <a:xfrm>
            <a:off x="2718197" y="2471738"/>
            <a:ext cx="0" cy="42863"/>
          </a:xfrm>
          <a:prstGeom prst="line">
            <a:avLst/>
          </a:prstGeom>
          <a:noFill/>
          <a:ln w="7144">
            <a:solidFill>
              <a:srgbClr val="10B981"/>
            </a:solidFill>
            <a:prstDash val="solid"/>
          </a:ln>
        </p:spPr>
      </p:sp>
      <p:sp>
        <p:nvSpPr>
          <p:cNvPr id="27" name="Shape 25"/>
          <p:cNvSpPr/>
          <p:nvPr/>
        </p:nvSpPr>
        <p:spPr>
          <a:xfrm>
            <a:off x="2035969" y="2511028"/>
            <a:ext cx="685800" cy="0"/>
          </a:xfrm>
          <a:prstGeom prst="line">
            <a:avLst/>
          </a:prstGeom>
          <a:noFill/>
          <a:ln w="7144">
            <a:solidFill>
              <a:srgbClr val="10B981"/>
            </a:solidFill>
            <a:prstDash val="solid"/>
          </a:ln>
        </p:spPr>
      </p:sp>
      <p:sp>
        <p:nvSpPr>
          <p:cNvPr id="28" name="Shape 26"/>
          <p:cNvSpPr/>
          <p:nvPr/>
        </p:nvSpPr>
        <p:spPr>
          <a:xfrm>
            <a:off x="2039541" y="2471738"/>
            <a:ext cx="0" cy="42863"/>
          </a:xfrm>
          <a:prstGeom prst="line">
            <a:avLst/>
          </a:prstGeom>
          <a:noFill/>
          <a:ln w="7144">
            <a:solidFill>
              <a:srgbClr val="10B981"/>
            </a:solidFill>
            <a:prstDash val="solid"/>
          </a:ln>
        </p:spPr>
      </p:sp>
      <p:sp>
        <p:nvSpPr>
          <p:cNvPr id="29" name="Text 27"/>
          <p:cNvSpPr/>
          <p:nvPr/>
        </p:nvSpPr>
        <p:spPr>
          <a:xfrm>
            <a:off x="1950244" y="2543175"/>
            <a:ext cx="2586038" cy="127053"/>
          </a:xfrm>
          <a:prstGeom prst="rect">
            <a:avLst/>
          </a:prstGeom>
          <a:noFill/>
          <a:ln/>
        </p:spPr>
        <p:txBody>
          <a:bodyPr wrap="none" lIns="0" tIns="0" rIns="0" bIns="0" rtlCol="0" anchor="t"/>
          <a:lstStyle/>
          <a:p>
            <a:pPr algn="l" indent="0" marL="0">
              <a:buNone/>
            </a:pPr>
            <a:r>
              <a:rPr lang="en-US" sz="800" b="1" dirty="0">
                <a:solidFill>
                  <a:srgbClr val="10B981"/>
                </a:solidFill>
                <a:latin typeface="Courier New" pitchFamily="34" charset="0"/>
                <a:ea typeface="Courier New" pitchFamily="34" charset="-122"/>
                <a:cs typeface="Courier New" pitchFamily="34" charset="-120"/>
              </a:rPr>
              <a:t>← Good First Issues</a:t>
            </a:r>
            <a:endParaRPr lang="en-US" sz="800" dirty="0"/>
          </a:p>
        </p:txBody>
      </p:sp>
      <p:sp>
        <p:nvSpPr>
          <p:cNvPr id="30" name="Text 28"/>
          <p:cNvSpPr/>
          <p:nvPr/>
        </p:nvSpPr>
        <p:spPr>
          <a:xfrm>
            <a:off x="550069" y="2971800"/>
            <a:ext cx="3986213" cy="108299"/>
          </a:xfrm>
          <a:prstGeom prst="rect">
            <a:avLst/>
          </a:prstGeom>
          <a:noFill/>
          <a:ln/>
        </p:spPr>
        <p:txBody>
          <a:bodyPr wrap="none" lIns="0" tIns="0" rIns="0" bIns="0" rtlCol="0" anchor="t">
            <a:normAutofit/>
          </a:bodyPr>
          <a:lstStyle/>
          <a:p>
            <a:pPr algn="l" indent="0" marL="0">
              <a:buNone/>
            </a:pPr>
            <a:r>
              <a:rPr lang="en-US" sz="800" spc="68" kern="0" dirty="0">
                <a:solidFill>
                  <a:srgbClr val="6B6B6B"/>
                </a:solidFill>
                <a:latin typeface="Courier New" pitchFamily="34" charset="0"/>
                <a:ea typeface="Courier New" pitchFamily="34" charset="-122"/>
                <a:cs typeface="Courier New" pitchFamily="34" charset="-120"/>
              </a:rPr>
              <a:t>LEVEL PATH</a:t>
            </a:r>
            <a:endParaRPr lang="en-US" sz="800" dirty="0"/>
          </a:p>
        </p:txBody>
      </p:sp>
      <p:sp>
        <p:nvSpPr>
          <p:cNvPr id="31" name="Text 29"/>
          <p:cNvSpPr/>
          <p:nvPr/>
        </p:nvSpPr>
        <p:spPr>
          <a:xfrm>
            <a:off x="550069" y="3107531"/>
            <a:ext cx="3986213" cy="428625"/>
          </a:xfrm>
          <a:prstGeom prst="rect">
            <a:avLst/>
          </a:prstGeom>
          <a:solidFill>
            <a:srgbClr val="FFFFFF"/>
          </a:solidFill>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32" name="Shape 30"/>
          <p:cNvSpPr/>
          <p:nvPr/>
        </p:nvSpPr>
        <p:spPr>
          <a:xfrm>
            <a:off x="550069" y="3111103"/>
            <a:ext cx="3986213" cy="0"/>
          </a:xfrm>
          <a:prstGeom prst="line">
            <a:avLst/>
          </a:prstGeom>
          <a:noFill/>
          <a:ln w="7144">
            <a:solidFill>
              <a:srgbClr val="1A1A1A"/>
            </a:solidFill>
            <a:prstDash val="solid"/>
          </a:ln>
        </p:spPr>
      </p:sp>
      <p:sp>
        <p:nvSpPr>
          <p:cNvPr id="33" name="Shape 31"/>
          <p:cNvSpPr/>
          <p:nvPr/>
        </p:nvSpPr>
        <p:spPr>
          <a:xfrm>
            <a:off x="4532709" y="3107531"/>
            <a:ext cx="0" cy="428625"/>
          </a:xfrm>
          <a:prstGeom prst="line">
            <a:avLst/>
          </a:prstGeom>
          <a:noFill/>
          <a:ln w="7144">
            <a:solidFill>
              <a:srgbClr val="1A1A1A"/>
            </a:solidFill>
            <a:prstDash val="solid"/>
          </a:ln>
        </p:spPr>
      </p:sp>
      <p:sp>
        <p:nvSpPr>
          <p:cNvPr id="34" name="Shape 32"/>
          <p:cNvSpPr/>
          <p:nvPr/>
        </p:nvSpPr>
        <p:spPr>
          <a:xfrm>
            <a:off x="550069" y="3532584"/>
            <a:ext cx="3986213" cy="0"/>
          </a:xfrm>
          <a:prstGeom prst="line">
            <a:avLst/>
          </a:prstGeom>
          <a:noFill/>
          <a:ln w="7144">
            <a:solidFill>
              <a:srgbClr val="1A1A1A"/>
            </a:solidFill>
            <a:prstDash val="solid"/>
          </a:ln>
        </p:spPr>
      </p:sp>
      <p:sp>
        <p:nvSpPr>
          <p:cNvPr id="35" name="Shape 33"/>
          <p:cNvSpPr/>
          <p:nvPr/>
        </p:nvSpPr>
        <p:spPr>
          <a:xfrm>
            <a:off x="557213" y="3107531"/>
            <a:ext cx="0" cy="428625"/>
          </a:xfrm>
          <a:prstGeom prst="line">
            <a:avLst/>
          </a:prstGeom>
          <a:noFill/>
          <a:ln w="14288">
            <a:solidFill>
              <a:srgbClr val="10B981"/>
            </a:solidFill>
            <a:prstDash val="solid"/>
          </a:ln>
        </p:spPr>
      </p:sp>
      <p:sp>
        <p:nvSpPr>
          <p:cNvPr id="36" name="Text 34"/>
          <p:cNvSpPr/>
          <p:nvPr/>
        </p:nvSpPr>
        <p:spPr>
          <a:xfrm>
            <a:off x="664369" y="3271838"/>
            <a:ext cx="2852365" cy="122895"/>
          </a:xfrm>
          <a:prstGeom prst="rect">
            <a:avLst/>
          </a:prstGeom>
          <a:noFill/>
          <a:ln/>
        </p:spPr>
        <p:txBody>
          <a:bodyPr wrap="none" lIns="0" tIns="0" rIns="0" bIns="0"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Level 1 — Repo basics</a:t>
            </a:r>
            <a:endParaRPr lang="en-US" sz="800" dirty="0"/>
          </a:p>
        </p:txBody>
      </p:sp>
      <p:sp>
        <p:nvSpPr>
          <p:cNvPr id="37" name="Text 35"/>
          <p:cNvSpPr/>
          <p:nvPr/>
        </p:nvSpPr>
        <p:spPr>
          <a:xfrm>
            <a:off x="3531022" y="3307556"/>
            <a:ext cx="100013" cy="28575"/>
          </a:xfrm>
          <a:prstGeom prst="rect">
            <a:avLst/>
          </a:prstGeom>
          <a:solidFill>
            <a:srgbClr val="10B981"/>
          </a:solidFill>
          <a:ln/>
        </p:spPr>
        <p:txBody>
          <a:bodyPr wrap="square" rtlCol="0" anchor="ctr"/>
          <a:lstStyle/>
          <a:p>
            <a:pPr indent="0" marL="0">
              <a:buNone/>
            </a:pPr>
            <a:endParaRPr lang="en-US" dirty="0"/>
          </a:p>
        </p:txBody>
      </p:sp>
      <p:sp>
        <p:nvSpPr>
          <p:cNvPr id="38" name="Text 36"/>
          <p:cNvSpPr/>
          <p:nvPr/>
        </p:nvSpPr>
        <p:spPr>
          <a:xfrm>
            <a:off x="3652465" y="3307556"/>
            <a:ext cx="100013" cy="28575"/>
          </a:xfrm>
          <a:prstGeom prst="rect">
            <a:avLst/>
          </a:prstGeom>
          <a:solidFill>
            <a:srgbClr val="10B981"/>
          </a:solidFill>
          <a:ln/>
        </p:spPr>
        <p:txBody>
          <a:bodyPr wrap="square" rtlCol="0" anchor="ctr"/>
          <a:lstStyle/>
          <a:p>
            <a:pPr indent="0" marL="0">
              <a:buNone/>
            </a:pPr>
            <a:endParaRPr lang="en-US" dirty="0"/>
          </a:p>
        </p:txBody>
      </p:sp>
      <p:sp>
        <p:nvSpPr>
          <p:cNvPr id="39" name="Text 37"/>
          <p:cNvSpPr/>
          <p:nvPr/>
        </p:nvSpPr>
        <p:spPr>
          <a:xfrm>
            <a:off x="3773909" y="3307556"/>
            <a:ext cx="100013" cy="28575"/>
          </a:xfrm>
          <a:prstGeom prst="rect">
            <a:avLst/>
          </a:prstGeom>
          <a:solidFill>
            <a:srgbClr val="10B981"/>
          </a:solidFill>
          <a:ln/>
        </p:spPr>
        <p:txBody>
          <a:bodyPr wrap="square" rtlCol="0" anchor="ctr"/>
          <a:lstStyle/>
          <a:p>
            <a:pPr indent="0" marL="0">
              <a:buNone/>
            </a:pPr>
            <a:endParaRPr lang="en-US" dirty="0"/>
          </a:p>
        </p:txBody>
      </p:sp>
      <p:sp>
        <p:nvSpPr>
          <p:cNvPr id="40" name="Text 38"/>
          <p:cNvSpPr/>
          <p:nvPr/>
        </p:nvSpPr>
        <p:spPr>
          <a:xfrm>
            <a:off x="3945359" y="3278981"/>
            <a:ext cx="483766" cy="125403"/>
          </a:xfrm>
          <a:prstGeom prst="rect">
            <a:avLst/>
          </a:prstGeom>
          <a:noFill/>
          <a:ln/>
        </p:spPr>
        <p:txBody>
          <a:bodyPr wrap="none" lIns="0" tIns="0" rIns="0" bIns="0" rtlCol="0" anchor="t"/>
          <a:lstStyle/>
          <a:p>
            <a:pPr algn="l" indent="0" marL="0">
              <a:buNone/>
            </a:pPr>
            <a:r>
              <a:rPr lang="en-US" sz="600" b="1" dirty="0">
                <a:solidFill>
                  <a:srgbClr val="10B981"/>
                </a:solidFill>
                <a:latin typeface="Liberation Sans Narrow" pitchFamily="34" charset="0"/>
                <a:ea typeface="Liberation Sans Narrow" pitchFamily="34" charset="-122"/>
                <a:cs typeface="Liberation Sans Narrow" pitchFamily="34" charset="-120"/>
              </a:rPr>
              <a:t>quiz 3/3 ✓</a:t>
            </a:r>
            <a:endParaRPr lang="en-US" sz="600" dirty="0"/>
          </a:p>
        </p:txBody>
      </p:sp>
      <p:sp>
        <p:nvSpPr>
          <p:cNvPr id="41" name="Text 39"/>
          <p:cNvSpPr/>
          <p:nvPr/>
        </p:nvSpPr>
        <p:spPr>
          <a:xfrm>
            <a:off x="550069" y="3607594"/>
            <a:ext cx="3986213" cy="428625"/>
          </a:xfrm>
          <a:prstGeom prst="rect">
            <a:avLst/>
          </a:prstGeom>
          <a:solidFill>
            <a:srgbClr val="D4AF37">
              <a:alpha val="16000"/>
            </a:srgbClr>
          </a:solidFill>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2" name="Shape 40"/>
          <p:cNvSpPr/>
          <p:nvPr/>
        </p:nvSpPr>
        <p:spPr>
          <a:xfrm>
            <a:off x="550069" y="3611166"/>
            <a:ext cx="3986213" cy="0"/>
          </a:xfrm>
          <a:prstGeom prst="line">
            <a:avLst/>
          </a:prstGeom>
          <a:noFill/>
          <a:ln w="7144">
            <a:solidFill>
              <a:srgbClr val="1A1A1A"/>
            </a:solidFill>
            <a:prstDash val="solid"/>
          </a:ln>
        </p:spPr>
      </p:sp>
      <p:sp>
        <p:nvSpPr>
          <p:cNvPr id="43" name="Shape 41"/>
          <p:cNvSpPr/>
          <p:nvPr/>
        </p:nvSpPr>
        <p:spPr>
          <a:xfrm>
            <a:off x="4532709" y="3607594"/>
            <a:ext cx="0" cy="428625"/>
          </a:xfrm>
          <a:prstGeom prst="line">
            <a:avLst/>
          </a:prstGeom>
          <a:noFill/>
          <a:ln w="7144">
            <a:solidFill>
              <a:srgbClr val="1A1A1A"/>
            </a:solidFill>
            <a:prstDash val="solid"/>
          </a:ln>
        </p:spPr>
      </p:sp>
      <p:sp>
        <p:nvSpPr>
          <p:cNvPr id="44" name="Shape 42"/>
          <p:cNvSpPr/>
          <p:nvPr/>
        </p:nvSpPr>
        <p:spPr>
          <a:xfrm>
            <a:off x="550069" y="4032647"/>
            <a:ext cx="3986213" cy="0"/>
          </a:xfrm>
          <a:prstGeom prst="line">
            <a:avLst/>
          </a:prstGeom>
          <a:noFill/>
          <a:ln w="7144">
            <a:solidFill>
              <a:srgbClr val="1A1A1A"/>
            </a:solidFill>
            <a:prstDash val="solid"/>
          </a:ln>
        </p:spPr>
      </p:sp>
      <p:sp>
        <p:nvSpPr>
          <p:cNvPr id="45" name="Shape 43"/>
          <p:cNvSpPr/>
          <p:nvPr/>
        </p:nvSpPr>
        <p:spPr>
          <a:xfrm>
            <a:off x="557213" y="3607594"/>
            <a:ext cx="0" cy="428625"/>
          </a:xfrm>
          <a:prstGeom prst="line">
            <a:avLst/>
          </a:prstGeom>
          <a:noFill/>
          <a:ln w="14288">
            <a:solidFill>
              <a:srgbClr val="D4AF37"/>
            </a:solidFill>
            <a:prstDash val="solid"/>
          </a:ln>
        </p:spPr>
      </p:sp>
      <p:sp>
        <p:nvSpPr>
          <p:cNvPr id="46" name="Text 44"/>
          <p:cNvSpPr/>
          <p:nvPr/>
        </p:nvSpPr>
        <p:spPr>
          <a:xfrm>
            <a:off x="664369" y="3771900"/>
            <a:ext cx="2975930" cy="122895"/>
          </a:xfrm>
          <a:prstGeom prst="rect">
            <a:avLst/>
          </a:prstGeom>
          <a:noFill/>
          <a:ln/>
        </p:spPr>
        <p:txBody>
          <a:bodyPr wrap="none" lIns="0" tIns="0" rIns="0" bIns="0"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Level 2 — Core modules</a:t>
            </a:r>
            <a:endParaRPr lang="en-US" sz="800" dirty="0"/>
          </a:p>
        </p:txBody>
      </p:sp>
      <p:sp>
        <p:nvSpPr>
          <p:cNvPr id="47" name="Text 45"/>
          <p:cNvSpPr/>
          <p:nvPr/>
        </p:nvSpPr>
        <p:spPr>
          <a:xfrm>
            <a:off x="3654586" y="3807619"/>
            <a:ext cx="100013" cy="28575"/>
          </a:xfrm>
          <a:prstGeom prst="rect">
            <a:avLst/>
          </a:prstGeom>
          <a:solidFill>
            <a:srgbClr val="D4AF37"/>
          </a:solidFill>
          <a:ln/>
        </p:spPr>
        <p:txBody>
          <a:bodyPr wrap="square" rtlCol="0" anchor="ctr"/>
          <a:lstStyle/>
          <a:p>
            <a:pPr indent="0" marL="0">
              <a:buNone/>
            </a:pPr>
            <a:endParaRPr lang="en-US" dirty="0"/>
          </a:p>
        </p:txBody>
      </p:sp>
      <p:sp>
        <p:nvSpPr>
          <p:cNvPr id="48" name="Text 46"/>
          <p:cNvSpPr/>
          <p:nvPr/>
        </p:nvSpPr>
        <p:spPr>
          <a:xfrm>
            <a:off x="3776030" y="3807619"/>
            <a:ext cx="100013" cy="28575"/>
          </a:xfrm>
          <a:prstGeom prst="rect">
            <a:avLst/>
          </a:prstGeom>
          <a:solidFill>
            <a:srgbClr val="D4AF37"/>
          </a:solidFill>
          <a:ln/>
        </p:spPr>
        <p:txBody>
          <a:bodyPr wrap="square" rtlCol="0" anchor="ctr"/>
          <a:lstStyle/>
          <a:p>
            <a:pPr indent="0" marL="0">
              <a:buNone/>
            </a:pPr>
            <a:endParaRPr lang="en-US" dirty="0"/>
          </a:p>
        </p:txBody>
      </p:sp>
      <p:sp>
        <p:nvSpPr>
          <p:cNvPr id="49" name="Text 47"/>
          <p:cNvSpPr/>
          <p:nvPr/>
        </p:nvSpPr>
        <p:spPr>
          <a:xfrm>
            <a:off x="3901046" y="3811191"/>
            <a:ext cx="92869" cy="21431"/>
          </a:xfrm>
          <a:prstGeom prst="rect">
            <a:avLst/>
          </a:prstGeom>
          <a:noFill/>
          <a:ln w="7144">
            <a:solidFill>
              <a:srgbClr val="1A1A1A"/>
            </a:solidFill>
            <a:prstDash val="solid"/>
          </a:ln>
        </p:spPr>
        <p:txBody>
          <a:bodyPr wrap="square" rtlCol="0" anchor="ctr"/>
          <a:lstStyle/>
          <a:p>
            <a:pPr indent="0" marL="0">
              <a:buNone/>
            </a:pPr>
            <a:endParaRPr lang="en-US" dirty="0"/>
          </a:p>
        </p:txBody>
      </p:sp>
      <p:sp>
        <p:nvSpPr>
          <p:cNvPr id="50" name="Text 48"/>
          <p:cNvSpPr/>
          <p:nvPr/>
        </p:nvSpPr>
        <p:spPr>
          <a:xfrm>
            <a:off x="4053609" y="3779044"/>
            <a:ext cx="390830" cy="125403"/>
          </a:xfrm>
          <a:prstGeom prst="rect">
            <a:avLst/>
          </a:prstGeom>
          <a:noFill/>
          <a:ln/>
        </p:spPr>
        <p:txBody>
          <a:bodyPr wrap="none" lIns="0" tIns="0" rIns="0" bIns="0" rtlCol="0" anchor="t"/>
          <a:lstStyle/>
          <a:p>
            <a:pPr algn="l" indent="0" marL="0">
              <a:buNone/>
            </a:pPr>
            <a:r>
              <a:rPr lang="en-US" sz="600" b="1" dirty="0">
                <a:solidFill>
                  <a:srgbClr val="A16207"/>
                </a:solidFill>
                <a:latin typeface="Liberation Sans Narrow" pitchFamily="34" charset="0"/>
                <a:ea typeface="Liberation Sans Narrow" pitchFamily="34" charset="-122"/>
                <a:cs typeface="Liberation Sans Narrow" pitchFamily="34" charset="-120"/>
              </a:rPr>
              <a:t>quiz 2/3</a:t>
            </a:r>
            <a:endParaRPr lang="en-US" sz="600" dirty="0"/>
          </a:p>
        </p:txBody>
      </p:sp>
      <p:sp>
        <p:nvSpPr>
          <p:cNvPr id="51" name="Text 49"/>
          <p:cNvSpPr/>
          <p:nvPr/>
        </p:nvSpPr>
        <p:spPr>
          <a:xfrm>
            <a:off x="553641" y="4111228"/>
            <a:ext cx="3979069" cy="421481"/>
          </a:xfrm>
          <a:prstGeom prst="rect">
            <a:avLst/>
          </a:prstGeom>
          <a:solidFill>
            <a:srgbClr val="FFFFFF"/>
          </a:solidFill>
          <a:ln w="7144">
            <a:solidFill>
              <a:srgbClr val="1A1A1A"/>
            </a:solidFill>
            <a:prstDash val="dash"/>
          </a:ln>
        </p:spPr>
        <p:txBody>
          <a:bodyPr wrap="square" rtlCol="0" anchor="ctr"/>
          <a:lstStyle/>
          <a:p>
            <a:pPr indent="0" marL="0">
              <a:buNone/>
            </a:pPr>
            <a:endParaRPr lang="en-US" dirty="0"/>
          </a:p>
        </p:txBody>
      </p:sp>
      <p:sp>
        <p:nvSpPr>
          <p:cNvPr id="52" name="Text 50"/>
          <p:cNvSpPr/>
          <p:nvPr/>
        </p:nvSpPr>
        <p:spPr>
          <a:xfrm>
            <a:off x="657225" y="4271963"/>
            <a:ext cx="3487489" cy="122895"/>
          </a:xfrm>
          <a:prstGeom prst="rect">
            <a:avLst/>
          </a:prstGeom>
          <a:noFill/>
          <a:ln/>
        </p:spPr>
        <p:txBody>
          <a:bodyPr wrap="none" lIns="0" tIns="0" rIns="0" bIns="0"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Level 3 — First contribution</a:t>
            </a:r>
            <a:endParaRPr lang="en-US" sz="800" dirty="0"/>
          </a:p>
        </p:txBody>
      </p:sp>
      <p:sp>
        <p:nvSpPr>
          <p:cNvPr id="53" name="Text 51"/>
          <p:cNvSpPr/>
          <p:nvPr/>
        </p:nvSpPr>
        <p:spPr>
          <a:xfrm>
            <a:off x="4140460" y="4279106"/>
            <a:ext cx="307208" cy="125403"/>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locked</a:t>
            </a:r>
            <a:endParaRPr lang="en-US" sz="600" dirty="0"/>
          </a:p>
        </p:txBody>
      </p:sp>
      <p:sp>
        <p:nvSpPr>
          <p:cNvPr id="54" name="Text 52"/>
          <p:cNvSpPr/>
          <p:nvPr/>
        </p:nvSpPr>
        <p:spPr>
          <a:xfrm>
            <a:off x="4857750" y="1135856"/>
            <a:ext cx="35719" cy="35719"/>
          </a:xfrm>
          <a:prstGeom prst="rect">
            <a:avLst/>
          </a:prstGeom>
          <a:solidFill>
            <a:srgbClr val="10B981"/>
          </a:solidFill>
          <a:ln/>
        </p:spPr>
        <p:txBody>
          <a:bodyPr wrap="square" rtlCol="0" anchor="ctr"/>
          <a:lstStyle/>
          <a:p>
            <a:pPr indent="0" marL="0">
              <a:buNone/>
            </a:pPr>
            <a:endParaRPr lang="en-US" dirty="0"/>
          </a:p>
        </p:txBody>
      </p:sp>
      <p:sp>
        <p:nvSpPr>
          <p:cNvPr id="55" name="Text 53"/>
          <p:cNvSpPr/>
          <p:nvPr/>
        </p:nvSpPr>
        <p:spPr>
          <a:xfrm>
            <a:off x="4979194" y="1085850"/>
            <a:ext cx="2258398" cy="133637"/>
          </a:xfrm>
          <a:prstGeom prst="rect">
            <a:avLst/>
          </a:prstGeom>
          <a:noFill/>
          <a:ln/>
        </p:spPr>
        <p:txBody>
          <a:bodyPr wrap="square" lIns="0" tIns="0" rIns="0" bIns="0" rtlCol="0" anchor="t">
            <a:normAutofit/>
          </a:bodyPr>
          <a:lstStyle/>
          <a:p>
            <a:pPr algn="l" indent="0" marL="0">
              <a:lnSpc>
                <a:spcPts val="1025"/>
              </a:lnSpc>
              <a:buNone/>
            </a:pPr>
            <a:r>
              <a:rPr lang="en-US" sz="800" dirty="0">
                <a:solidFill>
                  <a:srgbClr val="1A1A1A"/>
                </a:solidFill>
                <a:latin typeface="Carlito" pitchFamily="34" charset="0"/>
                <a:ea typeface="Carlito" pitchFamily="34" charset="-122"/>
                <a:cs typeface="Carlito" pitchFamily="34" charset="-120"/>
              </a:rPr>
              <a:t>Graph ranking — </a:t>
            </a:r>
            <a:pPr algn="l" indent="0" marL="0">
              <a:lnSpc>
                <a:spcPts val="1025"/>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incoming × 2 + outgoing</a:t>
            </a:r>
            <a:endParaRPr lang="en-US" sz="800" dirty="0"/>
          </a:p>
        </p:txBody>
      </p:sp>
      <p:sp>
        <p:nvSpPr>
          <p:cNvPr id="56" name="Text 54"/>
          <p:cNvSpPr/>
          <p:nvPr/>
        </p:nvSpPr>
        <p:spPr>
          <a:xfrm>
            <a:off x="4979194" y="1246919"/>
            <a:ext cx="2258398"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every file lands on a difficulty row from 0 to 5</a:t>
            </a:r>
            <a:endParaRPr lang="en-US" sz="675" dirty="0"/>
          </a:p>
        </p:txBody>
      </p:sp>
      <p:sp>
        <p:nvSpPr>
          <p:cNvPr id="57" name="Text 55"/>
          <p:cNvSpPr/>
          <p:nvPr/>
        </p:nvSpPr>
        <p:spPr>
          <a:xfrm>
            <a:off x="4857750" y="2112429"/>
            <a:ext cx="35719" cy="35719"/>
          </a:xfrm>
          <a:prstGeom prst="rect">
            <a:avLst/>
          </a:prstGeom>
          <a:solidFill>
            <a:srgbClr val="10B981"/>
          </a:solidFill>
          <a:ln/>
        </p:spPr>
        <p:txBody>
          <a:bodyPr wrap="square" rtlCol="0" anchor="ctr"/>
          <a:lstStyle/>
          <a:p>
            <a:pPr indent="0" marL="0">
              <a:buNone/>
            </a:pPr>
            <a:endParaRPr lang="en-US" dirty="0"/>
          </a:p>
        </p:txBody>
      </p:sp>
      <p:sp>
        <p:nvSpPr>
          <p:cNvPr id="58" name="Text 56"/>
          <p:cNvSpPr/>
          <p:nvPr/>
        </p:nvSpPr>
        <p:spPr>
          <a:xfrm>
            <a:off x="4979194" y="2062423"/>
            <a:ext cx="2181484" cy="131293"/>
          </a:xfrm>
          <a:prstGeom prst="rect">
            <a:avLst/>
          </a:prstGeom>
          <a:noFill/>
          <a:ln/>
        </p:spPr>
        <p:txBody>
          <a:bodyPr wrap="none" lIns="0" tIns="0" rIns="0" bIns="0" rtlCol="0" anchor="t">
            <a:normAutofit/>
          </a:bodyPr>
          <a:lstStyle/>
          <a:p>
            <a:pPr algn="l" indent="0" marL="0">
              <a:lnSpc>
                <a:spcPts val="1025"/>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Row 4–5 = Good First Issues</a:t>
            </a:r>
            <a:endParaRPr lang="en-US" sz="800" dirty="0"/>
          </a:p>
        </p:txBody>
      </p:sp>
      <p:sp>
        <p:nvSpPr>
          <p:cNvPr id="59" name="Text 57"/>
          <p:cNvSpPr/>
          <p:nvPr/>
        </p:nvSpPr>
        <p:spPr>
          <a:xfrm>
            <a:off x="4979194" y="2221148"/>
            <a:ext cx="2077603"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gentle, well-scoped entry points surfaced automatically</a:t>
            </a:r>
            <a:endParaRPr lang="en-US" sz="675" dirty="0"/>
          </a:p>
        </p:txBody>
      </p:sp>
      <p:sp>
        <p:nvSpPr>
          <p:cNvPr id="60" name="Text 58"/>
          <p:cNvSpPr/>
          <p:nvPr/>
        </p:nvSpPr>
        <p:spPr>
          <a:xfrm>
            <a:off x="4857750" y="3086546"/>
            <a:ext cx="35719" cy="35719"/>
          </a:xfrm>
          <a:prstGeom prst="rect">
            <a:avLst/>
          </a:prstGeom>
          <a:solidFill>
            <a:srgbClr val="10B981"/>
          </a:solidFill>
          <a:ln/>
        </p:spPr>
        <p:txBody>
          <a:bodyPr wrap="square" rtlCol="0" anchor="ctr"/>
          <a:lstStyle/>
          <a:p>
            <a:pPr indent="0" marL="0">
              <a:buNone/>
            </a:pPr>
            <a:endParaRPr lang="en-US" dirty="0"/>
          </a:p>
        </p:txBody>
      </p:sp>
      <p:sp>
        <p:nvSpPr>
          <p:cNvPr id="61" name="Text 59"/>
          <p:cNvSpPr/>
          <p:nvPr/>
        </p:nvSpPr>
        <p:spPr>
          <a:xfrm>
            <a:off x="4979194" y="3036540"/>
            <a:ext cx="1936531" cy="131293"/>
          </a:xfrm>
          <a:prstGeom prst="rect">
            <a:avLst/>
          </a:prstGeom>
          <a:noFill/>
          <a:ln/>
        </p:spPr>
        <p:txBody>
          <a:bodyPr wrap="none" lIns="0" tIns="0" rIns="0" bIns="0" rtlCol="0" anchor="t">
            <a:normAutofit/>
          </a:bodyPr>
          <a:lstStyle/>
          <a:p>
            <a:pPr algn="l" indent="0" marL="0">
              <a:lnSpc>
                <a:spcPts val="1025"/>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3 quizzes per level</a:t>
            </a:r>
            <a:endParaRPr lang="en-US" sz="800" dirty="0"/>
          </a:p>
        </p:txBody>
      </p:sp>
      <p:sp>
        <p:nvSpPr>
          <p:cNvPr id="62" name="Text 60"/>
          <p:cNvSpPr/>
          <p:nvPr/>
        </p:nvSpPr>
        <p:spPr>
          <a:xfrm>
            <a:off x="4979194" y="3195265"/>
            <a:ext cx="1844315"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understanding is verified before the path unlocks</a:t>
            </a:r>
            <a:endParaRPr lang="en-US" sz="675" dirty="0"/>
          </a:p>
        </p:txBody>
      </p:sp>
      <p:sp>
        <p:nvSpPr>
          <p:cNvPr id="63" name="Text 61"/>
          <p:cNvSpPr/>
          <p:nvPr/>
        </p:nvSpPr>
        <p:spPr>
          <a:xfrm>
            <a:off x="4857750" y="4010769"/>
            <a:ext cx="3886200" cy="675531"/>
          </a:xfrm>
          <a:prstGeom prst="rect">
            <a:avLst/>
          </a:prstGeom>
          <a:solidFill>
            <a:srgbClr val="FFFFFF"/>
          </a:solidFill>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64" name="Shape 62"/>
          <p:cNvSpPr/>
          <p:nvPr/>
        </p:nvSpPr>
        <p:spPr>
          <a:xfrm>
            <a:off x="4857750" y="4014341"/>
            <a:ext cx="3886200" cy="0"/>
          </a:xfrm>
          <a:prstGeom prst="line">
            <a:avLst/>
          </a:prstGeom>
          <a:noFill/>
          <a:ln w="7144">
            <a:solidFill>
              <a:srgbClr val="1A1A1A"/>
            </a:solidFill>
            <a:prstDash val="solid"/>
          </a:ln>
        </p:spPr>
      </p:sp>
      <p:sp>
        <p:nvSpPr>
          <p:cNvPr id="65" name="Shape 63"/>
          <p:cNvSpPr/>
          <p:nvPr/>
        </p:nvSpPr>
        <p:spPr>
          <a:xfrm>
            <a:off x="8740378" y="4010769"/>
            <a:ext cx="0" cy="675531"/>
          </a:xfrm>
          <a:prstGeom prst="line">
            <a:avLst/>
          </a:prstGeom>
          <a:noFill/>
          <a:ln w="7144">
            <a:solidFill>
              <a:srgbClr val="1A1A1A"/>
            </a:solidFill>
            <a:prstDash val="solid"/>
          </a:ln>
        </p:spPr>
      </p:sp>
      <p:sp>
        <p:nvSpPr>
          <p:cNvPr id="66" name="Shape 64"/>
          <p:cNvSpPr/>
          <p:nvPr/>
        </p:nvSpPr>
        <p:spPr>
          <a:xfrm>
            <a:off x="4857750" y="4682728"/>
            <a:ext cx="3886200" cy="0"/>
          </a:xfrm>
          <a:prstGeom prst="line">
            <a:avLst/>
          </a:prstGeom>
          <a:noFill/>
          <a:ln w="7144">
            <a:solidFill>
              <a:srgbClr val="1A1A1A"/>
            </a:solidFill>
            <a:prstDash val="solid"/>
          </a:ln>
        </p:spPr>
      </p:sp>
      <p:sp>
        <p:nvSpPr>
          <p:cNvPr id="67" name="Shape 65"/>
          <p:cNvSpPr/>
          <p:nvPr/>
        </p:nvSpPr>
        <p:spPr>
          <a:xfrm>
            <a:off x="4872038" y="4010769"/>
            <a:ext cx="0" cy="675531"/>
          </a:xfrm>
          <a:prstGeom prst="line">
            <a:avLst/>
          </a:prstGeom>
          <a:noFill/>
          <a:ln w="28575">
            <a:solidFill>
              <a:srgbClr val="10B981"/>
            </a:solidFill>
            <a:prstDash val="solid"/>
          </a:ln>
        </p:spPr>
      </p:sp>
      <p:sp>
        <p:nvSpPr>
          <p:cNvPr id="68" name="Text 66"/>
          <p:cNvSpPr/>
          <p:nvPr/>
        </p:nvSpPr>
        <p:spPr>
          <a:xfrm>
            <a:off x="4986338" y="4103638"/>
            <a:ext cx="3650456" cy="91440"/>
          </a:xfrm>
          <a:prstGeom prst="rect">
            <a:avLst/>
          </a:prstGeom>
          <a:noFill/>
          <a:ln/>
        </p:spPr>
        <p:txBody>
          <a:bodyPr wrap="none" lIns="0" tIns="0" rIns="0" bIns="0" rtlCol="0" anchor="t">
            <a:normAutofit/>
          </a:bodyPr>
          <a:lstStyle/>
          <a:p>
            <a:pPr algn="l" indent="0" marL="0">
              <a:buNone/>
            </a:pPr>
            <a:r>
              <a:rPr lang="en-US" sz="800" b="1" spc="79" kern="0" dirty="0">
                <a:solidFill>
                  <a:srgbClr val="10B981"/>
                </a:solidFill>
                <a:latin typeface="Courier New" pitchFamily="34" charset="0"/>
                <a:ea typeface="Courier New" pitchFamily="34" charset="-122"/>
                <a:cs typeface="Courier New" pitchFamily="34" charset="-120"/>
              </a:rPr>
              <a:t>IMPACT</a:t>
            </a:r>
            <a:endParaRPr lang="en-US" sz="800" dirty="0"/>
          </a:p>
        </p:txBody>
      </p:sp>
      <p:sp>
        <p:nvSpPr>
          <p:cNvPr id="69" name="Text 67"/>
          <p:cNvSpPr/>
          <p:nvPr/>
        </p:nvSpPr>
        <p:spPr>
          <a:xfrm>
            <a:off x="4986338" y="4217938"/>
            <a:ext cx="3760184" cy="150930"/>
          </a:xfrm>
          <a:prstGeom prst="rect">
            <a:avLst/>
          </a:prstGeom>
          <a:noFill/>
          <a:ln/>
        </p:spPr>
        <p:txBody>
          <a:bodyPr wrap="square" lIns="0" tIns="0" rIns="0" bIns="0" rtlCol="0" anchor="t"/>
          <a:lstStyle/>
          <a:p>
            <a:pPr algn="l" indent="0" marL="0">
              <a:lnSpc>
                <a:spcPts val="1101"/>
              </a:lnSpc>
              <a:buNone/>
            </a:pPr>
            <a:r>
              <a:rPr lang="en-US" sz="816" b="1" dirty="0">
                <a:solidFill>
                  <a:srgbClr val="1A1A1A"/>
                </a:solidFill>
                <a:latin typeface="Liberation Sans Narrow" pitchFamily="34" charset="0"/>
                <a:ea typeface="Liberation Sans Narrow" pitchFamily="34" charset="-122"/>
                <a:cs typeface="Liberation Sans Narrow" pitchFamily="34" charset="-120"/>
              </a:rPr>
              <a:t>Onboarding: days → 20 minutes.</a:t>
            </a:r>
            <a:endParaRPr lang="en-US" sz="816" dirty="0"/>
          </a:p>
        </p:txBody>
      </p:sp>
      <p:sp>
        <p:nvSpPr>
          <p:cNvPr id="70" name="Text 68"/>
          <p:cNvSpPr/>
          <p:nvPr/>
        </p:nvSpPr>
        <p:spPr>
          <a:xfrm>
            <a:off x="4989909" y="4439841"/>
            <a:ext cx="1704789" cy="150019"/>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71" name="Text 69"/>
          <p:cNvSpPr/>
          <p:nvPr/>
        </p:nvSpPr>
        <p:spPr>
          <a:xfrm>
            <a:off x="5079206" y="4493419"/>
            <a:ext cx="42863" cy="42863"/>
          </a:xfrm>
          <a:prstGeom prst="roundRect">
            <a:avLst>
              <a:gd name="adj" fmla="val 66666"/>
            </a:avLst>
          </a:prstGeom>
          <a:solidFill>
            <a:srgbClr val="D4AF37"/>
          </a:solidFill>
          <a:ln/>
        </p:spPr>
        <p:txBody>
          <a:bodyPr wrap="square" rtlCol="0" anchor="ctr"/>
          <a:lstStyle/>
          <a:p>
            <a:pPr indent="0" marL="0">
              <a:buNone/>
            </a:pPr>
            <a:endParaRPr lang="en-US" dirty="0"/>
          </a:p>
        </p:txBody>
      </p:sp>
      <p:sp>
        <p:nvSpPr>
          <p:cNvPr id="72" name="Text 70"/>
          <p:cNvSpPr/>
          <p:nvPr/>
        </p:nvSpPr>
        <p:spPr>
          <a:xfrm>
            <a:off x="4986338" y="4436269"/>
            <a:ext cx="1711933" cy="157163"/>
          </a:xfrm>
          <a:prstGeom prst="rect">
            <a:avLst/>
          </a:prstGeom>
          <a:noFill/>
          <a:ln/>
        </p:spPr>
        <p:txBody>
          <a:bodyPr wrap="none" lIns="85725" tIns="28575" rIns="85725" bIns="28575" rtlCol="0" anchor="t"/>
          <a:lstStyle/>
          <a:p>
            <a:pPr algn="l" indent="0" marL="0">
              <a:buNone/>
            </a:pPr>
            <a:r>
              <a:rPr lang="en-US" sz="600" dirty="0">
                <a:solidFill>
                  <a:srgbClr val="1A1A1A"/>
                </a:solidFill>
                <a:latin typeface="Courier New" pitchFamily="34" charset="0"/>
                <a:ea typeface="Courier New" pitchFamily="34" charset="-122"/>
                <a:cs typeface="Courier New" pitchFamily="34" charset="-120"/>
              </a:rPr>
              <a:t>ML Empowerment · education track</a:t>
            </a:r>
            <a:endParaRPr lang="en-US" sz="600" dirty="0"/>
          </a:p>
        </p:txBody>
      </p:sp>
      <p:sp>
        <p:nvSpPr>
          <p:cNvPr id="73" name="Text 71"/>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385763"/>
            <a:ext cx="1967614" cy="119703"/>
          </a:xfrm>
          <a:prstGeom prst="rect">
            <a:avLst/>
          </a:prstGeom>
          <a:noFill/>
          <a:ln/>
        </p:spPr>
        <p:txBody>
          <a:bodyPr wrap="none" lIns="0" tIns="0" rIns="0" bIns="0" rtlCol="0" anchor="t"/>
          <a:lstStyle/>
          <a:p>
            <a:pPr algn="l" indent="0" marL="0">
              <a:buNone/>
            </a:pPr>
            <a:r>
              <a:rPr lang="en-US" sz="800" b="1" spc="87" kern="0" dirty="0">
                <a:solidFill>
                  <a:srgbClr val="10B981"/>
                </a:solidFill>
                <a:latin typeface="Liberation Sans Narrow" pitchFamily="34" charset="0"/>
                <a:ea typeface="Liberation Sans Narrow" pitchFamily="34" charset="-122"/>
                <a:cs typeface="Liberation Sans Narrow" pitchFamily="34" charset="-120"/>
              </a:rPr>
              <a:t>NEW IN 3.0 · FEATURE 03 / 05</a:t>
            </a:r>
            <a:endParaRPr lang="en-US" sz="800" dirty="0"/>
          </a:p>
        </p:txBody>
      </p:sp>
      <p:sp>
        <p:nvSpPr>
          <p:cNvPr id="3" name="Text 1"/>
          <p:cNvSpPr/>
          <p:nvPr/>
        </p:nvSpPr>
        <p:spPr>
          <a:xfrm>
            <a:off x="400050" y="528638"/>
            <a:ext cx="1644698"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Voice Code Tours.</a:t>
            </a:r>
            <a:endParaRPr lang="en-US" sz="1519" dirty="0"/>
          </a:p>
        </p:txBody>
      </p:sp>
      <p:sp>
        <p:nvSpPr>
          <p:cNvPr id="4" name="Text 2"/>
          <p:cNvSpPr/>
          <p:nvPr/>
        </p:nvSpPr>
        <p:spPr>
          <a:xfrm>
            <a:off x="400050" y="814388"/>
            <a:ext cx="1056304" cy="126609"/>
          </a:xfrm>
          <a:prstGeom prst="rect">
            <a:avLst/>
          </a:prstGeom>
          <a:noFill/>
          <a:ln/>
        </p:spPr>
        <p:txBody>
          <a:bodyPr wrap="none" lIns="0" tIns="0" rIns="0" bIns="0" rtlCol="0" anchor="t"/>
          <a:lstStyle/>
          <a:p>
            <a:pPr algn="l" indent="0" marL="0">
              <a:buNone/>
            </a:pPr>
            <a:r>
              <a:rPr lang="en-US" sz="731" dirty="0">
                <a:solidFill>
                  <a:srgbClr val="6B6B6B"/>
                </a:solidFill>
                <a:latin typeface="Carlito" pitchFamily="34" charset="0"/>
                <a:ea typeface="Carlito" pitchFamily="34" charset="-122"/>
                <a:cs typeface="Carlito" pitchFamily="34" charset="-120"/>
              </a:rPr>
              <a:t>the repo that talks back</a:t>
            </a:r>
            <a:endParaRPr lang="en-US" sz="731" dirty="0"/>
          </a:p>
        </p:txBody>
      </p:sp>
      <p:sp>
        <p:nvSpPr>
          <p:cNvPr id="5" name="Text 3"/>
          <p:cNvSpPr/>
          <p:nvPr/>
        </p:nvSpPr>
        <p:spPr>
          <a:xfrm>
            <a:off x="403622" y="1089422"/>
            <a:ext cx="4279106" cy="359330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6" name="Text 4"/>
          <p:cNvSpPr/>
          <p:nvPr/>
        </p:nvSpPr>
        <p:spPr>
          <a:xfrm>
            <a:off x="539353" y="1225153"/>
            <a:ext cx="992981" cy="278606"/>
          </a:xfrm>
          <a:prstGeom prst="rect">
            <a:avLst/>
          </a:prstGeom>
          <a:solidFill>
            <a:srgbClr val="10B981"/>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7" name="Text 5"/>
          <p:cNvSpPr/>
          <p:nvPr/>
        </p:nvSpPr>
        <p:spPr>
          <a:xfrm>
            <a:off x="535781" y="1221581"/>
            <a:ext cx="2967335" cy="285750"/>
          </a:xfrm>
          <a:prstGeom prst="rect">
            <a:avLst/>
          </a:prstGeom>
          <a:noFill/>
          <a:ln/>
        </p:spPr>
        <p:txBody>
          <a:bodyPr wrap="none" lIns="0" tIns="0" rIns="0" bIns="0" rtlCol="0" anchor="ctr"/>
          <a:lstStyle/>
          <a:p>
            <a:pPr algn="ctr" indent="0" marL="0">
              <a:buNone/>
            </a:pPr>
            <a:r>
              <a:rPr lang="en-US" sz="800" b="1" dirty="0">
                <a:solidFill>
                  <a:srgbClr val="0D1117"/>
                </a:solidFill>
                <a:latin typeface="Carlito" pitchFamily="34" charset="0"/>
                <a:ea typeface="Carlito" pitchFamily="34" charset="-122"/>
                <a:cs typeface="Carlito" pitchFamily="34" charset="-120"/>
              </a:rPr>
              <a:t>Play Tour</a:t>
            </a:r>
            <a:endParaRPr lang="en-US" sz="800" dirty="0"/>
          </a:p>
        </p:txBody>
      </p:sp>
      <p:sp>
        <p:nvSpPr>
          <p:cNvPr id="8" name="Text 6"/>
          <p:cNvSpPr/>
          <p:nvPr/>
        </p:nvSpPr>
        <p:spPr>
          <a:xfrm>
            <a:off x="3560266" y="1321594"/>
            <a:ext cx="990302" cy="125403"/>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narration: browser TTS</a:t>
            </a:r>
            <a:endParaRPr lang="en-US" sz="600" dirty="0"/>
          </a:p>
        </p:txBody>
      </p:sp>
      <p:sp>
        <p:nvSpPr>
          <p:cNvPr id="9" name="Text 7"/>
          <p:cNvSpPr/>
          <p:nvPr/>
        </p:nvSpPr>
        <p:spPr>
          <a:xfrm>
            <a:off x="535781" y="1728788"/>
            <a:ext cx="21431" cy="85725"/>
          </a:xfrm>
          <a:prstGeom prst="rect">
            <a:avLst/>
          </a:prstGeom>
          <a:solidFill>
            <a:srgbClr val="6B6B6B"/>
          </a:solidFill>
          <a:ln/>
        </p:spPr>
        <p:txBody>
          <a:bodyPr wrap="square" rtlCol="0" anchor="ctr"/>
          <a:lstStyle/>
          <a:p>
            <a:pPr indent="0" marL="0">
              <a:buNone/>
            </a:pPr>
            <a:endParaRPr lang="en-US" dirty="0"/>
          </a:p>
        </p:txBody>
      </p:sp>
      <p:sp>
        <p:nvSpPr>
          <p:cNvPr id="10" name="Text 8"/>
          <p:cNvSpPr/>
          <p:nvPr/>
        </p:nvSpPr>
        <p:spPr>
          <a:xfrm>
            <a:off x="607219" y="1700213"/>
            <a:ext cx="21431" cy="142875"/>
          </a:xfrm>
          <a:prstGeom prst="rect">
            <a:avLst/>
          </a:prstGeom>
          <a:solidFill>
            <a:srgbClr val="6B6B6B"/>
          </a:solidFill>
          <a:ln/>
        </p:spPr>
        <p:txBody>
          <a:bodyPr wrap="square" rtlCol="0" anchor="ctr"/>
          <a:lstStyle/>
          <a:p>
            <a:pPr indent="0" marL="0">
              <a:buNone/>
            </a:pPr>
            <a:endParaRPr lang="en-US" dirty="0"/>
          </a:p>
        </p:txBody>
      </p:sp>
      <p:sp>
        <p:nvSpPr>
          <p:cNvPr id="11" name="Text 9"/>
          <p:cNvSpPr/>
          <p:nvPr/>
        </p:nvSpPr>
        <p:spPr>
          <a:xfrm>
            <a:off x="678656" y="1671638"/>
            <a:ext cx="21431" cy="200025"/>
          </a:xfrm>
          <a:prstGeom prst="rect">
            <a:avLst/>
          </a:prstGeom>
          <a:solidFill>
            <a:srgbClr val="6B6B6B"/>
          </a:solidFill>
          <a:ln/>
        </p:spPr>
        <p:txBody>
          <a:bodyPr wrap="square" rtlCol="0" anchor="ctr"/>
          <a:lstStyle/>
          <a:p>
            <a:pPr indent="0" marL="0">
              <a:buNone/>
            </a:pPr>
            <a:endParaRPr lang="en-US" dirty="0"/>
          </a:p>
        </p:txBody>
      </p:sp>
      <p:sp>
        <p:nvSpPr>
          <p:cNvPr id="12" name="Text 10"/>
          <p:cNvSpPr/>
          <p:nvPr/>
        </p:nvSpPr>
        <p:spPr>
          <a:xfrm>
            <a:off x="750094" y="1714500"/>
            <a:ext cx="21431" cy="114300"/>
          </a:xfrm>
          <a:prstGeom prst="rect">
            <a:avLst/>
          </a:prstGeom>
          <a:solidFill>
            <a:srgbClr val="6B6B6B"/>
          </a:solidFill>
          <a:ln/>
        </p:spPr>
        <p:txBody>
          <a:bodyPr wrap="square" rtlCol="0" anchor="ctr"/>
          <a:lstStyle/>
          <a:p>
            <a:pPr indent="0" marL="0">
              <a:buNone/>
            </a:pPr>
            <a:endParaRPr lang="en-US" dirty="0"/>
          </a:p>
        </p:txBody>
      </p:sp>
      <p:sp>
        <p:nvSpPr>
          <p:cNvPr id="13" name="Text 11"/>
          <p:cNvSpPr/>
          <p:nvPr/>
        </p:nvSpPr>
        <p:spPr>
          <a:xfrm>
            <a:off x="821531" y="1650206"/>
            <a:ext cx="21431" cy="242888"/>
          </a:xfrm>
          <a:prstGeom prst="rect">
            <a:avLst/>
          </a:prstGeom>
          <a:solidFill>
            <a:srgbClr val="10B981"/>
          </a:solidFill>
          <a:ln/>
        </p:spPr>
        <p:txBody>
          <a:bodyPr wrap="square" rtlCol="0" anchor="ctr"/>
          <a:lstStyle/>
          <a:p>
            <a:pPr indent="0" marL="0">
              <a:buNone/>
            </a:pPr>
            <a:endParaRPr lang="en-US" dirty="0"/>
          </a:p>
        </p:txBody>
      </p:sp>
      <p:sp>
        <p:nvSpPr>
          <p:cNvPr id="14" name="Text 12"/>
          <p:cNvSpPr/>
          <p:nvPr/>
        </p:nvSpPr>
        <p:spPr>
          <a:xfrm>
            <a:off x="892969" y="1693069"/>
            <a:ext cx="21431" cy="157163"/>
          </a:xfrm>
          <a:prstGeom prst="rect">
            <a:avLst/>
          </a:prstGeom>
          <a:solidFill>
            <a:srgbClr val="10B981"/>
          </a:solidFill>
          <a:ln/>
        </p:spPr>
        <p:txBody>
          <a:bodyPr wrap="square" rtlCol="0" anchor="ctr"/>
          <a:lstStyle/>
          <a:p>
            <a:pPr indent="0" marL="0">
              <a:buNone/>
            </a:pPr>
            <a:endParaRPr lang="en-US" dirty="0"/>
          </a:p>
        </p:txBody>
      </p:sp>
      <p:sp>
        <p:nvSpPr>
          <p:cNvPr id="15" name="Text 13"/>
          <p:cNvSpPr/>
          <p:nvPr/>
        </p:nvSpPr>
        <p:spPr>
          <a:xfrm>
            <a:off x="964406" y="1735931"/>
            <a:ext cx="21431" cy="71438"/>
          </a:xfrm>
          <a:prstGeom prst="rect">
            <a:avLst/>
          </a:prstGeom>
          <a:solidFill>
            <a:srgbClr val="6B6B6B"/>
          </a:solidFill>
          <a:ln/>
        </p:spPr>
        <p:txBody>
          <a:bodyPr wrap="square" rtlCol="0" anchor="ctr"/>
          <a:lstStyle/>
          <a:p>
            <a:pPr indent="0" marL="0">
              <a:buNone/>
            </a:pPr>
            <a:endParaRPr lang="en-US" dirty="0"/>
          </a:p>
        </p:txBody>
      </p:sp>
      <p:sp>
        <p:nvSpPr>
          <p:cNvPr id="16" name="Text 14"/>
          <p:cNvSpPr/>
          <p:nvPr/>
        </p:nvSpPr>
        <p:spPr>
          <a:xfrm>
            <a:off x="1035844" y="1678781"/>
            <a:ext cx="21431" cy="185738"/>
          </a:xfrm>
          <a:prstGeom prst="rect">
            <a:avLst/>
          </a:prstGeom>
          <a:solidFill>
            <a:srgbClr val="6B6B6B"/>
          </a:solidFill>
          <a:ln/>
        </p:spPr>
        <p:txBody>
          <a:bodyPr wrap="square" rtlCol="0" anchor="ctr"/>
          <a:lstStyle/>
          <a:p>
            <a:pPr indent="0" marL="0">
              <a:buNone/>
            </a:pPr>
            <a:endParaRPr lang="en-US" dirty="0"/>
          </a:p>
        </p:txBody>
      </p:sp>
      <p:sp>
        <p:nvSpPr>
          <p:cNvPr id="17" name="Text 15"/>
          <p:cNvSpPr/>
          <p:nvPr/>
        </p:nvSpPr>
        <p:spPr>
          <a:xfrm>
            <a:off x="1107281" y="1707356"/>
            <a:ext cx="21431" cy="128588"/>
          </a:xfrm>
          <a:prstGeom prst="rect">
            <a:avLst/>
          </a:prstGeom>
          <a:solidFill>
            <a:srgbClr val="6B6B6B"/>
          </a:solidFill>
          <a:ln/>
        </p:spPr>
        <p:txBody>
          <a:bodyPr wrap="square" rtlCol="0" anchor="ctr"/>
          <a:lstStyle/>
          <a:p>
            <a:pPr indent="0" marL="0">
              <a:buNone/>
            </a:pPr>
            <a:endParaRPr lang="en-US" dirty="0"/>
          </a:p>
        </p:txBody>
      </p:sp>
      <p:sp>
        <p:nvSpPr>
          <p:cNvPr id="18" name="Text 16"/>
          <p:cNvSpPr/>
          <p:nvPr/>
        </p:nvSpPr>
        <p:spPr>
          <a:xfrm>
            <a:off x="1178719" y="1664494"/>
            <a:ext cx="21431" cy="214313"/>
          </a:xfrm>
          <a:prstGeom prst="rect">
            <a:avLst/>
          </a:prstGeom>
          <a:solidFill>
            <a:srgbClr val="6B6B6B"/>
          </a:solidFill>
          <a:ln/>
        </p:spPr>
        <p:txBody>
          <a:bodyPr wrap="square" rtlCol="0" anchor="ctr"/>
          <a:lstStyle/>
          <a:p>
            <a:pPr indent="0" marL="0">
              <a:buNone/>
            </a:pPr>
            <a:endParaRPr lang="en-US" dirty="0"/>
          </a:p>
        </p:txBody>
      </p:sp>
      <p:sp>
        <p:nvSpPr>
          <p:cNvPr id="19" name="Text 17"/>
          <p:cNvSpPr/>
          <p:nvPr/>
        </p:nvSpPr>
        <p:spPr>
          <a:xfrm>
            <a:off x="1250156" y="1721644"/>
            <a:ext cx="21431" cy="100013"/>
          </a:xfrm>
          <a:prstGeom prst="rect">
            <a:avLst/>
          </a:prstGeom>
          <a:solidFill>
            <a:srgbClr val="10B981"/>
          </a:solidFill>
          <a:ln/>
        </p:spPr>
        <p:txBody>
          <a:bodyPr wrap="square" rtlCol="0" anchor="ctr"/>
          <a:lstStyle/>
          <a:p>
            <a:pPr indent="0" marL="0">
              <a:buNone/>
            </a:pPr>
            <a:endParaRPr lang="en-US" dirty="0"/>
          </a:p>
        </p:txBody>
      </p:sp>
      <p:sp>
        <p:nvSpPr>
          <p:cNvPr id="20" name="Text 18"/>
          <p:cNvSpPr/>
          <p:nvPr/>
        </p:nvSpPr>
        <p:spPr>
          <a:xfrm>
            <a:off x="1321594" y="1743075"/>
            <a:ext cx="21431" cy="57150"/>
          </a:xfrm>
          <a:prstGeom prst="rect">
            <a:avLst/>
          </a:prstGeom>
          <a:solidFill>
            <a:srgbClr val="10B981"/>
          </a:solidFill>
          <a:ln/>
        </p:spPr>
        <p:txBody>
          <a:bodyPr wrap="square" rtlCol="0" anchor="ctr"/>
          <a:lstStyle/>
          <a:p>
            <a:pPr indent="0" marL="0">
              <a:buNone/>
            </a:pPr>
            <a:endParaRPr lang="en-US" dirty="0"/>
          </a:p>
        </p:txBody>
      </p:sp>
      <p:sp>
        <p:nvSpPr>
          <p:cNvPr id="21" name="Text 19"/>
          <p:cNvSpPr/>
          <p:nvPr/>
        </p:nvSpPr>
        <p:spPr>
          <a:xfrm>
            <a:off x="1393031" y="1685925"/>
            <a:ext cx="21431" cy="171450"/>
          </a:xfrm>
          <a:prstGeom prst="rect">
            <a:avLst/>
          </a:prstGeom>
          <a:solidFill>
            <a:srgbClr val="6B6B6B"/>
          </a:solidFill>
          <a:ln/>
        </p:spPr>
        <p:txBody>
          <a:bodyPr wrap="square" rtlCol="0" anchor="ctr"/>
          <a:lstStyle/>
          <a:p>
            <a:pPr indent="0" marL="0">
              <a:buNone/>
            </a:pPr>
            <a:endParaRPr lang="en-US" dirty="0"/>
          </a:p>
        </p:txBody>
      </p:sp>
      <p:sp>
        <p:nvSpPr>
          <p:cNvPr id="22" name="Text 20"/>
          <p:cNvSpPr/>
          <p:nvPr/>
        </p:nvSpPr>
        <p:spPr>
          <a:xfrm>
            <a:off x="1464469" y="1650206"/>
            <a:ext cx="21431" cy="242888"/>
          </a:xfrm>
          <a:prstGeom prst="rect">
            <a:avLst/>
          </a:prstGeom>
          <a:solidFill>
            <a:srgbClr val="6B6B6B"/>
          </a:solidFill>
          <a:ln/>
        </p:spPr>
        <p:txBody>
          <a:bodyPr wrap="square" rtlCol="0" anchor="ctr"/>
          <a:lstStyle/>
          <a:p>
            <a:pPr indent="0" marL="0">
              <a:buNone/>
            </a:pPr>
            <a:endParaRPr lang="en-US" dirty="0"/>
          </a:p>
        </p:txBody>
      </p:sp>
      <p:sp>
        <p:nvSpPr>
          <p:cNvPr id="23" name="Text 21"/>
          <p:cNvSpPr/>
          <p:nvPr/>
        </p:nvSpPr>
        <p:spPr>
          <a:xfrm>
            <a:off x="1535906" y="1728788"/>
            <a:ext cx="21431" cy="85725"/>
          </a:xfrm>
          <a:prstGeom prst="rect">
            <a:avLst/>
          </a:prstGeom>
          <a:solidFill>
            <a:srgbClr val="6B6B6B"/>
          </a:solidFill>
          <a:ln/>
        </p:spPr>
        <p:txBody>
          <a:bodyPr wrap="square" rtlCol="0" anchor="ctr"/>
          <a:lstStyle/>
          <a:p>
            <a:pPr indent="0" marL="0">
              <a:buNone/>
            </a:pPr>
            <a:endParaRPr lang="en-US" dirty="0"/>
          </a:p>
        </p:txBody>
      </p:sp>
      <p:sp>
        <p:nvSpPr>
          <p:cNvPr id="24" name="Text 22"/>
          <p:cNvSpPr/>
          <p:nvPr/>
        </p:nvSpPr>
        <p:spPr>
          <a:xfrm>
            <a:off x="1607344" y="1700213"/>
            <a:ext cx="21431" cy="142875"/>
          </a:xfrm>
          <a:prstGeom prst="rect">
            <a:avLst/>
          </a:prstGeom>
          <a:solidFill>
            <a:srgbClr val="6B6B6B"/>
          </a:solidFill>
          <a:ln/>
        </p:spPr>
        <p:txBody>
          <a:bodyPr wrap="square" rtlCol="0" anchor="ctr"/>
          <a:lstStyle/>
          <a:p>
            <a:pPr indent="0" marL="0">
              <a:buNone/>
            </a:pPr>
            <a:endParaRPr lang="en-US" dirty="0"/>
          </a:p>
        </p:txBody>
      </p:sp>
      <p:sp>
        <p:nvSpPr>
          <p:cNvPr id="25" name="Text 23"/>
          <p:cNvSpPr/>
          <p:nvPr/>
        </p:nvSpPr>
        <p:spPr>
          <a:xfrm>
            <a:off x="1678781" y="1735931"/>
            <a:ext cx="21431" cy="71438"/>
          </a:xfrm>
          <a:prstGeom prst="rect">
            <a:avLst/>
          </a:prstGeom>
          <a:solidFill>
            <a:srgbClr val="10B981"/>
          </a:solidFill>
          <a:ln/>
        </p:spPr>
        <p:txBody>
          <a:bodyPr wrap="square" rtlCol="0" anchor="ctr"/>
          <a:lstStyle/>
          <a:p>
            <a:pPr indent="0" marL="0">
              <a:buNone/>
            </a:pPr>
            <a:endParaRPr lang="en-US" dirty="0"/>
          </a:p>
        </p:txBody>
      </p:sp>
      <p:sp>
        <p:nvSpPr>
          <p:cNvPr id="26" name="Text 24"/>
          <p:cNvSpPr/>
          <p:nvPr/>
        </p:nvSpPr>
        <p:spPr>
          <a:xfrm>
            <a:off x="1750219" y="1671638"/>
            <a:ext cx="21431" cy="200025"/>
          </a:xfrm>
          <a:prstGeom prst="rect">
            <a:avLst/>
          </a:prstGeom>
          <a:solidFill>
            <a:srgbClr val="10B981"/>
          </a:solidFill>
          <a:ln/>
        </p:spPr>
        <p:txBody>
          <a:bodyPr wrap="square" rtlCol="0" anchor="ctr"/>
          <a:lstStyle/>
          <a:p>
            <a:pPr indent="0" marL="0">
              <a:buNone/>
            </a:pPr>
            <a:endParaRPr lang="en-US" dirty="0"/>
          </a:p>
        </p:txBody>
      </p:sp>
      <p:sp>
        <p:nvSpPr>
          <p:cNvPr id="27" name="Text 25"/>
          <p:cNvSpPr/>
          <p:nvPr/>
        </p:nvSpPr>
        <p:spPr>
          <a:xfrm>
            <a:off x="1821656" y="1714500"/>
            <a:ext cx="21431" cy="114300"/>
          </a:xfrm>
          <a:prstGeom prst="rect">
            <a:avLst/>
          </a:prstGeom>
          <a:solidFill>
            <a:srgbClr val="6B6B6B"/>
          </a:solidFill>
          <a:ln/>
        </p:spPr>
        <p:txBody>
          <a:bodyPr wrap="square" rtlCol="0" anchor="ctr"/>
          <a:lstStyle/>
          <a:p>
            <a:pPr indent="0" marL="0">
              <a:buNone/>
            </a:pPr>
            <a:endParaRPr lang="en-US" dirty="0"/>
          </a:p>
        </p:txBody>
      </p:sp>
      <p:sp>
        <p:nvSpPr>
          <p:cNvPr id="28" name="Text 26"/>
          <p:cNvSpPr/>
          <p:nvPr/>
        </p:nvSpPr>
        <p:spPr>
          <a:xfrm>
            <a:off x="1893094" y="1657350"/>
            <a:ext cx="21431" cy="228600"/>
          </a:xfrm>
          <a:prstGeom prst="rect">
            <a:avLst/>
          </a:prstGeom>
          <a:solidFill>
            <a:srgbClr val="6B6B6B"/>
          </a:solidFill>
          <a:ln/>
        </p:spPr>
        <p:txBody>
          <a:bodyPr wrap="square" rtlCol="0" anchor="ctr"/>
          <a:lstStyle/>
          <a:p>
            <a:pPr indent="0" marL="0">
              <a:buNone/>
            </a:pPr>
            <a:endParaRPr lang="en-US" dirty="0"/>
          </a:p>
        </p:txBody>
      </p:sp>
      <p:sp>
        <p:nvSpPr>
          <p:cNvPr id="29" name="Text 27"/>
          <p:cNvSpPr/>
          <p:nvPr/>
        </p:nvSpPr>
        <p:spPr>
          <a:xfrm>
            <a:off x="1964531" y="1693069"/>
            <a:ext cx="21431" cy="157163"/>
          </a:xfrm>
          <a:prstGeom prst="rect">
            <a:avLst/>
          </a:prstGeom>
          <a:solidFill>
            <a:srgbClr val="6B6B6B"/>
          </a:solidFill>
          <a:ln/>
        </p:spPr>
        <p:txBody>
          <a:bodyPr wrap="square" rtlCol="0" anchor="ctr"/>
          <a:lstStyle/>
          <a:p>
            <a:pPr indent="0" marL="0">
              <a:buNone/>
            </a:pPr>
            <a:endParaRPr lang="en-US" dirty="0"/>
          </a:p>
        </p:txBody>
      </p:sp>
      <p:sp>
        <p:nvSpPr>
          <p:cNvPr id="30" name="Text 28"/>
          <p:cNvSpPr/>
          <p:nvPr/>
        </p:nvSpPr>
        <p:spPr>
          <a:xfrm>
            <a:off x="2035969" y="1728788"/>
            <a:ext cx="21431" cy="85725"/>
          </a:xfrm>
          <a:prstGeom prst="rect">
            <a:avLst/>
          </a:prstGeom>
          <a:solidFill>
            <a:srgbClr val="6B6B6B"/>
          </a:solidFill>
          <a:ln/>
        </p:spPr>
        <p:txBody>
          <a:bodyPr wrap="square" rtlCol="0" anchor="ctr"/>
          <a:lstStyle/>
          <a:p>
            <a:pPr indent="0" marL="0">
              <a:buNone/>
            </a:pPr>
            <a:endParaRPr lang="en-US" dirty="0"/>
          </a:p>
        </p:txBody>
      </p:sp>
      <p:sp>
        <p:nvSpPr>
          <p:cNvPr id="31" name="Text 29"/>
          <p:cNvSpPr/>
          <p:nvPr/>
        </p:nvSpPr>
        <p:spPr>
          <a:xfrm>
            <a:off x="2107406" y="1678781"/>
            <a:ext cx="21431" cy="185738"/>
          </a:xfrm>
          <a:prstGeom prst="rect">
            <a:avLst/>
          </a:prstGeom>
          <a:solidFill>
            <a:srgbClr val="10B981"/>
          </a:solidFill>
          <a:ln/>
        </p:spPr>
        <p:txBody>
          <a:bodyPr wrap="square" rtlCol="0" anchor="ctr"/>
          <a:lstStyle/>
          <a:p>
            <a:pPr indent="0" marL="0">
              <a:buNone/>
            </a:pPr>
            <a:endParaRPr lang="en-US" dirty="0"/>
          </a:p>
        </p:txBody>
      </p:sp>
      <p:sp>
        <p:nvSpPr>
          <p:cNvPr id="32" name="Text 30"/>
          <p:cNvSpPr/>
          <p:nvPr/>
        </p:nvSpPr>
        <p:spPr>
          <a:xfrm>
            <a:off x="2178844" y="1707356"/>
            <a:ext cx="21431" cy="128588"/>
          </a:xfrm>
          <a:prstGeom prst="rect">
            <a:avLst/>
          </a:prstGeom>
          <a:solidFill>
            <a:srgbClr val="10B981"/>
          </a:solidFill>
          <a:ln/>
        </p:spPr>
        <p:txBody>
          <a:bodyPr wrap="square" rtlCol="0" anchor="ctr"/>
          <a:lstStyle/>
          <a:p>
            <a:pPr indent="0" marL="0">
              <a:buNone/>
            </a:pPr>
            <a:endParaRPr lang="en-US" dirty="0"/>
          </a:p>
        </p:txBody>
      </p:sp>
      <p:sp>
        <p:nvSpPr>
          <p:cNvPr id="33" name="Text 31"/>
          <p:cNvSpPr/>
          <p:nvPr/>
        </p:nvSpPr>
        <p:spPr>
          <a:xfrm>
            <a:off x="2250281" y="1743075"/>
            <a:ext cx="21431" cy="57150"/>
          </a:xfrm>
          <a:prstGeom prst="rect">
            <a:avLst/>
          </a:prstGeom>
          <a:solidFill>
            <a:srgbClr val="6B6B6B"/>
          </a:solidFill>
          <a:ln/>
        </p:spPr>
        <p:txBody>
          <a:bodyPr wrap="square" rtlCol="0" anchor="ctr"/>
          <a:lstStyle/>
          <a:p>
            <a:pPr indent="0" marL="0">
              <a:buNone/>
            </a:pPr>
            <a:endParaRPr lang="en-US" dirty="0"/>
          </a:p>
        </p:txBody>
      </p:sp>
      <p:sp>
        <p:nvSpPr>
          <p:cNvPr id="34" name="Text 32"/>
          <p:cNvSpPr/>
          <p:nvPr/>
        </p:nvSpPr>
        <p:spPr>
          <a:xfrm>
            <a:off x="2321719" y="1664494"/>
            <a:ext cx="21431" cy="214313"/>
          </a:xfrm>
          <a:prstGeom prst="rect">
            <a:avLst/>
          </a:prstGeom>
          <a:solidFill>
            <a:srgbClr val="6B6B6B"/>
          </a:solidFill>
          <a:ln/>
        </p:spPr>
        <p:txBody>
          <a:bodyPr wrap="square" rtlCol="0" anchor="ctr"/>
          <a:lstStyle/>
          <a:p>
            <a:pPr indent="0" marL="0">
              <a:buNone/>
            </a:pPr>
            <a:endParaRPr lang="en-US" dirty="0"/>
          </a:p>
        </p:txBody>
      </p:sp>
      <p:sp>
        <p:nvSpPr>
          <p:cNvPr id="35" name="Text 33"/>
          <p:cNvSpPr/>
          <p:nvPr/>
        </p:nvSpPr>
        <p:spPr>
          <a:xfrm>
            <a:off x="2500313" y="1621631"/>
            <a:ext cx="2050256" cy="91440"/>
          </a:xfrm>
          <a:prstGeom prst="rect">
            <a:avLst/>
          </a:prstGeom>
          <a:noFill/>
          <a:ln/>
        </p:spPr>
        <p:txBody>
          <a:bodyPr wrap="none" lIns="0" tIns="0" rIns="0" bIns="0" rtlCol="0" anchor="t">
            <a:normAutofit/>
          </a:bodyPr>
          <a:lstStyle/>
          <a:p>
            <a:pPr algn="l" indent="0" marL="0">
              <a:buNone/>
            </a:pPr>
            <a:r>
              <a:rPr lang="en-US" sz="800" spc="64" kern="0" dirty="0">
                <a:solidFill>
                  <a:srgbClr val="6B6B6B"/>
                </a:solidFill>
                <a:latin typeface="Courier New" pitchFamily="34" charset="0"/>
                <a:ea typeface="Courier New" pitchFamily="34" charset="-122"/>
                <a:cs typeface="Courier New" pitchFamily="34" charset="-120"/>
              </a:rPr>
              <a:t>NOW PLAYING</a:t>
            </a:r>
            <a:endParaRPr lang="en-US" sz="800" dirty="0"/>
          </a:p>
        </p:txBody>
      </p:sp>
      <p:sp>
        <p:nvSpPr>
          <p:cNvPr id="36" name="Text 34"/>
          <p:cNvSpPr/>
          <p:nvPr/>
        </p:nvSpPr>
        <p:spPr>
          <a:xfrm>
            <a:off x="2500313" y="1735931"/>
            <a:ext cx="2159984" cy="126609"/>
          </a:xfrm>
          <a:prstGeom prst="rect">
            <a:avLst/>
          </a:prstGeom>
          <a:noFill/>
          <a:ln/>
        </p:spPr>
        <p:txBody>
          <a:bodyPr wrap="square" lIns="0" tIns="0" rIns="0" bIns="0"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Stop 2 / 6 — services/auth.py</a:t>
            </a:r>
            <a:endParaRPr lang="en-US" sz="800" dirty="0"/>
          </a:p>
        </p:txBody>
      </p:sp>
      <p:sp>
        <p:nvSpPr>
          <p:cNvPr id="37" name="Text 35"/>
          <p:cNvSpPr/>
          <p:nvPr/>
        </p:nvSpPr>
        <p:spPr>
          <a:xfrm>
            <a:off x="2500313" y="1907381"/>
            <a:ext cx="2050256" cy="14288"/>
          </a:xfrm>
          <a:prstGeom prst="rect">
            <a:avLst/>
          </a:prstGeom>
          <a:solidFill>
            <a:srgbClr val="1A1A1A"/>
          </a:solidFill>
          <a:ln/>
        </p:spPr>
        <p:txBody>
          <a:bodyPr wrap="square" rtlCol="0" anchor="ctr"/>
          <a:lstStyle/>
          <a:p>
            <a:pPr indent="0" marL="0">
              <a:buNone/>
            </a:pPr>
            <a:endParaRPr lang="en-US" dirty="0"/>
          </a:p>
        </p:txBody>
      </p:sp>
      <p:sp>
        <p:nvSpPr>
          <p:cNvPr id="38" name="Text 36"/>
          <p:cNvSpPr/>
          <p:nvPr/>
        </p:nvSpPr>
        <p:spPr>
          <a:xfrm>
            <a:off x="2500313" y="1907381"/>
            <a:ext cx="676535" cy="14288"/>
          </a:xfrm>
          <a:prstGeom prst="rect">
            <a:avLst/>
          </a:prstGeom>
          <a:solidFill>
            <a:srgbClr val="10B981"/>
          </a:solidFill>
          <a:ln/>
        </p:spPr>
        <p:txBody>
          <a:bodyPr wrap="square" rtlCol="0" anchor="ctr"/>
          <a:lstStyle/>
          <a:p>
            <a:pPr indent="0" marL="0">
              <a:buNone/>
            </a:pPr>
            <a:endParaRPr lang="en-US" dirty="0"/>
          </a:p>
        </p:txBody>
      </p:sp>
      <p:sp>
        <p:nvSpPr>
          <p:cNvPr id="39" name="Text 37"/>
          <p:cNvSpPr/>
          <p:nvPr/>
        </p:nvSpPr>
        <p:spPr>
          <a:xfrm>
            <a:off x="539353" y="2039541"/>
            <a:ext cx="4007644" cy="250745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40" name="Image 0" descr="/tmp/h2p-svg-1790773508142-2traje.png">    </p:cNvPr>
          <p:cNvPicPr>
            <a:picLocks noChangeAspect="1"/>
          </p:cNvPicPr>
          <p:nvPr/>
        </p:nvPicPr>
        <p:blipFill>
          <a:blip r:embed="rId1"/>
          <a:stretch>
            <a:fillRect/>
          </a:stretch>
        </p:blipFill>
        <p:spPr>
          <a:xfrm>
            <a:off x="542925" y="2043113"/>
            <a:ext cx="4007644" cy="2521744"/>
          </a:xfrm>
          <a:prstGeom prst="rect">
            <a:avLst/>
          </a:prstGeom>
        </p:spPr>
      </p:pic>
      <p:sp>
        <p:nvSpPr>
          <p:cNvPr id="41" name="Text 38"/>
          <p:cNvSpPr/>
          <p:nvPr/>
        </p:nvSpPr>
        <p:spPr>
          <a:xfrm>
            <a:off x="646509" y="2232422"/>
            <a:ext cx="607219" cy="25003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42" name="Text 39"/>
          <p:cNvSpPr/>
          <p:nvPr/>
        </p:nvSpPr>
        <p:spPr>
          <a:xfrm>
            <a:off x="650081" y="2235994"/>
            <a:ext cx="600075" cy="21431"/>
          </a:xfrm>
          <a:prstGeom prst="rect">
            <a:avLst/>
          </a:prstGeom>
          <a:solidFill>
            <a:srgbClr val="1A1A1A"/>
          </a:solidFill>
          <a:ln/>
        </p:spPr>
        <p:txBody>
          <a:bodyPr wrap="square" rtlCol="0" anchor="ctr"/>
          <a:lstStyle/>
          <a:p>
            <a:pPr indent="0" marL="0">
              <a:buNone/>
            </a:pPr>
            <a:endParaRPr lang="en-US" dirty="0"/>
          </a:p>
        </p:txBody>
      </p:sp>
      <p:sp>
        <p:nvSpPr>
          <p:cNvPr id="43" name="Text 40"/>
          <p:cNvSpPr/>
          <p:nvPr/>
        </p:nvSpPr>
        <p:spPr>
          <a:xfrm>
            <a:off x="707231" y="2328416"/>
            <a:ext cx="485775" cy="137160"/>
          </a:xfrm>
          <a:prstGeom prst="rect">
            <a:avLst/>
          </a:prstGeom>
          <a:noFill/>
          <a:ln/>
        </p:spPr>
        <p:txBody>
          <a:bodyPr wrap="none" lIns="0" tIns="0" rIns="0" bIns="0" rtlCol="0" anchor="t"/>
          <a:lstStyle/>
          <a:p>
            <a:pPr algn="l" indent="0" marL="0">
              <a:lnSpc>
                <a:spcPts val="738"/>
              </a:lnSpc>
              <a:buNone/>
            </a:pPr>
            <a:r>
              <a:rPr lang="en-US" sz="800" dirty="0">
                <a:solidFill>
                  <a:srgbClr val="1A1A1A"/>
                </a:solidFill>
                <a:latin typeface="Courier New" pitchFamily="34" charset="0"/>
                <a:ea typeface="Courier New" pitchFamily="34" charset="-122"/>
                <a:cs typeface="Courier New" pitchFamily="34" charset="-120"/>
              </a:rPr>
              <a:t>main.py</a:t>
            </a:r>
            <a:endParaRPr lang="en-US" sz="800" dirty="0"/>
          </a:p>
        </p:txBody>
      </p:sp>
      <p:sp>
        <p:nvSpPr>
          <p:cNvPr id="44" name="Text 41"/>
          <p:cNvSpPr/>
          <p:nvPr/>
        </p:nvSpPr>
        <p:spPr>
          <a:xfrm>
            <a:off x="1632347" y="2203847"/>
            <a:ext cx="521494" cy="25003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45" name="Text 42"/>
          <p:cNvSpPr/>
          <p:nvPr/>
        </p:nvSpPr>
        <p:spPr>
          <a:xfrm>
            <a:off x="1635919" y="2207419"/>
            <a:ext cx="514350" cy="21431"/>
          </a:xfrm>
          <a:prstGeom prst="rect">
            <a:avLst/>
          </a:prstGeom>
          <a:solidFill>
            <a:srgbClr val="1A1A1A"/>
          </a:solidFill>
          <a:ln/>
        </p:spPr>
        <p:txBody>
          <a:bodyPr wrap="square" rtlCol="0" anchor="ctr"/>
          <a:lstStyle/>
          <a:p>
            <a:pPr indent="0" marL="0">
              <a:buNone/>
            </a:pPr>
            <a:endParaRPr lang="en-US" dirty="0"/>
          </a:p>
        </p:txBody>
      </p:sp>
      <p:sp>
        <p:nvSpPr>
          <p:cNvPr id="46" name="Text 43"/>
          <p:cNvSpPr/>
          <p:nvPr/>
        </p:nvSpPr>
        <p:spPr>
          <a:xfrm>
            <a:off x="1692485" y="2299841"/>
            <a:ext cx="401218" cy="137160"/>
          </a:xfrm>
          <a:prstGeom prst="rect">
            <a:avLst/>
          </a:prstGeom>
          <a:noFill/>
          <a:ln/>
        </p:spPr>
        <p:txBody>
          <a:bodyPr wrap="none" lIns="0" tIns="0" rIns="0" bIns="0" rtlCol="0" anchor="t"/>
          <a:lstStyle/>
          <a:p>
            <a:pPr algn="l" indent="0" marL="0">
              <a:lnSpc>
                <a:spcPts val="738"/>
              </a:lnSpc>
              <a:buNone/>
            </a:pPr>
            <a:r>
              <a:rPr lang="en-US" sz="800" dirty="0">
                <a:solidFill>
                  <a:srgbClr val="1A1A1A"/>
                </a:solidFill>
                <a:latin typeface="Courier New" pitchFamily="34" charset="0"/>
                <a:ea typeface="Courier New" pitchFamily="34" charset="-122"/>
                <a:cs typeface="Courier New" pitchFamily="34" charset="-120"/>
              </a:rPr>
              <a:t>sse.py</a:t>
            </a:r>
            <a:endParaRPr lang="en-US" sz="800" dirty="0"/>
          </a:p>
        </p:txBody>
      </p:sp>
      <p:sp>
        <p:nvSpPr>
          <p:cNvPr id="47" name="Text 44"/>
          <p:cNvSpPr/>
          <p:nvPr/>
        </p:nvSpPr>
        <p:spPr>
          <a:xfrm>
            <a:off x="3061097" y="2232422"/>
            <a:ext cx="721519" cy="25003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48" name="Text 45"/>
          <p:cNvSpPr/>
          <p:nvPr/>
        </p:nvSpPr>
        <p:spPr>
          <a:xfrm>
            <a:off x="3064669" y="2235994"/>
            <a:ext cx="714375" cy="21431"/>
          </a:xfrm>
          <a:prstGeom prst="rect">
            <a:avLst/>
          </a:prstGeom>
          <a:solidFill>
            <a:srgbClr val="10B981"/>
          </a:solidFill>
          <a:ln/>
        </p:spPr>
        <p:txBody>
          <a:bodyPr wrap="square" rtlCol="0" anchor="ctr"/>
          <a:lstStyle/>
          <a:p>
            <a:pPr indent="0" marL="0">
              <a:buNone/>
            </a:pPr>
            <a:endParaRPr lang="en-US" dirty="0"/>
          </a:p>
        </p:txBody>
      </p:sp>
      <p:sp>
        <p:nvSpPr>
          <p:cNvPr id="49" name="Text 46"/>
          <p:cNvSpPr/>
          <p:nvPr/>
        </p:nvSpPr>
        <p:spPr>
          <a:xfrm>
            <a:off x="3121819" y="2328416"/>
            <a:ext cx="657225" cy="137160"/>
          </a:xfrm>
          <a:prstGeom prst="rect">
            <a:avLst/>
          </a:prstGeom>
          <a:noFill/>
          <a:ln/>
        </p:spPr>
        <p:txBody>
          <a:bodyPr wrap="none" lIns="0" tIns="0" rIns="0" bIns="0" rtlCol="0" anchor="t"/>
          <a:lstStyle/>
          <a:p>
            <a:pPr algn="l" indent="0" marL="0">
              <a:lnSpc>
                <a:spcPts val="738"/>
              </a:lnSpc>
              <a:buNone/>
            </a:pPr>
            <a:r>
              <a:rPr lang="en-US" sz="600" dirty="0">
                <a:solidFill>
                  <a:srgbClr val="1A1A1A"/>
                </a:solidFill>
                <a:latin typeface="Courier New" pitchFamily="34" charset="0"/>
                <a:ea typeface="Courier New" pitchFamily="34" charset="-122"/>
                <a:cs typeface="Courier New" pitchFamily="34" charset="-120"/>
              </a:rPr>
              <a:t>routes/api.py</a:t>
            </a:r>
            <a:endParaRPr lang="en-US" sz="600" dirty="0"/>
          </a:p>
        </p:txBody>
      </p:sp>
      <p:sp>
        <p:nvSpPr>
          <p:cNvPr id="50" name="Text 47"/>
          <p:cNvSpPr/>
          <p:nvPr/>
        </p:nvSpPr>
        <p:spPr>
          <a:xfrm>
            <a:off x="2010966" y="3061097"/>
            <a:ext cx="935831" cy="292894"/>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51" name="Text 48"/>
          <p:cNvSpPr/>
          <p:nvPr/>
        </p:nvSpPr>
        <p:spPr>
          <a:xfrm>
            <a:off x="2014538" y="3064669"/>
            <a:ext cx="928688" cy="21431"/>
          </a:xfrm>
          <a:prstGeom prst="rect">
            <a:avLst/>
          </a:prstGeom>
          <a:solidFill>
            <a:srgbClr val="10B981"/>
          </a:solidFill>
          <a:ln/>
        </p:spPr>
        <p:txBody>
          <a:bodyPr wrap="square" rtlCol="0" anchor="ctr"/>
          <a:lstStyle/>
          <a:p>
            <a:pPr indent="0" marL="0">
              <a:buNone/>
            </a:pPr>
            <a:endParaRPr lang="en-US" dirty="0"/>
          </a:p>
        </p:txBody>
      </p:sp>
      <p:sp>
        <p:nvSpPr>
          <p:cNvPr id="52" name="Text 49"/>
          <p:cNvSpPr/>
          <p:nvPr/>
        </p:nvSpPr>
        <p:spPr>
          <a:xfrm>
            <a:off x="2071688" y="3107531"/>
            <a:ext cx="871538" cy="91440"/>
          </a:xfrm>
          <a:prstGeom prst="rect">
            <a:avLst/>
          </a:prstGeom>
          <a:noFill/>
          <a:ln/>
        </p:spPr>
        <p:txBody>
          <a:bodyPr wrap="none" lIns="0" tIns="0" rIns="0" bIns="0" rtlCol="0" anchor="t">
            <a:normAutofit/>
          </a:bodyPr>
          <a:lstStyle/>
          <a:p>
            <a:pPr algn="l" indent="0" marL="0">
              <a:lnSpc>
                <a:spcPts val="738"/>
              </a:lnSpc>
              <a:buNone/>
            </a:pPr>
            <a:r>
              <a:rPr lang="en-US" sz="600" dirty="0">
                <a:solidFill>
                  <a:srgbClr val="1A1A1A"/>
                </a:solidFill>
                <a:latin typeface="Courier New" pitchFamily="34" charset="0"/>
                <a:ea typeface="Courier New" pitchFamily="34" charset="-122"/>
                <a:cs typeface="Courier New" pitchFamily="34" charset="-120"/>
              </a:rPr>
              <a:t>services/auth.py</a:t>
            </a:r>
            <a:endParaRPr lang="en-US" sz="600" dirty="0"/>
          </a:p>
        </p:txBody>
      </p:sp>
      <p:sp>
        <p:nvSpPr>
          <p:cNvPr id="53" name="Text 50"/>
          <p:cNvSpPr/>
          <p:nvPr/>
        </p:nvSpPr>
        <p:spPr>
          <a:xfrm>
            <a:off x="2071688" y="3215580"/>
            <a:ext cx="871538" cy="131565"/>
          </a:xfrm>
          <a:prstGeom prst="rect">
            <a:avLst/>
          </a:prstGeom>
          <a:noFill/>
          <a:ln/>
        </p:spPr>
        <p:txBody>
          <a:bodyPr wrap="none" lIns="0" tIns="0" rIns="0" bIns="0" rtlCol="0" anchor="t"/>
          <a:lstStyle/>
          <a:p>
            <a:pPr algn="l" indent="0" marL="0">
              <a:lnSpc>
                <a:spcPts val="641"/>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stop 2</a:t>
            </a:r>
            <a:endParaRPr lang="en-US" sz="800" dirty="0"/>
          </a:p>
        </p:txBody>
      </p:sp>
      <p:sp>
        <p:nvSpPr>
          <p:cNvPr id="54" name="Text 51"/>
          <p:cNvSpPr/>
          <p:nvPr/>
        </p:nvSpPr>
        <p:spPr>
          <a:xfrm>
            <a:off x="646509" y="3989784"/>
            <a:ext cx="692944" cy="25003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55" name="Text 52"/>
          <p:cNvSpPr/>
          <p:nvPr/>
        </p:nvSpPr>
        <p:spPr>
          <a:xfrm>
            <a:off x="650081" y="3993356"/>
            <a:ext cx="685800" cy="21431"/>
          </a:xfrm>
          <a:prstGeom prst="rect">
            <a:avLst/>
          </a:prstGeom>
          <a:solidFill>
            <a:srgbClr val="D4AF37"/>
          </a:solidFill>
          <a:ln/>
        </p:spPr>
        <p:txBody>
          <a:bodyPr wrap="square" rtlCol="0" anchor="ctr"/>
          <a:lstStyle/>
          <a:p>
            <a:pPr indent="0" marL="0">
              <a:buNone/>
            </a:pPr>
            <a:endParaRPr lang="en-US" dirty="0"/>
          </a:p>
        </p:txBody>
      </p:sp>
      <p:sp>
        <p:nvSpPr>
          <p:cNvPr id="56" name="Text 53"/>
          <p:cNvSpPr/>
          <p:nvPr/>
        </p:nvSpPr>
        <p:spPr>
          <a:xfrm>
            <a:off x="707231" y="4085779"/>
            <a:ext cx="618939" cy="137160"/>
          </a:xfrm>
          <a:prstGeom prst="rect">
            <a:avLst/>
          </a:prstGeom>
          <a:noFill/>
          <a:ln/>
        </p:spPr>
        <p:txBody>
          <a:bodyPr wrap="none" lIns="0" tIns="0" rIns="0" bIns="0" rtlCol="0" anchor="t"/>
          <a:lstStyle/>
          <a:p>
            <a:pPr algn="l" indent="0" marL="0">
              <a:lnSpc>
                <a:spcPts val="738"/>
              </a:lnSpc>
              <a:buNone/>
            </a:pPr>
            <a:r>
              <a:rPr lang="en-US" sz="600" dirty="0">
                <a:solidFill>
                  <a:srgbClr val="1A1A1A"/>
                </a:solidFill>
                <a:latin typeface="Courier New" pitchFamily="34" charset="0"/>
                <a:ea typeface="Courier New" pitchFamily="34" charset="-122"/>
                <a:cs typeface="Courier New" pitchFamily="34" charset="-120"/>
              </a:rPr>
              <a:t>llm/groq.py</a:t>
            </a:r>
            <a:endParaRPr lang="en-US" sz="600" dirty="0"/>
          </a:p>
        </p:txBody>
      </p:sp>
      <p:sp>
        <p:nvSpPr>
          <p:cNvPr id="57" name="Text 54"/>
          <p:cNvSpPr/>
          <p:nvPr/>
        </p:nvSpPr>
        <p:spPr>
          <a:xfrm>
            <a:off x="3132534" y="3989784"/>
            <a:ext cx="735806" cy="250031"/>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58" name="Text 55"/>
          <p:cNvSpPr/>
          <p:nvPr/>
        </p:nvSpPr>
        <p:spPr>
          <a:xfrm>
            <a:off x="3136106" y="3993356"/>
            <a:ext cx="728663" cy="21431"/>
          </a:xfrm>
          <a:prstGeom prst="rect">
            <a:avLst/>
          </a:prstGeom>
          <a:solidFill>
            <a:srgbClr val="10B981"/>
          </a:solidFill>
          <a:ln/>
        </p:spPr>
        <p:txBody>
          <a:bodyPr wrap="square" rtlCol="0" anchor="ctr"/>
          <a:lstStyle/>
          <a:p>
            <a:pPr indent="0" marL="0">
              <a:buNone/>
            </a:pPr>
            <a:endParaRPr lang="en-US" dirty="0"/>
          </a:p>
        </p:txBody>
      </p:sp>
      <p:sp>
        <p:nvSpPr>
          <p:cNvPr id="59" name="Text 56"/>
          <p:cNvSpPr/>
          <p:nvPr/>
        </p:nvSpPr>
        <p:spPr>
          <a:xfrm>
            <a:off x="3193256" y="4085779"/>
            <a:ext cx="671513" cy="137160"/>
          </a:xfrm>
          <a:prstGeom prst="rect">
            <a:avLst/>
          </a:prstGeom>
          <a:noFill/>
          <a:ln/>
        </p:spPr>
        <p:txBody>
          <a:bodyPr wrap="none" lIns="0" tIns="0" rIns="0" bIns="0" rtlCol="0" anchor="t"/>
          <a:lstStyle/>
          <a:p>
            <a:pPr algn="l" indent="0" marL="0">
              <a:lnSpc>
                <a:spcPts val="738"/>
              </a:lnSpc>
              <a:buNone/>
            </a:pPr>
            <a:r>
              <a:rPr lang="en-US" sz="600" dirty="0">
                <a:solidFill>
                  <a:srgbClr val="1A1A1A"/>
                </a:solidFill>
                <a:latin typeface="Courier New" pitchFamily="34" charset="0"/>
                <a:ea typeface="Courier New" pitchFamily="34" charset="-122"/>
                <a:cs typeface="Courier New" pitchFamily="34" charset="-120"/>
              </a:rPr>
              <a:t>db/models.py</a:t>
            </a:r>
            <a:endParaRPr lang="en-US" sz="600" dirty="0"/>
          </a:p>
        </p:txBody>
      </p:sp>
      <p:sp>
        <p:nvSpPr>
          <p:cNvPr id="60" name="Text 57"/>
          <p:cNvSpPr/>
          <p:nvPr/>
        </p:nvSpPr>
        <p:spPr>
          <a:xfrm>
            <a:off x="1968103" y="3018234"/>
            <a:ext cx="1021556" cy="378619"/>
          </a:xfrm>
          <a:prstGeom prst="roundRect">
            <a:avLst>
              <a:gd name="adj" fmla="val 10063"/>
            </a:avLst>
          </a:prstGeom>
          <a:noFill/>
          <a:ln w="7144">
            <a:solidFill>
              <a:srgbClr val="D4AF37"/>
            </a:solidFill>
            <a:prstDash val="dash"/>
          </a:ln>
        </p:spPr>
        <p:txBody>
          <a:bodyPr wrap="square" rtlCol="0" anchor="ctr"/>
          <a:lstStyle/>
          <a:p>
            <a:pPr indent="0" marL="0">
              <a:buNone/>
            </a:pPr>
            <a:endParaRPr lang="en-US" dirty="0"/>
          </a:p>
        </p:txBody>
      </p:sp>
      <p:sp>
        <p:nvSpPr>
          <p:cNvPr id="61" name="Text 58"/>
          <p:cNvSpPr/>
          <p:nvPr/>
        </p:nvSpPr>
        <p:spPr>
          <a:xfrm>
            <a:off x="2296377" y="2914650"/>
            <a:ext cx="460065" cy="121920"/>
          </a:xfrm>
          <a:prstGeom prst="rect">
            <a:avLst/>
          </a:prstGeom>
          <a:noFill/>
          <a:ln/>
        </p:spPr>
        <p:txBody>
          <a:bodyPr wrap="none" lIns="0" tIns="0" rIns="0" bIns="0" rtlCol="0" anchor="t"/>
          <a:lstStyle/>
          <a:p>
            <a:pPr algn="l" indent="0" marL="0">
              <a:buNone/>
            </a:pPr>
            <a:r>
              <a:rPr lang="en-US" sz="600" b="1" dirty="0">
                <a:solidFill>
                  <a:srgbClr val="A16207"/>
                </a:solidFill>
                <a:latin typeface="Courier New" pitchFamily="34" charset="0"/>
                <a:ea typeface="Courier New" pitchFamily="34" charset="-122"/>
                <a:cs typeface="Courier New" pitchFamily="34" charset="-120"/>
              </a:rPr>
              <a:t>auto-pan →</a:t>
            </a:r>
            <a:endParaRPr lang="en-US" sz="600" dirty="0"/>
          </a:p>
        </p:txBody>
      </p:sp>
      <p:sp>
        <p:nvSpPr>
          <p:cNvPr id="62" name="Text 59"/>
          <p:cNvSpPr/>
          <p:nvPr/>
        </p:nvSpPr>
        <p:spPr>
          <a:xfrm>
            <a:off x="4857750" y="1135856"/>
            <a:ext cx="35719" cy="35719"/>
          </a:xfrm>
          <a:prstGeom prst="rect">
            <a:avLst/>
          </a:prstGeom>
          <a:solidFill>
            <a:srgbClr val="10B981"/>
          </a:solidFill>
          <a:ln/>
        </p:spPr>
        <p:txBody>
          <a:bodyPr wrap="square" rtlCol="0" anchor="ctr"/>
          <a:lstStyle/>
          <a:p>
            <a:pPr indent="0" marL="0">
              <a:buNone/>
            </a:pPr>
            <a:endParaRPr lang="en-US" dirty="0"/>
          </a:p>
        </p:txBody>
      </p:sp>
      <p:sp>
        <p:nvSpPr>
          <p:cNvPr id="63" name="Text 60"/>
          <p:cNvSpPr/>
          <p:nvPr/>
        </p:nvSpPr>
        <p:spPr>
          <a:xfrm>
            <a:off x="4979194" y="1085850"/>
            <a:ext cx="2500826" cy="126493"/>
          </a:xfrm>
          <a:prstGeom prst="rect">
            <a:avLst/>
          </a:prstGeom>
          <a:noFill/>
          <a:ln/>
        </p:spPr>
        <p:txBody>
          <a:bodyPr wrap="square" lIns="0" tIns="0" rIns="0" bIns="0" rtlCol="0" anchor="t">
            <a:normAutofit/>
          </a:bodyPr>
          <a:lstStyle/>
          <a:p>
            <a:pPr algn="l" indent="0" marL="0">
              <a:lnSpc>
                <a:spcPts val="987"/>
              </a:lnSpc>
              <a:buNone/>
            </a:pPr>
            <a:r>
              <a:rPr lang="en-US" sz="800" dirty="0">
                <a:solidFill>
                  <a:srgbClr val="1A1A1A"/>
                </a:solidFill>
                <a:latin typeface="Courier New" pitchFamily="34" charset="0"/>
                <a:ea typeface="Courier New" pitchFamily="34" charset="-122"/>
                <a:cs typeface="Courier New" pitchFamily="34" charset="-120"/>
              </a:rPr>
              <a:t>Web Speech API · speechSynthesis</a:t>
            </a:r>
            <a:endParaRPr lang="en-US" sz="800" dirty="0"/>
          </a:p>
        </p:txBody>
      </p:sp>
      <p:sp>
        <p:nvSpPr>
          <p:cNvPr id="64" name="Text 61"/>
          <p:cNvSpPr/>
          <p:nvPr/>
        </p:nvSpPr>
        <p:spPr>
          <a:xfrm>
            <a:off x="4979194" y="1239775"/>
            <a:ext cx="2315580"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built into every modern browser — zero cost, zero cloud calls</a:t>
            </a:r>
            <a:endParaRPr lang="en-US" sz="675" dirty="0"/>
          </a:p>
        </p:txBody>
      </p:sp>
      <p:sp>
        <p:nvSpPr>
          <p:cNvPr id="65" name="Text 62"/>
          <p:cNvSpPr/>
          <p:nvPr/>
        </p:nvSpPr>
        <p:spPr>
          <a:xfrm>
            <a:off x="4857750" y="1922450"/>
            <a:ext cx="35719" cy="35719"/>
          </a:xfrm>
          <a:prstGeom prst="rect">
            <a:avLst/>
          </a:prstGeom>
          <a:solidFill>
            <a:srgbClr val="10B981"/>
          </a:solidFill>
          <a:ln/>
        </p:spPr>
        <p:txBody>
          <a:bodyPr wrap="square" rtlCol="0" anchor="ctr"/>
          <a:lstStyle/>
          <a:p>
            <a:pPr indent="0" marL="0">
              <a:buNone/>
            </a:pPr>
            <a:endParaRPr lang="en-US" dirty="0"/>
          </a:p>
        </p:txBody>
      </p:sp>
      <p:sp>
        <p:nvSpPr>
          <p:cNvPr id="66" name="Text 63"/>
          <p:cNvSpPr/>
          <p:nvPr/>
        </p:nvSpPr>
        <p:spPr>
          <a:xfrm>
            <a:off x="4979194" y="1872444"/>
            <a:ext cx="2284247" cy="131293"/>
          </a:xfrm>
          <a:prstGeom prst="rect">
            <a:avLst/>
          </a:prstGeom>
          <a:noFill/>
          <a:ln/>
        </p:spPr>
        <p:txBody>
          <a:bodyPr wrap="none" lIns="0" tIns="0" rIns="0" bIns="0" rtlCol="0" anchor="t">
            <a:normAutofit/>
          </a:bodyPr>
          <a:lstStyle/>
          <a:p>
            <a:pPr algn="l" indent="0" marL="0">
              <a:lnSpc>
                <a:spcPts val="1025"/>
              </a:lnSpc>
              <a:buNone/>
            </a:pPr>
            <a:r>
              <a:rPr lang="en-US" sz="800" dirty="0">
                <a:solidFill>
                  <a:srgbClr val="1A1A1A"/>
                </a:solidFill>
                <a:latin typeface="Carlito" pitchFamily="34" charset="0"/>
                <a:ea typeface="Carlito" pitchFamily="34" charset="-122"/>
                <a:cs typeface="Carlito" pitchFamily="34" charset="-120"/>
              </a:rPr>
              <a:t>Auto-pan sync</a:t>
            </a:r>
            <a:endParaRPr lang="en-US" sz="800" dirty="0"/>
          </a:p>
        </p:txBody>
      </p:sp>
      <p:sp>
        <p:nvSpPr>
          <p:cNvPr id="67" name="Text 64"/>
          <p:cNvSpPr/>
          <p:nvPr/>
        </p:nvSpPr>
        <p:spPr>
          <a:xfrm>
            <a:off x="4979194" y="2031169"/>
            <a:ext cx="1949016"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the graph camera follows the narration stop by stop</a:t>
            </a:r>
            <a:endParaRPr lang="en-US" sz="675" dirty="0"/>
          </a:p>
        </p:txBody>
      </p:sp>
      <p:sp>
        <p:nvSpPr>
          <p:cNvPr id="68" name="Text 65"/>
          <p:cNvSpPr/>
          <p:nvPr/>
        </p:nvSpPr>
        <p:spPr>
          <a:xfrm>
            <a:off x="4857750" y="2713844"/>
            <a:ext cx="35719" cy="35719"/>
          </a:xfrm>
          <a:prstGeom prst="rect">
            <a:avLst/>
          </a:prstGeom>
          <a:solidFill>
            <a:srgbClr val="10B981"/>
          </a:solidFill>
          <a:ln/>
        </p:spPr>
        <p:txBody>
          <a:bodyPr wrap="square" rtlCol="0" anchor="ctr"/>
          <a:lstStyle/>
          <a:p>
            <a:pPr indent="0" marL="0">
              <a:buNone/>
            </a:pPr>
            <a:endParaRPr lang="en-US" dirty="0"/>
          </a:p>
        </p:txBody>
      </p:sp>
      <p:sp>
        <p:nvSpPr>
          <p:cNvPr id="69" name="Text 66"/>
          <p:cNvSpPr/>
          <p:nvPr/>
        </p:nvSpPr>
        <p:spPr>
          <a:xfrm>
            <a:off x="4979194" y="2663837"/>
            <a:ext cx="2196603" cy="131293"/>
          </a:xfrm>
          <a:prstGeom prst="rect">
            <a:avLst/>
          </a:prstGeom>
          <a:noFill/>
          <a:ln/>
        </p:spPr>
        <p:txBody>
          <a:bodyPr wrap="none" lIns="0" tIns="0" rIns="0" bIns="0" rtlCol="0" anchor="t">
            <a:normAutofit/>
          </a:bodyPr>
          <a:lstStyle/>
          <a:p>
            <a:pPr algn="l" indent="0" marL="0">
              <a:lnSpc>
                <a:spcPts val="1025"/>
              </a:lnSpc>
              <a:buNone/>
            </a:pPr>
            <a:r>
              <a:rPr lang="en-US" sz="800" dirty="0">
                <a:solidFill>
                  <a:srgbClr val="1A1A1A"/>
                </a:solidFill>
                <a:latin typeface="Carlito" pitchFamily="34" charset="0"/>
                <a:ea typeface="Carlito" pitchFamily="34" charset="-122"/>
                <a:cs typeface="Carlito" pitchFamily="34" charset="-120"/>
              </a:rPr>
              <a:t>Accessibility first</a:t>
            </a:r>
            <a:endParaRPr lang="en-US" sz="800" dirty="0"/>
          </a:p>
        </p:txBody>
      </p:sp>
      <p:sp>
        <p:nvSpPr>
          <p:cNvPr id="70" name="Text 67"/>
          <p:cNvSpPr/>
          <p:nvPr/>
        </p:nvSpPr>
        <p:spPr>
          <a:xfrm>
            <a:off x="4979194" y="2822563"/>
            <a:ext cx="2092003"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blind and low-vision students can explore a repo by ear</a:t>
            </a:r>
            <a:endParaRPr lang="en-US" sz="675" dirty="0"/>
          </a:p>
        </p:txBody>
      </p:sp>
      <p:sp>
        <p:nvSpPr>
          <p:cNvPr id="71" name="Text 68"/>
          <p:cNvSpPr/>
          <p:nvPr/>
        </p:nvSpPr>
        <p:spPr>
          <a:xfrm>
            <a:off x="4857750" y="3505126"/>
            <a:ext cx="35719" cy="35719"/>
          </a:xfrm>
          <a:prstGeom prst="rect">
            <a:avLst/>
          </a:prstGeom>
          <a:solidFill>
            <a:srgbClr val="10B981"/>
          </a:solidFill>
          <a:ln/>
        </p:spPr>
        <p:txBody>
          <a:bodyPr wrap="square" rtlCol="0" anchor="ctr"/>
          <a:lstStyle/>
          <a:p>
            <a:pPr indent="0" marL="0">
              <a:buNone/>
            </a:pPr>
            <a:endParaRPr lang="en-US" dirty="0"/>
          </a:p>
        </p:txBody>
      </p:sp>
      <p:sp>
        <p:nvSpPr>
          <p:cNvPr id="72" name="Text 69"/>
          <p:cNvSpPr/>
          <p:nvPr/>
        </p:nvSpPr>
        <p:spPr>
          <a:xfrm>
            <a:off x="4979194" y="3455119"/>
            <a:ext cx="2797029" cy="131293"/>
          </a:xfrm>
          <a:prstGeom prst="rect">
            <a:avLst/>
          </a:prstGeom>
          <a:noFill/>
          <a:ln/>
        </p:spPr>
        <p:txBody>
          <a:bodyPr wrap="none" lIns="0" tIns="0" rIns="0" bIns="0" rtlCol="0" anchor="t">
            <a:normAutofit/>
          </a:bodyPr>
          <a:lstStyle/>
          <a:p>
            <a:pPr algn="l" indent="0" marL="0">
              <a:lnSpc>
                <a:spcPts val="1025"/>
              </a:lnSpc>
              <a:buNone/>
            </a:pPr>
            <a:r>
              <a:rPr lang="en-US" sz="800" dirty="0">
                <a:solidFill>
                  <a:srgbClr val="1A1A1A"/>
                </a:solidFill>
                <a:latin typeface="Carlito" pitchFamily="34" charset="0"/>
                <a:ea typeface="Carlito" pitchFamily="34" charset="-122"/>
                <a:cs typeface="Carlito" pitchFamily="34" charset="-120"/>
              </a:rPr>
              <a:t>Clones the Aster winner</a:t>
            </a:r>
            <a:endParaRPr lang="en-US" sz="800" dirty="0"/>
          </a:p>
        </p:txBody>
      </p:sp>
      <p:sp>
        <p:nvSpPr>
          <p:cNvPr id="73" name="Text 70"/>
          <p:cNvSpPr/>
          <p:nvPr/>
        </p:nvSpPr>
        <p:spPr>
          <a:xfrm>
            <a:off x="4979194" y="3613845"/>
            <a:ext cx="2663837"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the voice-tour experience judges already awarded — now on any repo</a:t>
            </a:r>
            <a:endParaRPr lang="en-US" sz="675" dirty="0"/>
          </a:p>
        </p:txBody>
      </p:sp>
      <p:sp>
        <p:nvSpPr>
          <p:cNvPr id="74" name="Text 71"/>
          <p:cNvSpPr/>
          <p:nvPr/>
        </p:nvSpPr>
        <p:spPr>
          <a:xfrm>
            <a:off x="4857750" y="4246513"/>
            <a:ext cx="3886200" cy="439787"/>
          </a:xfrm>
          <a:prstGeom prst="rect">
            <a:avLst/>
          </a:prstGeom>
          <a:solidFill>
            <a:srgbClr val="FFFFFF"/>
          </a:solidFill>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75" name="Shape 72"/>
          <p:cNvSpPr/>
          <p:nvPr/>
        </p:nvSpPr>
        <p:spPr>
          <a:xfrm>
            <a:off x="4857750" y="4250085"/>
            <a:ext cx="3886200" cy="0"/>
          </a:xfrm>
          <a:prstGeom prst="line">
            <a:avLst/>
          </a:prstGeom>
          <a:noFill/>
          <a:ln w="7144">
            <a:solidFill>
              <a:srgbClr val="1A1A1A"/>
            </a:solidFill>
            <a:prstDash val="solid"/>
          </a:ln>
        </p:spPr>
      </p:sp>
      <p:sp>
        <p:nvSpPr>
          <p:cNvPr id="76" name="Shape 73"/>
          <p:cNvSpPr/>
          <p:nvPr/>
        </p:nvSpPr>
        <p:spPr>
          <a:xfrm>
            <a:off x="8740378" y="4246513"/>
            <a:ext cx="0" cy="439787"/>
          </a:xfrm>
          <a:prstGeom prst="line">
            <a:avLst/>
          </a:prstGeom>
          <a:noFill/>
          <a:ln w="7144">
            <a:solidFill>
              <a:srgbClr val="1A1A1A"/>
            </a:solidFill>
            <a:prstDash val="solid"/>
          </a:ln>
        </p:spPr>
      </p:sp>
      <p:sp>
        <p:nvSpPr>
          <p:cNvPr id="77" name="Shape 74"/>
          <p:cNvSpPr/>
          <p:nvPr/>
        </p:nvSpPr>
        <p:spPr>
          <a:xfrm>
            <a:off x="4857750" y="4682728"/>
            <a:ext cx="3886200" cy="0"/>
          </a:xfrm>
          <a:prstGeom prst="line">
            <a:avLst/>
          </a:prstGeom>
          <a:noFill/>
          <a:ln w="7144">
            <a:solidFill>
              <a:srgbClr val="1A1A1A"/>
            </a:solidFill>
            <a:prstDash val="solid"/>
          </a:ln>
        </p:spPr>
      </p:sp>
      <p:sp>
        <p:nvSpPr>
          <p:cNvPr id="78" name="Shape 75"/>
          <p:cNvSpPr/>
          <p:nvPr/>
        </p:nvSpPr>
        <p:spPr>
          <a:xfrm>
            <a:off x="4872038" y="4246513"/>
            <a:ext cx="0" cy="439787"/>
          </a:xfrm>
          <a:prstGeom prst="line">
            <a:avLst/>
          </a:prstGeom>
          <a:noFill/>
          <a:ln w="28575">
            <a:solidFill>
              <a:srgbClr val="10B981"/>
            </a:solidFill>
            <a:prstDash val="solid"/>
          </a:ln>
        </p:spPr>
      </p:sp>
      <p:sp>
        <p:nvSpPr>
          <p:cNvPr id="79" name="Text 76"/>
          <p:cNvSpPr/>
          <p:nvPr/>
        </p:nvSpPr>
        <p:spPr>
          <a:xfrm>
            <a:off x="4986338" y="4339382"/>
            <a:ext cx="3650456" cy="91440"/>
          </a:xfrm>
          <a:prstGeom prst="rect">
            <a:avLst/>
          </a:prstGeom>
          <a:noFill/>
          <a:ln/>
        </p:spPr>
        <p:txBody>
          <a:bodyPr wrap="none" lIns="0" tIns="0" rIns="0" bIns="0" rtlCol="0" anchor="t">
            <a:normAutofit/>
          </a:bodyPr>
          <a:lstStyle/>
          <a:p>
            <a:pPr algn="l" indent="0" marL="0">
              <a:buNone/>
            </a:pPr>
            <a:r>
              <a:rPr lang="en-US" sz="800" b="1" spc="79" kern="0" dirty="0">
                <a:solidFill>
                  <a:srgbClr val="10B981"/>
                </a:solidFill>
                <a:latin typeface="Courier New" pitchFamily="34" charset="0"/>
                <a:ea typeface="Courier New" pitchFamily="34" charset="-122"/>
                <a:cs typeface="Courier New" pitchFamily="34" charset="-120"/>
              </a:rPr>
              <a:t>IMPACT</a:t>
            </a:r>
            <a:endParaRPr lang="en-US" sz="800" dirty="0"/>
          </a:p>
        </p:txBody>
      </p:sp>
      <p:sp>
        <p:nvSpPr>
          <p:cNvPr id="80" name="Text 77"/>
          <p:cNvSpPr/>
          <p:nvPr/>
        </p:nvSpPr>
        <p:spPr>
          <a:xfrm>
            <a:off x="4986338" y="4453682"/>
            <a:ext cx="3760184" cy="139750"/>
          </a:xfrm>
          <a:prstGeom prst="rect">
            <a:avLst/>
          </a:prstGeom>
          <a:noFill/>
          <a:ln/>
        </p:spPr>
        <p:txBody>
          <a:bodyPr wrap="square" lIns="0" tIns="0" rIns="0" bIns="0" rtlCol="0" anchor="t"/>
          <a:lstStyle/>
          <a:p>
            <a:pPr algn="l" indent="0" marL="0">
              <a:lnSpc>
                <a:spcPts val="1101"/>
              </a:lnSpc>
              <a:buNone/>
            </a:pPr>
            <a:r>
              <a:rPr lang="en-US" sz="816" b="1" dirty="0">
                <a:solidFill>
                  <a:srgbClr val="1A1A1A"/>
                </a:solidFill>
                <a:latin typeface="Carlito" pitchFamily="34" charset="0"/>
                <a:ea typeface="Carlito" pitchFamily="34" charset="-122"/>
                <a:cs typeface="Carlito" pitchFamily="34" charset="-120"/>
              </a:rPr>
              <a:t>A repo tour you can take with your eyes closed.</a:t>
            </a:r>
            <a:endParaRPr lang="en-US" sz="816" dirty="0"/>
          </a:p>
        </p:txBody>
      </p:sp>
      <p:sp>
        <p:nvSpPr>
          <p:cNvPr id="81" name="Text 78"/>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385763"/>
            <a:ext cx="1967614" cy="119703"/>
          </a:xfrm>
          <a:prstGeom prst="rect">
            <a:avLst/>
          </a:prstGeom>
          <a:noFill/>
          <a:ln/>
        </p:spPr>
        <p:txBody>
          <a:bodyPr wrap="none" lIns="0" tIns="0" rIns="0" bIns="0" rtlCol="0" anchor="t"/>
          <a:lstStyle/>
          <a:p>
            <a:pPr algn="l" indent="0" marL="0">
              <a:buNone/>
            </a:pPr>
            <a:r>
              <a:rPr lang="en-US" sz="800" b="1" spc="87" kern="0" dirty="0">
                <a:solidFill>
                  <a:srgbClr val="10B981"/>
                </a:solidFill>
                <a:latin typeface="Liberation Sans Narrow" pitchFamily="34" charset="0"/>
                <a:ea typeface="Liberation Sans Narrow" pitchFamily="34" charset="-122"/>
                <a:cs typeface="Liberation Sans Narrow" pitchFamily="34" charset="-120"/>
              </a:rPr>
              <a:t>NEW IN 3.0 · FEATURE 04 / 05</a:t>
            </a:r>
            <a:endParaRPr lang="en-US" sz="800" dirty="0"/>
          </a:p>
        </p:txBody>
      </p:sp>
      <p:sp>
        <p:nvSpPr>
          <p:cNvPr id="3" name="Text 1"/>
          <p:cNvSpPr/>
          <p:nvPr/>
        </p:nvSpPr>
        <p:spPr>
          <a:xfrm>
            <a:off x="400050" y="528638"/>
            <a:ext cx="1463090"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Security Scan.</a:t>
            </a:r>
            <a:endParaRPr lang="en-US" sz="1519" dirty="0"/>
          </a:p>
        </p:txBody>
      </p:sp>
      <p:sp>
        <p:nvSpPr>
          <p:cNvPr id="4" name="Text 2"/>
          <p:cNvSpPr/>
          <p:nvPr/>
        </p:nvSpPr>
        <p:spPr>
          <a:xfrm>
            <a:off x="400050" y="814388"/>
            <a:ext cx="1756184" cy="126609"/>
          </a:xfrm>
          <a:prstGeom prst="rect">
            <a:avLst/>
          </a:prstGeom>
          <a:noFill/>
          <a:ln/>
        </p:spPr>
        <p:txBody>
          <a:bodyPr wrap="square" lIns="0" tIns="0" rIns="0" bIns="0" rtlCol="0" anchor="t"/>
          <a:lstStyle/>
          <a:p>
            <a:pPr algn="l" indent="0" marL="0">
              <a:buNone/>
            </a:pPr>
            <a:r>
              <a:rPr lang="en-US" sz="731" dirty="0">
                <a:solidFill>
                  <a:srgbClr val="6B6B6B"/>
                </a:solidFill>
                <a:latin typeface="Carlito" pitchFamily="34" charset="0"/>
                <a:ea typeface="Carlito" pitchFamily="34" charset="-122"/>
                <a:cs typeface="Carlito" pitchFamily="34" charset="-120"/>
              </a:rPr>
              <a:t>three flags. zero surprises in production</a:t>
            </a:r>
            <a:endParaRPr lang="en-US" sz="731" dirty="0"/>
          </a:p>
        </p:txBody>
      </p:sp>
      <p:sp>
        <p:nvSpPr>
          <p:cNvPr id="5" name="Text 3"/>
          <p:cNvSpPr/>
          <p:nvPr/>
        </p:nvSpPr>
        <p:spPr>
          <a:xfrm>
            <a:off x="403622" y="1089422"/>
            <a:ext cx="4279106" cy="359330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6" name="Shape 4"/>
          <p:cNvSpPr/>
          <p:nvPr/>
        </p:nvSpPr>
        <p:spPr>
          <a:xfrm>
            <a:off x="407194" y="1403747"/>
            <a:ext cx="4271963" cy="0"/>
          </a:xfrm>
          <a:prstGeom prst="line">
            <a:avLst/>
          </a:prstGeom>
          <a:noFill/>
          <a:ln w="7144">
            <a:solidFill>
              <a:srgbClr val="1A1A1A"/>
            </a:solidFill>
            <a:prstDash val="solid"/>
          </a:ln>
        </p:spPr>
      </p:sp>
      <p:sp>
        <p:nvSpPr>
          <p:cNvPr id="7" name="Text 5"/>
          <p:cNvSpPr/>
          <p:nvPr/>
        </p:nvSpPr>
        <p:spPr>
          <a:xfrm>
            <a:off x="464344" y="1092994"/>
            <a:ext cx="421593" cy="307181"/>
          </a:xfrm>
          <a:prstGeom prst="rect">
            <a:avLst/>
          </a:prstGeom>
          <a:noFill/>
          <a:ln/>
        </p:spPr>
        <p:txBody>
          <a:bodyPr wrap="none" lIns="92869" tIns="0" rIns="92869" bIns="0" rtlCol="0" anchor="t"/>
          <a:lstStyle/>
          <a:p>
            <a:pPr algn="l" indent="0" marL="0">
              <a:buNone/>
            </a:pPr>
            <a:r>
              <a:rPr lang="en-US" sz="800" dirty="0">
                <a:solidFill>
                  <a:srgbClr val="6B6B6B"/>
                </a:solidFill>
                <a:latin typeface="Courier New" pitchFamily="34" charset="0"/>
                <a:ea typeface="Courier New" pitchFamily="34" charset="-122"/>
                <a:cs typeface="Courier New" pitchFamily="34" charset="-120"/>
              </a:rPr>
              <a:t>Graph</a:t>
            </a:r>
            <a:endParaRPr lang="en-US" sz="800" dirty="0"/>
          </a:p>
        </p:txBody>
      </p:sp>
      <p:sp>
        <p:nvSpPr>
          <p:cNvPr id="8" name="Text 6"/>
          <p:cNvSpPr/>
          <p:nvPr/>
        </p:nvSpPr>
        <p:spPr>
          <a:xfrm>
            <a:off x="885937" y="1092994"/>
            <a:ext cx="374377" cy="307181"/>
          </a:xfrm>
          <a:prstGeom prst="rect">
            <a:avLst/>
          </a:prstGeom>
          <a:noFill/>
          <a:ln/>
        </p:spPr>
        <p:txBody>
          <a:bodyPr wrap="none" lIns="92869" tIns="0" rIns="92869" bIns="0" rtlCol="0" anchor="t"/>
          <a:lstStyle/>
          <a:p>
            <a:pPr algn="l" indent="0" marL="0">
              <a:buNone/>
            </a:pPr>
            <a:r>
              <a:rPr lang="en-US" sz="800" dirty="0">
                <a:solidFill>
                  <a:srgbClr val="6B6B6B"/>
                </a:solidFill>
                <a:latin typeface="Courier New" pitchFamily="34" charset="0"/>
                <a:ea typeface="Courier New" pitchFamily="34" charset="-122"/>
                <a:cs typeface="Courier New" pitchFamily="34" charset="-120"/>
              </a:rPr>
              <a:t>Chat</a:t>
            </a:r>
            <a:endParaRPr lang="en-US" sz="800" dirty="0"/>
          </a:p>
        </p:txBody>
      </p:sp>
      <p:sp>
        <p:nvSpPr>
          <p:cNvPr id="9" name="Text 7"/>
          <p:cNvSpPr/>
          <p:nvPr/>
        </p:nvSpPr>
        <p:spPr>
          <a:xfrm>
            <a:off x="1260314" y="1092994"/>
            <a:ext cx="421593" cy="307181"/>
          </a:xfrm>
          <a:prstGeom prst="rect">
            <a:avLst/>
          </a:prstGeom>
          <a:noFill/>
          <a:ln/>
        </p:spPr>
        <p:txBody>
          <a:bodyPr wrap="none" lIns="92869" tIns="0" rIns="92869" bIns="0" rtlCol="0" anchor="t"/>
          <a:lstStyle/>
          <a:p>
            <a:pPr algn="l" indent="0" marL="0">
              <a:buNone/>
            </a:pPr>
            <a:r>
              <a:rPr lang="en-US" sz="800" dirty="0">
                <a:solidFill>
                  <a:srgbClr val="6B6B6B"/>
                </a:solidFill>
                <a:latin typeface="Courier New" pitchFamily="34" charset="0"/>
                <a:ea typeface="Courier New" pitchFamily="34" charset="-122"/>
                <a:cs typeface="Courier New" pitchFamily="34" charset="-120"/>
              </a:rPr>
              <a:t>Tours</a:t>
            </a:r>
            <a:endParaRPr lang="en-US" sz="800" dirty="0"/>
          </a:p>
        </p:txBody>
      </p:sp>
      <p:sp>
        <p:nvSpPr>
          <p:cNvPr id="10" name="Text 8"/>
          <p:cNvSpPr/>
          <p:nvPr/>
        </p:nvSpPr>
        <p:spPr>
          <a:xfrm>
            <a:off x="1681907" y="1092994"/>
            <a:ext cx="563017" cy="307181"/>
          </a:xfrm>
          <a:prstGeom prst="rect">
            <a:avLst/>
          </a:prstGeom>
          <a:noFill/>
          <a:ln/>
        </p:spPr>
        <p:txBody>
          <a:bodyPr wrap="none" lIns="92869" tIns="0" rIns="92869" bIns="0" rtlCol="0" anchor="t"/>
          <a:lstStyle/>
          <a:p>
            <a:pPr algn="l" indent="0" marL="0">
              <a:buNone/>
            </a:pPr>
            <a:r>
              <a:rPr lang="en-US" sz="800" b="1" dirty="0">
                <a:solidFill>
                  <a:srgbClr val="10B981"/>
                </a:solidFill>
                <a:latin typeface="Courier New" pitchFamily="34" charset="0"/>
                <a:ea typeface="Courier New" pitchFamily="34" charset="-122"/>
                <a:cs typeface="Courier New" pitchFamily="34" charset="-120"/>
              </a:rPr>
              <a:t>Security</a:t>
            </a:r>
            <a:endParaRPr lang="en-US" sz="800" dirty="0"/>
          </a:p>
        </p:txBody>
      </p:sp>
      <p:sp>
        <p:nvSpPr>
          <p:cNvPr id="11" name="Text 9"/>
          <p:cNvSpPr/>
          <p:nvPr/>
        </p:nvSpPr>
        <p:spPr>
          <a:xfrm>
            <a:off x="2244923" y="1092994"/>
            <a:ext cx="2377083" cy="307181"/>
          </a:xfrm>
          <a:prstGeom prst="rect">
            <a:avLst/>
          </a:prstGeom>
          <a:noFill/>
          <a:ln/>
        </p:spPr>
        <p:txBody>
          <a:bodyPr wrap="none" lIns="92869" tIns="0" rIns="92869" bIns="0" rtlCol="0" anchor="t"/>
          <a:lstStyle/>
          <a:p>
            <a:pPr algn="l" indent="0" marL="0">
              <a:buNone/>
            </a:pPr>
            <a:r>
              <a:rPr lang="en-US" sz="800" dirty="0">
                <a:solidFill>
                  <a:srgbClr val="6B6B6B"/>
                </a:solidFill>
                <a:latin typeface="Courier New" pitchFamily="34" charset="0"/>
                <a:ea typeface="Courier New" pitchFamily="34" charset="-122"/>
                <a:cs typeface="Courier New" pitchFamily="34" charset="-120"/>
              </a:rPr>
              <a:t>Settings</a:t>
            </a:r>
            <a:endParaRPr lang="en-US" sz="800" dirty="0"/>
          </a:p>
        </p:txBody>
      </p:sp>
      <p:sp>
        <p:nvSpPr>
          <p:cNvPr id="12" name="Shape 10"/>
          <p:cNvSpPr/>
          <p:nvPr/>
        </p:nvSpPr>
        <p:spPr>
          <a:xfrm>
            <a:off x="407194" y="1782366"/>
            <a:ext cx="4271963" cy="0"/>
          </a:xfrm>
          <a:prstGeom prst="line">
            <a:avLst/>
          </a:prstGeom>
          <a:noFill/>
          <a:ln w="7144">
            <a:solidFill>
              <a:srgbClr val="1A1A1A"/>
            </a:solidFill>
            <a:prstDash val="solid"/>
          </a:ln>
        </p:spPr>
      </p:sp>
      <p:sp>
        <p:nvSpPr>
          <p:cNvPr id="13" name="Text 11"/>
          <p:cNvSpPr/>
          <p:nvPr/>
        </p:nvSpPr>
        <p:spPr>
          <a:xfrm>
            <a:off x="498634" y="1481042"/>
            <a:ext cx="637312" cy="224028"/>
          </a:xfrm>
          <a:prstGeom prst="rect">
            <a:avLst/>
          </a:prstGeom>
          <a:solidFill>
            <a:srgbClr val="FFFFFF"/>
          </a:solidFill>
          <a:ln w="7144">
            <a:solidFill>
              <a:srgbClr val="10B981"/>
            </a:solidFill>
            <a:prstDash val="solid"/>
          </a:ln>
        </p:spPr>
        <p:txBody>
          <a:bodyPr wrap="square" rtlCol="0" anchor="ctr"/>
          <a:lstStyle/>
          <a:p>
            <a:pPr indent="0" marL="0">
              <a:buNone/>
            </a:pPr>
            <a:endParaRPr lang="en-US" dirty="0"/>
          </a:p>
        </p:txBody>
      </p:sp>
      <p:sp>
        <p:nvSpPr>
          <p:cNvPr id="14" name="Text 12"/>
          <p:cNvSpPr/>
          <p:nvPr/>
        </p:nvSpPr>
        <p:spPr>
          <a:xfrm>
            <a:off x="521494" y="1493044"/>
            <a:ext cx="3578907" cy="200025"/>
          </a:xfrm>
          <a:prstGeom prst="rect">
            <a:avLst/>
          </a:prstGeom>
          <a:noFill/>
          <a:ln/>
        </p:spPr>
        <p:txBody>
          <a:bodyPr wrap="none" lIns="100013" tIns="50006" rIns="100013" bIns="50006" rtlCol="0" anchor="t"/>
          <a:lstStyle/>
          <a:p>
            <a:pPr algn="l" indent="0" marL="0">
              <a:buNone/>
            </a:pPr>
            <a:r>
              <a:rPr lang="en-US" sz="800" b="1" dirty="0">
                <a:solidFill>
                  <a:srgbClr val="10B981"/>
                </a:solidFill>
                <a:latin typeface="Courier New" pitchFamily="34" charset="0"/>
                <a:ea typeface="Courier New" pitchFamily="34" charset="-122"/>
                <a:cs typeface="Courier New" pitchFamily="34" charset="-120"/>
              </a:rPr>
              <a:t>Run scan</a:t>
            </a:r>
            <a:endParaRPr lang="en-US" sz="800" dirty="0"/>
          </a:p>
        </p:txBody>
      </p:sp>
      <p:sp>
        <p:nvSpPr>
          <p:cNvPr id="15" name="Text 13"/>
          <p:cNvSpPr/>
          <p:nvPr/>
        </p:nvSpPr>
        <p:spPr>
          <a:xfrm>
            <a:off x="4098950" y="1550194"/>
            <a:ext cx="481645" cy="125403"/>
          </a:xfrm>
          <a:prstGeom prst="rect">
            <a:avLst/>
          </a:prstGeom>
          <a:noFill/>
          <a:ln/>
        </p:spPr>
        <p:txBody>
          <a:bodyPr wrap="none" lIns="0" tIns="0" rIns="0" bIns="0" rtlCol="0" anchor="t"/>
          <a:lstStyle/>
          <a:p>
            <a:pPr algn="l" indent="0" marL="0">
              <a:buNone/>
            </a:pPr>
            <a:r>
              <a:rPr lang="en-US" sz="600" dirty="0">
                <a:solidFill>
                  <a:srgbClr val="6B6B6B"/>
                </a:solidFill>
                <a:latin typeface="Liberation Sans Narrow" pitchFamily="34" charset="0"/>
                <a:ea typeface="Liberation Sans Narrow" pitchFamily="34" charset="-122"/>
                <a:cs typeface="Liberation Sans Narrow" pitchFamily="34" charset="-120"/>
              </a:rPr>
              <a:t>3 findings</a:t>
            </a:r>
            <a:endParaRPr lang="en-US" sz="600" dirty="0"/>
          </a:p>
        </p:txBody>
      </p:sp>
      <p:sp>
        <p:nvSpPr>
          <p:cNvPr id="16" name="Shape 14"/>
          <p:cNvSpPr/>
          <p:nvPr/>
        </p:nvSpPr>
        <p:spPr>
          <a:xfrm>
            <a:off x="407194" y="2749116"/>
            <a:ext cx="4271963" cy="0"/>
          </a:xfrm>
          <a:prstGeom prst="line">
            <a:avLst/>
          </a:prstGeom>
          <a:noFill/>
          <a:ln w="7144">
            <a:solidFill>
              <a:srgbClr val="1A1A1A"/>
            </a:solidFill>
            <a:prstDash val="solid"/>
          </a:ln>
        </p:spPr>
      </p:sp>
      <p:sp>
        <p:nvSpPr>
          <p:cNvPr id="17" name="Text 15"/>
          <p:cNvSpPr/>
          <p:nvPr/>
        </p:nvSpPr>
        <p:spPr>
          <a:xfrm>
            <a:off x="521494" y="2162101"/>
            <a:ext cx="57150" cy="57150"/>
          </a:xfrm>
          <a:prstGeom prst="ellipse">
            <a:avLst/>
          </a:prstGeom>
          <a:solidFill>
            <a:srgbClr val="C62828"/>
          </a:solidFill>
          <a:ln/>
        </p:spPr>
        <p:txBody>
          <a:bodyPr wrap="square" rtlCol="0" anchor="ctr"/>
          <a:lstStyle/>
          <a:p>
            <a:pPr indent="0" marL="0">
              <a:buNone/>
            </a:pPr>
            <a:endParaRPr lang="en-US" dirty="0"/>
          </a:p>
        </p:txBody>
      </p:sp>
      <p:sp>
        <p:nvSpPr>
          <p:cNvPr id="18" name="Text 16"/>
          <p:cNvSpPr/>
          <p:nvPr/>
        </p:nvSpPr>
        <p:spPr>
          <a:xfrm>
            <a:off x="650081" y="2122667"/>
            <a:ext cx="485887" cy="136017"/>
          </a:xfrm>
          <a:prstGeom prst="rect">
            <a:avLst/>
          </a:prstGeom>
          <a:solidFill>
            <a:srgbClr val="FFFFFF"/>
          </a:solidFill>
          <a:ln w="7144">
            <a:solidFill>
              <a:srgbClr val="C62828"/>
            </a:solidFill>
            <a:prstDash val="solid"/>
          </a:ln>
        </p:spPr>
        <p:txBody>
          <a:bodyPr wrap="square" rtlCol="0" anchor="ctr"/>
          <a:lstStyle/>
          <a:p>
            <a:pPr indent="0" marL="0">
              <a:buNone/>
            </a:pPr>
            <a:endParaRPr lang="en-US" dirty="0"/>
          </a:p>
        </p:txBody>
      </p:sp>
      <p:sp>
        <p:nvSpPr>
          <p:cNvPr id="19" name="Text 17"/>
          <p:cNvSpPr/>
          <p:nvPr/>
        </p:nvSpPr>
        <p:spPr>
          <a:xfrm>
            <a:off x="650081" y="2129954"/>
            <a:ext cx="3278870" cy="186538"/>
          </a:xfrm>
          <a:prstGeom prst="rect">
            <a:avLst/>
          </a:prstGeom>
          <a:noFill/>
          <a:ln/>
        </p:spPr>
        <p:txBody>
          <a:bodyPr wrap="none" lIns="64294" tIns="14288" rIns="64294" bIns="14288" rtlCol="0" anchor="t"/>
          <a:lstStyle/>
          <a:p>
            <a:pPr algn="l" indent="0" marL="0">
              <a:buNone/>
            </a:pPr>
            <a:r>
              <a:rPr lang="en-US" sz="800" b="1" dirty="0">
                <a:solidFill>
                  <a:srgbClr val="C62828"/>
                </a:solidFill>
                <a:latin typeface="Courier New" pitchFamily="34" charset="0"/>
                <a:ea typeface="Courier New" pitchFamily="34" charset="-122"/>
                <a:cs typeface="Courier New" pitchFamily="34" charset="-120"/>
              </a:rPr>
              <a:t>BREAKING</a:t>
            </a:r>
            <a:endParaRPr lang="en-US" sz="800" dirty="0"/>
          </a:p>
        </p:txBody>
      </p:sp>
      <p:sp>
        <p:nvSpPr>
          <p:cNvPr id="20" name="Text 18"/>
          <p:cNvSpPr/>
          <p:nvPr/>
        </p:nvSpPr>
        <p:spPr>
          <a:xfrm>
            <a:off x="3945714" y="2151385"/>
            <a:ext cx="638099" cy="120701"/>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pin or migrate</a:t>
            </a:r>
            <a:endParaRPr lang="en-US" sz="600" dirty="0"/>
          </a:p>
        </p:txBody>
      </p:sp>
      <p:sp>
        <p:nvSpPr>
          <p:cNvPr id="21" name="Text 19"/>
          <p:cNvSpPr/>
          <p:nvPr/>
        </p:nvSpPr>
        <p:spPr>
          <a:xfrm>
            <a:off x="521494" y="2315691"/>
            <a:ext cx="4043363" cy="119703"/>
          </a:xfrm>
          <a:prstGeom prst="rect">
            <a:avLst/>
          </a:prstGeom>
          <a:noFill/>
          <a:ln/>
        </p:spPr>
        <p:txBody>
          <a:bodyPr wrap="square" lIns="128588" tIns="0" rIns="0" bIns="0"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pydantic 1.10 → 2.0 · major bump</a:t>
            </a:r>
            <a:endParaRPr lang="en-US" sz="800" dirty="0"/>
          </a:p>
        </p:txBody>
      </p:sp>
      <p:sp>
        <p:nvSpPr>
          <p:cNvPr id="22" name="Shape 20"/>
          <p:cNvSpPr/>
          <p:nvPr/>
        </p:nvSpPr>
        <p:spPr>
          <a:xfrm>
            <a:off x="407194" y="3715978"/>
            <a:ext cx="4271963" cy="0"/>
          </a:xfrm>
          <a:prstGeom prst="line">
            <a:avLst/>
          </a:prstGeom>
          <a:noFill/>
          <a:ln w="7144">
            <a:solidFill>
              <a:srgbClr val="1A1A1A"/>
            </a:solidFill>
            <a:prstDash val="solid"/>
          </a:ln>
        </p:spPr>
      </p:sp>
      <p:sp>
        <p:nvSpPr>
          <p:cNvPr id="23" name="Text 21"/>
          <p:cNvSpPr/>
          <p:nvPr/>
        </p:nvSpPr>
        <p:spPr>
          <a:xfrm>
            <a:off x="521494" y="3128963"/>
            <a:ext cx="57150" cy="57150"/>
          </a:xfrm>
          <a:prstGeom prst="ellipse">
            <a:avLst/>
          </a:prstGeom>
          <a:solidFill>
            <a:srgbClr val="A16207"/>
          </a:solidFill>
          <a:ln/>
        </p:spPr>
        <p:txBody>
          <a:bodyPr wrap="square" rtlCol="0" anchor="ctr"/>
          <a:lstStyle/>
          <a:p>
            <a:pPr indent="0" marL="0">
              <a:buNone/>
            </a:pPr>
            <a:endParaRPr lang="en-US" dirty="0"/>
          </a:p>
        </p:txBody>
      </p:sp>
      <p:sp>
        <p:nvSpPr>
          <p:cNvPr id="24" name="Text 22"/>
          <p:cNvSpPr/>
          <p:nvPr/>
        </p:nvSpPr>
        <p:spPr>
          <a:xfrm>
            <a:off x="650081" y="3089529"/>
            <a:ext cx="400162" cy="136017"/>
          </a:xfrm>
          <a:prstGeom prst="rect">
            <a:avLst/>
          </a:prstGeom>
          <a:solidFill>
            <a:srgbClr val="FFFFFF"/>
          </a:solidFill>
          <a:ln w="7144">
            <a:solidFill>
              <a:srgbClr val="A16207"/>
            </a:solidFill>
            <a:prstDash val="solid"/>
          </a:ln>
        </p:spPr>
        <p:txBody>
          <a:bodyPr wrap="square" rtlCol="0" anchor="ctr"/>
          <a:lstStyle/>
          <a:p>
            <a:pPr indent="0" marL="0">
              <a:buNone/>
            </a:pPr>
            <a:endParaRPr lang="en-US" dirty="0"/>
          </a:p>
        </p:txBody>
      </p:sp>
      <p:sp>
        <p:nvSpPr>
          <p:cNvPr id="25" name="Text 23"/>
          <p:cNvSpPr/>
          <p:nvPr/>
        </p:nvSpPr>
        <p:spPr>
          <a:xfrm>
            <a:off x="650081" y="3096816"/>
            <a:ext cx="3450320" cy="186538"/>
          </a:xfrm>
          <a:prstGeom prst="rect">
            <a:avLst/>
          </a:prstGeom>
          <a:noFill/>
          <a:ln/>
        </p:spPr>
        <p:txBody>
          <a:bodyPr wrap="none" lIns="64294" tIns="14288" rIns="64294" bIns="14288" rtlCol="0" anchor="t"/>
          <a:lstStyle/>
          <a:p>
            <a:pPr algn="l" indent="0" marL="0">
              <a:buNone/>
            </a:pPr>
            <a:r>
              <a:rPr lang="en-US" sz="800" b="1" dirty="0">
                <a:solidFill>
                  <a:srgbClr val="A16207"/>
                </a:solidFill>
                <a:latin typeface="Courier New" pitchFamily="34" charset="0"/>
                <a:ea typeface="Courier New" pitchFamily="34" charset="-122"/>
                <a:cs typeface="Courier New" pitchFamily="34" charset="-120"/>
              </a:rPr>
              <a:t>SECRET</a:t>
            </a:r>
            <a:endParaRPr lang="en-US" sz="800" dirty="0"/>
          </a:p>
        </p:txBody>
      </p:sp>
      <p:sp>
        <p:nvSpPr>
          <p:cNvPr id="26" name="Text 24"/>
          <p:cNvSpPr/>
          <p:nvPr/>
        </p:nvSpPr>
        <p:spPr>
          <a:xfrm>
            <a:off x="4114161" y="3118247"/>
            <a:ext cx="472653" cy="120701"/>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rotate key</a:t>
            </a:r>
            <a:endParaRPr lang="en-US" sz="600" dirty="0"/>
          </a:p>
        </p:txBody>
      </p:sp>
      <p:sp>
        <p:nvSpPr>
          <p:cNvPr id="27" name="Text 25"/>
          <p:cNvSpPr/>
          <p:nvPr/>
        </p:nvSpPr>
        <p:spPr>
          <a:xfrm>
            <a:off x="521494" y="3282553"/>
            <a:ext cx="4043363" cy="119703"/>
          </a:xfrm>
          <a:prstGeom prst="rect">
            <a:avLst/>
          </a:prstGeom>
          <a:noFill/>
          <a:ln/>
        </p:spPr>
        <p:txBody>
          <a:bodyPr wrap="square" lIns="128588" tIns="0" rIns="0" bIns="0"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API key regex · services/llm.py:42</a:t>
            </a:r>
            <a:endParaRPr lang="en-US" sz="800" dirty="0"/>
          </a:p>
        </p:txBody>
      </p:sp>
      <p:sp>
        <p:nvSpPr>
          <p:cNvPr id="28" name="Text 26"/>
          <p:cNvSpPr/>
          <p:nvPr/>
        </p:nvSpPr>
        <p:spPr>
          <a:xfrm>
            <a:off x="521494" y="4095713"/>
            <a:ext cx="57150" cy="57150"/>
          </a:xfrm>
          <a:prstGeom prst="ellipse">
            <a:avLst/>
          </a:prstGeom>
          <a:solidFill>
            <a:srgbClr val="C2570F"/>
          </a:solidFill>
          <a:ln/>
        </p:spPr>
        <p:txBody>
          <a:bodyPr wrap="square" rtlCol="0" anchor="ctr"/>
          <a:lstStyle/>
          <a:p>
            <a:pPr indent="0" marL="0">
              <a:buNone/>
            </a:pPr>
            <a:endParaRPr lang="en-US" dirty="0"/>
          </a:p>
        </p:txBody>
      </p:sp>
      <p:sp>
        <p:nvSpPr>
          <p:cNvPr id="29" name="Text 27"/>
          <p:cNvSpPr/>
          <p:nvPr/>
        </p:nvSpPr>
        <p:spPr>
          <a:xfrm>
            <a:off x="650081" y="4056279"/>
            <a:ext cx="271574" cy="136017"/>
          </a:xfrm>
          <a:prstGeom prst="rect">
            <a:avLst/>
          </a:prstGeom>
          <a:solidFill>
            <a:srgbClr val="FFFFFF"/>
          </a:solidFill>
          <a:ln w="7144">
            <a:solidFill>
              <a:srgbClr val="C2570F"/>
            </a:solidFill>
            <a:prstDash val="solid"/>
          </a:ln>
        </p:spPr>
        <p:txBody>
          <a:bodyPr wrap="square" rtlCol="0" anchor="ctr"/>
          <a:lstStyle/>
          <a:p>
            <a:pPr indent="0" marL="0">
              <a:buNone/>
            </a:pPr>
            <a:endParaRPr lang="en-US" dirty="0"/>
          </a:p>
        </p:txBody>
      </p:sp>
      <p:sp>
        <p:nvSpPr>
          <p:cNvPr id="30" name="Text 28"/>
          <p:cNvSpPr/>
          <p:nvPr/>
        </p:nvSpPr>
        <p:spPr>
          <a:xfrm>
            <a:off x="650081" y="4063566"/>
            <a:ext cx="3578907" cy="186538"/>
          </a:xfrm>
          <a:prstGeom prst="rect">
            <a:avLst/>
          </a:prstGeom>
          <a:noFill/>
          <a:ln/>
        </p:spPr>
        <p:txBody>
          <a:bodyPr wrap="none" lIns="64294" tIns="14288" rIns="64294" bIns="14288" rtlCol="0" anchor="t"/>
          <a:lstStyle/>
          <a:p>
            <a:pPr algn="l" indent="0" marL="0">
              <a:buNone/>
            </a:pPr>
            <a:r>
              <a:rPr lang="en-US" sz="800" b="1" dirty="0">
                <a:solidFill>
                  <a:srgbClr val="C2570F"/>
                </a:solidFill>
                <a:latin typeface="Courier New" pitchFamily="34" charset="0"/>
                <a:ea typeface="Courier New" pitchFamily="34" charset="-122"/>
                <a:cs typeface="Courier New" pitchFamily="34" charset="-120"/>
              </a:rPr>
              <a:t>CVE</a:t>
            </a:r>
            <a:endParaRPr lang="en-US" sz="800" dirty="0"/>
          </a:p>
        </p:txBody>
      </p:sp>
      <p:sp>
        <p:nvSpPr>
          <p:cNvPr id="31" name="Text 29"/>
          <p:cNvSpPr/>
          <p:nvPr/>
        </p:nvSpPr>
        <p:spPr>
          <a:xfrm>
            <a:off x="4264707" y="4084997"/>
            <a:ext cx="384191" cy="120701"/>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upgrade</a:t>
            </a:r>
            <a:endParaRPr lang="en-US" sz="600" dirty="0"/>
          </a:p>
        </p:txBody>
      </p:sp>
      <p:sp>
        <p:nvSpPr>
          <p:cNvPr id="32" name="Text 30"/>
          <p:cNvSpPr/>
          <p:nvPr/>
        </p:nvSpPr>
        <p:spPr>
          <a:xfrm>
            <a:off x="521494" y="4249303"/>
            <a:ext cx="4043363" cy="119703"/>
          </a:xfrm>
          <a:prstGeom prst="rect">
            <a:avLst/>
          </a:prstGeom>
          <a:noFill/>
          <a:ln/>
        </p:spPr>
        <p:txBody>
          <a:bodyPr wrap="square" lIns="128588" tIns="0" rIns="0" bIns="0"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requests 2.28.0 · known advisory</a:t>
            </a:r>
            <a:endParaRPr lang="en-US" sz="800" dirty="0"/>
          </a:p>
        </p:txBody>
      </p:sp>
      <p:sp>
        <p:nvSpPr>
          <p:cNvPr id="33" name="Text 31"/>
          <p:cNvSpPr/>
          <p:nvPr/>
        </p:nvSpPr>
        <p:spPr>
          <a:xfrm>
            <a:off x="4857750" y="1135856"/>
            <a:ext cx="35719" cy="35719"/>
          </a:xfrm>
          <a:prstGeom prst="rect">
            <a:avLst/>
          </a:prstGeom>
          <a:solidFill>
            <a:srgbClr val="10B981"/>
          </a:solidFill>
          <a:ln/>
        </p:spPr>
        <p:txBody>
          <a:bodyPr wrap="square" rtlCol="0" anchor="ctr"/>
          <a:lstStyle/>
          <a:p>
            <a:pPr indent="0" marL="0">
              <a:buNone/>
            </a:pPr>
            <a:endParaRPr lang="en-US" dirty="0"/>
          </a:p>
        </p:txBody>
      </p:sp>
      <p:sp>
        <p:nvSpPr>
          <p:cNvPr id="34" name="Text 32"/>
          <p:cNvSpPr/>
          <p:nvPr/>
        </p:nvSpPr>
        <p:spPr>
          <a:xfrm>
            <a:off x="4979194" y="1085850"/>
            <a:ext cx="1488746" cy="126493"/>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A1A1A"/>
                </a:solidFill>
                <a:latin typeface="Courier New" pitchFamily="34" charset="0"/>
                <a:ea typeface="Courier New" pitchFamily="34" charset="-122"/>
                <a:cs typeface="Courier New" pitchFamily="34" charset="-120"/>
              </a:rPr>
              <a:t>POST /api/security/scan</a:t>
            </a:r>
            <a:endParaRPr lang="en-US" sz="800" dirty="0"/>
          </a:p>
        </p:txBody>
      </p:sp>
      <p:sp>
        <p:nvSpPr>
          <p:cNvPr id="35" name="Text 33"/>
          <p:cNvSpPr/>
          <p:nvPr/>
        </p:nvSpPr>
        <p:spPr>
          <a:xfrm>
            <a:off x="4979194" y="1239775"/>
            <a:ext cx="1461678"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one endpoint returns the full flag list</a:t>
            </a:r>
            <a:endParaRPr lang="en-US" sz="675" dirty="0"/>
          </a:p>
        </p:txBody>
      </p:sp>
      <p:sp>
        <p:nvSpPr>
          <p:cNvPr id="36" name="Text 34"/>
          <p:cNvSpPr/>
          <p:nvPr/>
        </p:nvSpPr>
        <p:spPr>
          <a:xfrm>
            <a:off x="4857750" y="1861170"/>
            <a:ext cx="35719" cy="35719"/>
          </a:xfrm>
          <a:prstGeom prst="rect">
            <a:avLst/>
          </a:prstGeom>
          <a:solidFill>
            <a:srgbClr val="10B981"/>
          </a:solidFill>
          <a:ln/>
        </p:spPr>
        <p:txBody>
          <a:bodyPr wrap="square" rtlCol="0" anchor="ctr"/>
          <a:lstStyle/>
          <a:p>
            <a:pPr indent="0" marL="0">
              <a:buNone/>
            </a:pPr>
            <a:endParaRPr lang="en-US" dirty="0"/>
          </a:p>
        </p:txBody>
      </p:sp>
      <p:sp>
        <p:nvSpPr>
          <p:cNvPr id="37" name="Text 35"/>
          <p:cNvSpPr/>
          <p:nvPr/>
        </p:nvSpPr>
        <p:spPr>
          <a:xfrm>
            <a:off x="4979194" y="1811164"/>
            <a:ext cx="1721348" cy="131293"/>
          </a:xfrm>
          <a:prstGeom prst="rect">
            <a:avLst/>
          </a:prstGeom>
          <a:noFill/>
          <a:ln/>
        </p:spPr>
        <p:txBody>
          <a:bodyPr wrap="none" lIns="0" tIns="0" rIns="0" bIns="0" rtlCol="0" anchor="t">
            <a:normAutofit/>
          </a:bodyPr>
          <a:lstStyle/>
          <a:p>
            <a:pPr algn="l" indent="0" marL="0">
              <a:lnSpc>
                <a:spcPts val="1025"/>
              </a:lnSpc>
              <a:buNone/>
            </a:pPr>
            <a:r>
              <a:rPr lang="en-US" sz="800" dirty="0">
                <a:solidFill>
                  <a:srgbClr val="1A1A1A"/>
                </a:solidFill>
                <a:latin typeface="Carlito" pitchFamily="34" charset="0"/>
                <a:ea typeface="Carlito" pitchFamily="34" charset="-122"/>
                <a:cs typeface="Carlito" pitchFamily="34" charset="-120"/>
              </a:rPr>
              <a:t>API-key regex detection</a:t>
            </a:r>
            <a:endParaRPr lang="en-US" sz="800" dirty="0"/>
          </a:p>
        </p:txBody>
      </p:sp>
      <p:sp>
        <p:nvSpPr>
          <p:cNvPr id="38" name="Text 36"/>
          <p:cNvSpPr/>
          <p:nvPr/>
        </p:nvSpPr>
        <p:spPr>
          <a:xfrm>
            <a:off x="4979194" y="1969889"/>
            <a:ext cx="1770529"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sk-, ghp_, AKIA… patterns flagged on sight</a:t>
            </a:r>
            <a:endParaRPr lang="en-US" sz="675" dirty="0"/>
          </a:p>
        </p:txBody>
      </p:sp>
      <p:sp>
        <p:nvSpPr>
          <p:cNvPr id="39" name="Text 37"/>
          <p:cNvSpPr/>
          <p:nvPr/>
        </p:nvSpPr>
        <p:spPr>
          <a:xfrm>
            <a:off x="4857750" y="2591172"/>
            <a:ext cx="35719" cy="35719"/>
          </a:xfrm>
          <a:prstGeom prst="rect">
            <a:avLst/>
          </a:prstGeom>
          <a:solidFill>
            <a:srgbClr val="10B981"/>
          </a:solidFill>
          <a:ln/>
        </p:spPr>
        <p:txBody>
          <a:bodyPr wrap="square" rtlCol="0" anchor="ctr"/>
          <a:lstStyle/>
          <a:p>
            <a:pPr indent="0" marL="0">
              <a:buNone/>
            </a:pPr>
            <a:endParaRPr lang="en-US" dirty="0"/>
          </a:p>
        </p:txBody>
      </p:sp>
      <p:sp>
        <p:nvSpPr>
          <p:cNvPr id="40" name="Text 38"/>
          <p:cNvSpPr/>
          <p:nvPr/>
        </p:nvSpPr>
        <p:spPr>
          <a:xfrm>
            <a:off x="4979194" y="2541166"/>
            <a:ext cx="1690993" cy="133637"/>
          </a:xfrm>
          <a:prstGeom prst="rect">
            <a:avLst/>
          </a:prstGeom>
          <a:noFill/>
          <a:ln/>
        </p:spPr>
        <p:txBody>
          <a:bodyPr wrap="none" lIns="0" tIns="0" rIns="0" bIns="0" rtlCol="0" anchor="t">
            <a:normAutofit/>
          </a:bodyPr>
          <a:lstStyle/>
          <a:p>
            <a:pPr algn="l" indent="0" marL="0">
              <a:lnSpc>
                <a:spcPts val="1025"/>
              </a:lnSpc>
              <a:buNone/>
            </a:pPr>
            <a:r>
              <a:rPr lang="en-US" sz="800" dirty="0">
                <a:solidFill>
                  <a:srgbClr val="1A1A1A"/>
                </a:solidFill>
                <a:latin typeface="Courier New" pitchFamily="34" charset="0"/>
                <a:ea typeface="Courier New" pitchFamily="34" charset="-122"/>
                <a:cs typeface="Courier New" pitchFamily="34" charset="-120"/>
              </a:rPr>
              <a:t>.env</a:t>
            </a:r>
            <a:pPr algn="l" indent="0" marL="0">
              <a:lnSpc>
                <a:spcPts val="1025"/>
              </a:lnSpc>
              <a:buNone/>
            </a:pPr>
            <a:r>
              <a:rPr lang="en-US" sz="800" dirty="0">
                <a:solidFill>
                  <a:srgbClr val="1A1A1A"/>
                </a:solidFill>
                <a:latin typeface="Carlito" pitchFamily="34" charset="0"/>
                <a:ea typeface="Carlito" pitchFamily="34" charset="-122"/>
                <a:cs typeface="Carlito" pitchFamily="34" charset="-120"/>
              </a:rPr>
              <a:t> leak detection</a:t>
            </a:r>
            <a:endParaRPr lang="en-US" sz="800" dirty="0"/>
          </a:p>
        </p:txBody>
      </p:sp>
      <p:sp>
        <p:nvSpPr>
          <p:cNvPr id="41" name="Text 39"/>
          <p:cNvSpPr/>
          <p:nvPr/>
        </p:nvSpPr>
        <p:spPr>
          <a:xfrm>
            <a:off x="4979194" y="2702235"/>
            <a:ext cx="1739307"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secrets committed to git history are caught</a:t>
            </a:r>
            <a:endParaRPr lang="en-US" sz="675" dirty="0"/>
          </a:p>
        </p:txBody>
      </p:sp>
      <p:sp>
        <p:nvSpPr>
          <p:cNvPr id="42" name="Text 40"/>
          <p:cNvSpPr/>
          <p:nvPr/>
        </p:nvSpPr>
        <p:spPr>
          <a:xfrm>
            <a:off x="4857750" y="3323630"/>
            <a:ext cx="35719" cy="35719"/>
          </a:xfrm>
          <a:prstGeom prst="rect">
            <a:avLst/>
          </a:prstGeom>
          <a:solidFill>
            <a:srgbClr val="10B981"/>
          </a:solidFill>
          <a:ln/>
        </p:spPr>
        <p:txBody>
          <a:bodyPr wrap="square" rtlCol="0" anchor="ctr"/>
          <a:lstStyle/>
          <a:p>
            <a:pPr indent="0" marL="0">
              <a:buNone/>
            </a:pPr>
            <a:endParaRPr lang="en-US" dirty="0"/>
          </a:p>
        </p:txBody>
      </p:sp>
      <p:sp>
        <p:nvSpPr>
          <p:cNvPr id="43" name="Text 41"/>
          <p:cNvSpPr/>
          <p:nvPr/>
        </p:nvSpPr>
        <p:spPr>
          <a:xfrm>
            <a:off x="4979194" y="3273623"/>
            <a:ext cx="2416708" cy="131293"/>
          </a:xfrm>
          <a:prstGeom prst="rect">
            <a:avLst/>
          </a:prstGeom>
          <a:noFill/>
          <a:ln/>
        </p:spPr>
        <p:txBody>
          <a:bodyPr wrap="none" lIns="0" tIns="0" rIns="0" bIns="0" rtlCol="0" anchor="t">
            <a:normAutofit/>
          </a:bodyPr>
          <a:lstStyle/>
          <a:p>
            <a:pPr algn="l" indent="0" marL="0">
              <a:lnSpc>
                <a:spcPts val="1025"/>
              </a:lnSpc>
              <a:buNone/>
            </a:pPr>
            <a:r>
              <a:rPr lang="en-US" sz="800" dirty="0">
                <a:solidFill>
                  <a:srgbClr val="1A1A1A"/>
                </a:solidFill>
                <a:latin typeface="Carlito" pitchFamily="34" charset="0"/>
                <a:ea typeface="Carlito" pitchFamily="34" charset="-122"/>
                <a:cs typeface="Carlito" pitchFamily="34" charset="-120"/>
              </a:rPr>
              <a:t>Major bump = BREAKING</a:t>
            </a:r>
            <a:endParaRPr lang="en-US" sz="800" dirty="0"/>
          </a:p>
        </p:txBody>
      </p:sp>
      <p:sp>
        <p:nvSpPr>
          <p:cNvPr id="44" name="Text 42"/>
          <p:cNvSpPr/>
          <p:nvPr/>
        </p:nvSpPr>
        <p:spPr>
          <a:xfrm>
            <a:off x="4979194" y="3432349"/>
            <a:ext cx="2301627" cy="164592"/>
          </a:xfrm>
          <a:prstGeom prst="rect">
            <a:avLst/>
          </a:prstGeom>
          <a:noFill/>
          <a:ln/>
        </p:spPr>
        <p:txBody>
          <a:bodyPr wrap="square" lIns="0" tIns="0" rIns="0" bIns="0" rtlCol="0" anchor="t"/>
          <a:lstStyle/>
          <a:p>
            <a:pPr algn="l" indent="0" marL="0">
              <a:lnSpc>
                <a:spcPts val="1013"/>
              </a:lnSpc>
              <a:buNone/>
            </a:pPr>
            <a:r>
              <a:rPr lang="en-US" sz="675" dirty="0">
                <a:solidFill>
                  <a:srgbClr val="6B6B6B"/>
                </a:solidFill>
                <a:latin typeface="Carlito" pitchFamily="34" charset="0"/>
                <a:ea typeface="Carlito" pitchFamily="34" charset="-122"/>
                <a:cs typeface="Carlito" pitchFamily="34" charset="-120"/>
              </a:rPr>
              <a:t>dependency major-version jumps flagged red before CI does</a:t>
            </a:r>
            <a:endParaRPr lang="en-US" sz="675" dirty="0"/>
          </a:p>
        </p:txBody>
      </p:sp>
      <p:sp>
        <p:nvSpPr>
          <p:cNvPr id="45" name="Text 43"/>
          <p:cNvSpPr/>
          <p:nvPr/>
        </p:nvSpPr>
        <p:spPr>
          <a:xfrm>
            <a:off x="4834890" y="3994196"/>
            <a:ext cx="1172535" cy="176022"/>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46" name="Text 44"/>
          <p:cNvSpPr/>
          <p:nvPr/>
        </p:nvSpPr>
        <p:spPr>
          <a:xfrm>
            <a:off x="4950619" y="4060775"/>
            <a:ext cx="42863" cy="42863"/>
          </a:xfrm>
          <a:prstGeom prst="roundRect">
            <a:avLst>
              <a:gd name="adj" fmla="val 66666"/>
            </a:avLst>
          </a:prstGeom>
          <a:solidFill>
            <a:srgbClr val="C62828"/>
          </a:solidFill>
          <a:ln/>
        </p:spPr>
        <p:txBody>
          <a:bodyPr wrap="square" rtlCol="0" anchor="ctr"/>
          <a:lstStyle/>
          <a:p>
            <a:pPr indent="0" marL="0">
              <a:buNone/>
            </a:pPr>
            <a:endParaRPr lang="en-US" dirty="0"/>
          </a:p>
        </p:txBody>
      </p:sp>
      <p:sp>
        <p:nvSpPr>
          <p:cNvPr id="47" name="Text 45"/>
          <p:cNvSpPr/>
          <p:nvPr/>
        </p:nvSpPr>
        <p:spPr>
          <a:xfrm>
            <a:off x="4857750" y="4003625"/>
            <a:ext cx="1126815" cy="215456"/>
          </a:xfrm>
          <a:prstGeom prst="rect">
            <a:avLst/>
          </a:prstGeom>
          <a:noFill/>
          <a:ln/>
        </p:spPr>
        <p:txBody>
          <a:bodyPr wrap="none" lIns="85725" tIns="28575" rIns="85725" bIns="28575" rtlCol="0" anchor="t">
            <a:normAutofit/>
          </a:bodyPr>
          <a:lstStyle/>
          <a:p>
            <a:pPr algn="l" indent="0" marL="0">
              <a:buNone/>
            </a:pPr>
            <a:r>
              <a:rPr lang="en-US" sz="800" dirty="0">
                <a:solidFill>
                  <a:srgbClr val="1A1A1A"/>
                </a:solidFill>
                <a:latin typeface="Courier New" pitchFamily="34" charset="0"/>
                <a:ea typeface="Courier New" pitchFamily="34" charset="-122"/>
                <a:cs typeface="Courier New" pitchFamily="34" charset="-120"/>
              </a:rPr>
              <a:t>Nord Security track</a:t>
            </a:r>
            <a:endParaRPr lang="en-US" sz="800" dirty="0"/>
          </a:p>
        </p:txBody>
      </p:sp>
      <p:sp>
        <p:nvSpPr>
          <p:cNvPr id="48" name="Text 46"/>
          <p:cNvSpPr/>
          <p:nvPr/>
        </p:nvSpPr>
        <p:spPr>
          <a:xfrm>
            <a:off x="4857750" y="4246513"/>
            <a:ext cx="3886200" cy="439787"/>
          </a:xfrm>
          <a:prstGeom prst="rect">
            <a:avLst/>
          </a:prstGeom>
          <a:solidFill>
            <a:srgbClr val="FFFFFF"/>
          </a:solidFill>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9" name="Shape 47"/>
          <p:cNvSpPr/>
          <p:nvPr/>
        </p:nvSpPr>
        <p:spPr>
          <a:xfrm>
            <a:off x="4857750" y="4250085"/>
            <a:ext cx="3886200" cy="0"/>
          </a:xfrm>
          <a:prstGeom prst="line">
            <a:avLst/>
          </a:prstGeom>
          <a:noFill/>
          <a:ln w="7144">
            <a:solidFill>
              <a:srgbClr val="1A1A1A"/>
            </a:solidFill>
            <a:prstDash val="solid"/>
          </a:ln>
        </p:spPr>
      </p:sp>
      <p:sp>
        <p:nvSpPr>
          <p:cNvPr id="50" name="Shape 48"/>
          <p:cNvSpPr/>
          <p:nvPr/>
        </p:nvSpPr>
        <p:spPr>
          <a:xfrm>
            <a:off x="8740378" y="4246513"/>
            <a:ext cx="0" cy="439787"/>
          </a:xfrm>
          <a:prstGeom prst="line">
            <a:avLst/>
          </a:prstGeom>
          <a:noFill/>
          <a:ln w="7144">
            <a:solidFill>
              <a:srgbClr val="1A1A1A"/>
            </a:solidFill>
            <a:prstDash val="solid"/>
          </a:ln>
        </p:spPr>
      </p:sp>
      <p:sp>
        <p:nvSpPr>
          <p:cNvPr id="51" name="Shape 49"/>
          <p:cNvSpPr/>
          <p:nvPr/>
        </p:nvSpPr>
        <p:spPr>
          <a:xfrm>
            <a:off x="4857750" y="4682728"/>
            <a:ext cx="3886200" cy="0"/>
          </a:xfrm>
          <a:prstGeom prst="line">
            <a:avLst/>
          </a:prstGeom>
          <a:noFill/>
          <a:ln w="7144">
            <a:solidFill>
              <a:srgbClr val="1A1A1A"/>
            </a:solidFill>
            <a:prstDash val="solid"/>
          </a:ln>
        </p:spPr>
      </p:sp>
      <p:sp>
        <p:nvSpPr>
          <p:cNvPr id="52" name="Shape 50"/>
          <p:cNvSpPr/>
          <p:nvPr/>
        </p:nvSpPr>
        <p:spPr>
          <a:xfrm>
            <a:off x="4872038" y="4246513"/>
            <a:ext cx="0" cy="439787"/>
          </a:xfrm>
          <a:prstGeom prst="line">
            <a:avLst/>
          </a:prstGeom>
          <a:noFill/>
          <a:ln w="28575">
            <a:solidFill>
              <a:srgbClr val="10B981"/>
            </a:solidFill>
            <a:prstDash val="solid"/>
          </a:ln>
        </p:spPr>
      </p:sp>
      <p:sp>
        <p:nvSpPr>
          <p:cNvPr id="53" name="Text 51"/>
          <p:cNvSpPr/>
          <p:nvPr/>
        </p:nvSpPr>
        <p:spPr>
          <a:xfrm>
            <a:off x="4986338" y="4339382"/>
            <a:ext cx="3650456" cy="91440"/>
          </a:xfrm>
          <a:prstGeom prst="rect">
            <a:avLst/>
          </a:prstGeom>
          <a:noFill/>
          <a:ln/>
        </p:spPr>
        <p:txBody>
          <a:bodyPr wrap="none" lIns="0" tIns="0" rIns="0" bIns="0" rtlCol="0" anchor="t">
            <a:normAutofit/>
          </a:bodyPr>
          <a:lstStyle/>
          <a:p>
            <a:pPr algn="l" indent="0" marL="0">
              <a:buNone/>
            </a:pPr>
            <a:r>
              <a:rPr lang="en-US" sz="800" b="1" spc="79" kern="0" dirty="0">
                <a:solidFill>
                  <a:srgbClr val="10B981"/>
                </a:solidFill>
                <a:latin typeface="Courier New" pitchFamily="34" charset="0"/>
                <a:ea typeface="Courier New" pitchFamily="34" charset="-122"/>
                <a:cs typeface="Courier New" pitchFamily="34" charset="-120"/>
              </a:rPr>
              <a:t>IMPACT</a:t>
            </a:r>
            <a:endParaRPr lang="en-US" sz="800" dirty="0"/>
          </a:p>
        </p:txBody>
      </p:sp>
      <p:sp>
        <p:nvSpPr>
          <p:cNvPr id="54" name="Text 52"/>
          <p:cNvSpPr/>
          <p:nvPr/>
        </p:nvSpPr>
        <p:spPr>
          <a:xfrm>
            <a:off x="4986338" y="4453682"/>
            <a:ext cx="3760184" cy="139750"/>
          </a:xfrm>
          <a:prstGeom prst="rect">
            <a:avLst/>
          </a:prstGeom>
          <a:noFill/>
          <a:ln/>
        </p:spPr>
        <p:txBody>
          <a:bodyPr wrap="square" lIns="0" tIns="0" rIns="0" bIns="0" rtlCol="0" anchor="t"/>
          <a:lstStyle/>
          <a:p>
            <a:pPr algn="l" indent="0" marL="0">
              <a:lnSpc>
                <a:spcPts val="1101"/>
              </a:lnSpc>
              <a:buNone/>
            </a:pPr>
            <a:r>
              <a:rPr lang="en-US" sz="816" b="1" dirty="0">
                <a:solidFill>
                  <a:srgbClr val="1A1A1A"/>
                </a:solidFill>
                <a:latin typeface="Carlito" pitchFamily="34" charset="0"/>
                <a:ea typeface="Carlito" pitchFamily="34" charset="-122"/>
                <a:cs typeface="Carlito" pitchFamily="34" charset="-120"/>
              </a:rPr>
              <a:t>Catch it in the tab — not in the incident channel.</a:t>
            </a:r>
            <a:endParaRPr lang="en-US" sz="816" dirty="0"/>
          </a:p>
        </p:txBody>
      </p:sp>
      <p:sp>
        <p:nvSpPr>
          <p:cNvPr id="55" name="Text 53"/>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410766"/>
            <a:ext cx="2211880" cy="119703"/>
          </a:xfrm>
          <a:prstGeom prst="rect">
            <a:avLst/>
          </a:prstGeom>
          <a:noFill/>
          <a:ln/>
        </p:spPr>
        <p:txBody>
          <a:bodyPr wrap="none" lIns="0" tIns="0" rIns="0" bIns="0" rtlCol="0" anchor="t"/>
          <a:lstStyle/>
          <a:p>
            <a:pPr algn="l" indent="0" marL="0">
              <a:buNone/>
            </a:pPr>
            <a:r>
              <a:rPr lang="en-US" sz="800" b="1" spc="87" kern="0" dirty="0">
                <a:solidFill>
                  <a:srgbClr val="10B981"/>
                </a:solidFill>
                <a:latin typeface="Liberation Sans Narrow" pitchFamily="34" charset="0"/>
                <a:ea typeface="Liberation Sans Narrow" pitchFamily="34" charset="-122"/>
                <a:cs typeface="Liberation Sans Narrow" pitchFamily="34" charset="-120"/>
              </a:rPr>
              <a:t>NEW IN 3.0 · FEATURE 05 / 05</a:t>
            </a:r>
            <a:endParaRPr lang="en-US" sz="800" dirty="0"/>
          </a:p>
        </p:txBody>
      </p:sp>
      <p:sp>
        <p:nvSpPr>
          <p:cNvPr id="3" name="Text 1"/>
          <p:cNvSpPr/>
          <p:nvPr/>
        </p:nvSpPr>
        <p:spPr>
          <a:xfrm>
            <a:off x="2114215" y="377619"/>
            <a:ext cx="337319" cy="152019"/>
          </a:xfrm>
          <a:prstGeom prst="rect">
            <a:avLst/>
          </a:prstGeom>
          <a:solidFill>
            <a:srgbClr val="FFFFFF"/>
          </a:solidFill>
          <a:ln w="7144">
            <a:solidFill>
              <a:srgbClr val="A16207"/>
            </a:solidFill>
            <a:prstDash val="solid"/>
          </a:ln>
        </p:spPr>
        <p:txBody>
          <a:bodyPr wrap="square" rtlCol="0" anchor="ctr"/>
          <a:lstStyle/>
          <a:p>
            <a:pPr indent="0" marL="0">
              <a:buNone/>
            </a:pPr>
            <a:endParaRPr lang="en-US" dirty="0"/>
          </a:p>
        </p:txBody>
      </p:sp>
      <p:sp>
        <p:nvSpPr>
          <p:cNvPr id="4" name="Text 2"/>
          <p:cNvSpPr/>
          <p:nvPr/>
        </p:nvSpPr>
        <p:spPr>
          <a:xfrm>
            <a:off x="2114215" y="385763"/>
            <a:ext cx="337319" cy="208483"/>
          </a:xfrm>
          <a:prstGeom prst="rect">
            <a:avLst/>
          </a:prstGeom>
          <a:noFill/>
          <a:ln/>
        </p:spPr>
        <p:txBody>
          <a:bodyPr wrap="none" lIns="64294" tIns="21431" rIns="64294" bIns="21431" rtlCol="0" anchor="t"/>
          <a:lstStyle/>
          <a:p>
            <a:pPr algn="l" indent="0" marL="0">
              <a:buNone/>
            </a:pPr>
            <a:r>
              <a:rPr lang="en-US" sz="800" b="1" spc="45" kern="0" dirty="0">
                <a:solidFill>
                  <a:srgbClr val="A16207"/>
                </a:solidFill>
                <a:latin typeface="Courier New" pitchFamily="34" charset="0"/>
                <a:ea typeface="Courier New" pitchFamily="34" charset="-122"/>
                <a:cs typeface="Courier New" pitchFamily="34" charset="-120"/>
              </a:rPr>
              <a:t>HERO</a:t>
            </a:r>
            <a:endParaRPr lang="en-US" sz="800" dirty="0"/>
          </a:p>
        </p:txBody>
      </p:sp>
      <p:sp>
        <p:nvSpPr>
          <p:cNvPr id="5" name="Text 3"/>
          <p:cNvSpPr/>
          <p:nvPr/>
        </p:nvSpPr>
        <p:spPr>
          <a:xfrm>
            <a:off x="311020" y="542925"/>
            <a:ext cx="1434931" cy="314758"/>
          </a:xfrm>
          <a:prstGeom prst="rect">
            <a:avLst/>
          </a:prstGeom>
          <a:noFill/>
          <a:ln/>
        </p:spPr>
        <p:txBody>
          <a:bodyPr wrap="square" lIns="0" tIns="0" rIns="0" bIns="0" rtlCol="0" anchor="t"/>
          <a:lstStyle/>
          <a:p>
            <a:pPr algn="l" indent="0" marL="0">
              <a:lnSpc>
                <a:spcPts val="2295"/>
              </a:lnSpc>
              <a:buNone/>
            </a:pPr>
            <a:r>
              <a:rPr lang="en-US" sz="1913" b="1" spc="-38" kern="0" dirty="0">
                <a:solidFill>
                  <a:srgbClr val="1A1A1A"/>
                </a:solidFill>
                <a:latin typeface="Carlito" pitchFamily="34" charset="0"/>
                <a:ea typeface="Carlito" pitchFamily="34" charset="-122"/>
                <a:cs typeface="Carlito" pitchFamily="34" charset="-120"/>
              </a:rPr>
              <a:t>Scaffold.</a:t>
            </a:r>
            <a:endParaRPr lang="en-US" sz="1913" dirty="0"/>
          </a:p>
        </p:txBody>
      </p:sp>
      <p:sp>
        <p:nvSpPr>
          <p:cNvPr id="6" name="Text 4"/>
          <p:cNvSpPr/>
          <p:nvPr/>
        </p:nvSpPr>
        <p:spPr>
          <a:xfrm>
            <a:off x="400050" y="885825"/>
            <a:ext cx="2316142" cy="177451"/>
          </a:xfrm>
          <a:prstGeom prst="rect">
            <a:avLst/>
          </a:prstGeom>
          <a:noFill/>
          <a:ln/>
        </p:spPr>
        <p:txBody>
          <a:bodyPr wrap="none" lIns="0" tIns="0" rIns="0" bIns="0" rtlCol="0" anchor="t"/>
          <a:lstStyle/>
          <a:p>
            <a:pPr algn="l" indent="0" marL="0">
              <a:buNone/>
            </a:pPr>
            <a:r>
              <a:rPr lang="en-US" sz="1125" b="1" spc="-23" kern="0" dirty="0">
                <a:solidFill>
                  <a:srgbClr val="1A1A1A"/>
                </a:solidFill>
                <a:latin typeface="Carlito" pitchFamily="34" charset="0"/>
                <a:ea typeface="Carlito" pitchFamily="34" charset="-122"/>
                <a:cs typeface="Carlito" pitchFamily="34" charset="-120"/>
              </a:rPr>
              <a:t>From Repo to Starter Kit </a:t>
            </a:r>
            <a:pPr algn="l" indent="0" marL="0">
              <a:buNone/>
            </a:pPr>
            <a:r>
              <a:rPr lang="en-US" sz="1125" b="1" spc="-23" kern="0" dirty="0">
                <a:solidFill>
                  <a:srgbClr val="10B981"/>
                </a:solidFill>
                <a:latin typeface="Liberation Sans Narrow" pitchFamily="34" charset="0"/>
                <a:ea typeface="Liberation Sans Narrow" pitchFamily="34" charset="-122"/>
                <a:cs typeface="Liberation Sans Narrow" pitchFamily="34" charset="-120"/>
              </a:rPr>
              <a:t>in 5 Sec</a:t>
            </a:r>
            <a:endParaRPr lang="en-US" sz="1125" dirty="0"/>
          </a:p>
        </p:txBody>
      </p:sp>
      <p:sp>
        <p:nvSpPr>
          <p:cNvPr id="7" name="Text 5"/>
          <p:cNvSpPr/>
          <p:nvPr/>
        </p:nvSpPr>
        <p:spPr>
          <a:xfrm>
            <a:off x="2644639" y="957263"/>
            <a:ext cx="1435278" cy="120701"/>
          </a:xfrm>
          <a:prstGeom prst="rect">
            <a:avLst/>
          </a:prstGeom>
          <a:noFill/>
          <a:ln/>
        </p:spPr>
        <p:txBody>
          <a:bodyPr wrap="squar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CodeCrafters-style starter kits</a:t>
            </a:r>
            <a:endParaRPr lang="en-US" sz="600" dirty="0"/>
          </a:p>
        </p:txBody>
      </p:sp>
      <p:sp>
        <p:nvSpPr>
          <p:cNvPr id="8" name="Text 6"/>
          <p:cNvSpPr/>
          <p:nvPr/>
        </p:nvSpPr>
        <p:spPr>
          <a:xfrm>
            <a:off x="403622" y="1203722"/>
            <a:ext cx="2993231" cy="347900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9" name="Text 7"/>
          <p:cNvSpPr/>
          <p:nvPr/>
        </p:nvSpPr>
        <p:spPr>
          <a:xfrm>
            <a:off x="535781" y="1335881"/>
            <a:ext cx="2728913" cy="120701"/>
          </a:xfrm>
          <a:prstGeom prst="rect">
            <a:avLst/>
          </a:prstGeom>
          <a:noFill/>
          <a:ln/>
        </p:spPr>
        <p:txBody>
          <a:bodyPr wrap="none" lIns="0" tIns="0" rIns="0" bIns="0" rtlCol="0" anchor="t"/>
          <a:lstStyle/>
          <a:p>
            <a:pPr algn="l" indent="0" marL="0">
              <a:buNone/>
            </a:pPr>
            <a:r>
              <a:rPr lang="en-US" sz="800" spc="68" kern="0" dirty="0">
                <a:solidFill>
                  <a:srgbClr val="6B6B6B"/>
                </a:solidFill>
                <a:latin typeface="Courier New" pitchFamily="34" charset="0"/>
                <a:ea typeface="Courier New" pitchFamily="34" charset="-122"/>
                <a:cs typeface="Courier New" pitchFamily="34" charset="-120"/>
              </a:rPr>
              <a:t>BEFORE — REVERSE PROMPT</a:t>
            </a:r>
            <a:endParaRPr lang="en-US" sz="800" dirty="0"/>
          </a:p>
        </p:txBody>
      </p:sp>
      <p:sp>
        <p:nvSpPr>
          <p:cNvPr id="10" name="Text 8"/>
          <p:cNvSpPr/>
          <p:nvPr/>
        </p:nvSpPr>
        <p:spPr>
          <a:xfrm>
            <a:off x="539353" y="1518047"/>
            <a:ext cx="2721769" cy="2864644"/>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11" name="Text 9"/>
          <p:cNvSpPr/>
          <p:nvPr/>
        </p:nvSpPr>
        <p:spPr>
          <a:xfrm>
            <a:off x="671513" y="2667521"/>
            <a:ext cx="2567178" cy="113992"/>
          </a:xfrm>
          <a:prstGeom prst="rect">
            <a:avLst/>
          </a:prstGeom>
          <a:noFill/>
          <a:ln/>
        </p:spPr>
        <p:txBody>
          <a:bodyPr wrap="square" lIns="0" tIns="0" rIns="0" bIns="0" rtlCol="0" anchor="t">
            <a:normAutofit/>
          </a:bodyPr>
          <a:lstStyle/>
          <a:p>
            <a:pPr algn="l" indent="0" marL="0">
              <a:lnSpc>
                <a:spcPts val="1114"/>
              </a:lnSpc>
              <a:buNone/>
            </a:pPr>
            <a:r>
              <a:rPr lang="en-US" sz="800" dirty="0">
                <a:solidFill>
                  <a:srgbClr val="6B6B6B"/>
                </a:solidFill>
                <a:latin typeface="Courier New" pitchFamily="34" charset="0"/>
                <a:ea typeface="Courier New" pitchFamily="34" charset="-122"/>
                <a:cs typeface="Courier New" pitchFamily="34" charset="-120"/>
              </a:rPr>
              <a:t># Reverse Build Prompt — </a:t>
            </a:r>
            <a:pPr algn="l" indent="0" marL="0">
              <a:lnSpc>
                <a:spcPts val="1114"/>
              </a:lnSpc>
              <a:buNone/>
            </a:pPr>
            <a:r>
              <a:rPr lang="en-US" sz="800" dirty="0">
                <a:solidFill>
                  <a:srgbClr val="1A1A1A"/>
                </a:solidFill>
                <a:latin typeface="Courier New" pitchFamily="34" charset="0"/>
                <a:ea typeface="Courier New" pitchFamily="34" charset="-122"/>
                <a:cs typeface="Courier New" pitchFamily="34" charset="-120"/>
              </a:rPr>
              <a:t>verdict</a:t>
            </a:r>
            <a:endParaRPr lang="en-US" sz="800" dirty="0"/>
          </a:p>
        </p:txBody>
      </p:sp>
      <p:sp>
        <p:nvSpPr>
          <p:cNvPr id="12" name="Text 10"/>
          <p:cNvSpPr/>
          <p:nvPr/>
        </p:nvSpPr>
        <p:spPr>
          <a:xfrm>
            <a:off x="671513" y="2808945"/>
            <a:ext cx="2567178" cy="113992"/>
          </a:xfrm>
          <a:prstGeom prst="rect">
            <a:avLst/>
          </a:prstGeom>
          <a:noFill/>
          <a:ln/>
        </p:spPr>
        <p:txBody>
          <a:bodyPr wrap="square" lIns="0" tIns="0" rIns="0" bIns="0" rtlCol="0" anchor="t">
            <a:normAutofit/>
          </a:bodyPr>
          <a:lstStyle/>
          <a:p>
            <a:pPr algn="l" indent="0" marL="0">
              <a:lnSpc>
                <a:spcPts val="1114"/>
              </a:lnSpc>
              <a:buNone/>
            </a:pPr>
            <a:r>
              <a:rPr lang="en-US" sz="800" dirty="0">
                <a:solidFill>
                  <a:srgbClr val="6B6B6B"/>
                </a:solidFill>
                <a:latin typeface="Courier New" pitchFamily="34" charset="0"/>
                <a:ea typeface="Courier New" pitchFamily="34" charset="-122"/>
                <a:cs typeface="Courier New" pitchFamily="34" charset="-120"/>
              </a:rPr>
              <a:t>Rebuild this repo: </a:t>
            </a:r>
            <a:pPr algn="l" indent="0" marL="0">
              <a:lnSpc>
                <a:spcPts val="1114"/>
              </a:lnSpc>
              <a:buNone/>
            </a:pPr>
            <a:r>
              <a:rPr lang="en-US" sz="800" dirty="0">
                <a:solidFill>
                  <a:srgbClr val="1A1A1A"/>
                </a:solidFill>
                <a:latin typeface="Courier New" pitchFamily="34" charset="0"/>
                <a:ea typeface="Courier New" pitchFamily="34" charset="-122"/>
                <a:cs typeface="Courier New" pitchFamily="34" charset="-120"/>
              </a:rPr>
              <a:t>FastAPI</a:t>
            </a:r>
            <a:pPr algn="l" indent="0" marL="0">
              <a:lnSpc>
                <a:spcPts val="1114"/>
              </a:lnSpc>
              <a:buNone/>
            </a:pPr>
            <a:r>
              <a:rPr lang="en-US" sz="800" dirty="0">
                <a:solidFill>
                  <a:srgbClr val="6B6B6B"/>
                </a:solidFill>
                <a:latin typeface="Courier New" pitchFamily="34" charset="0"/>
                <a:ea typeface="Courier New" pitchFamily="34" charset="-122"/>
                <a:cs typeface="Courier New" pitchFamily="34" charset="-120"/>
              </a:rPr>
              <a:t> backend,</a:t>
            </a:r>
            <a:endParaRPr lang="en-US" sz="800" dirty="0"/>
          </a:p>
        </p:txBody>
      </p:sp>
      <p:sp>
        <p:nvSpPr>
          <p:cNvPr id="13" name="Text 11"/>
          <p:cNvSpPr/>
          <p:nvPr/>
        </p:nvSpPr>
        <p:spPr>
          <a:xfrm>
            <a:off x="671513" y="2950369"/>
            <a:ext cx="2567178" cy="113992"/>
          </a:xfrm>
          <a:prstGeom prst="rect">
            <a:avLst/>
          </a:prstGeom>
          <a:noFill/>
          <a:ln/>
        </p:spPr>
        <p:txBody>
          <a:bodyPr wrap="square" lIns="0" tIns="0" rIns="0" bIns="0" rtlCol="0" anchor="t">
            <a:normAutofit/>
          </a:bodyPr>
          <a:lstStyle/>
          <a:p>
            <a:pPr algn="l" indent="0" marL="0">
              <a:lnSpc>
                <a:spcPts val="1114"/>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3 services, </a:t>
            </a:r>
            <a:pPr algn="l" indent="0" marL="0">
              <a:lnSpc>
                <a:spcPts val="1114"/>
              </a:lnSpc>
              <a:buNone/>
            </a:pPr>
            <a:r>
              <a:rPr lang="en-US" sz="800" dirty="0">
                <a:solidFill>
                  <a:srgbClr val="1A1A1A"/>
                </a:solidFill>
                <a:latin typeface="Courier New" pitchFamily="34" charset="0"/>
                <a:ea typeface="Courier New" pitchFamily="34" charset="-122"/>
                <a:cs typeface="Courier New" pitchFamily="34" charset="-120"/>
              </a:rPr>
              <a:t>Postgres</a:t>
            </a:r>
            <a:pPr algn="l" indent="0" marL="0">
              <a:lnSpc>
                <a:spcPts val="1114"/>
              </a:lnSpc>
              <a:buNone/>
            </a:pPr>
            <a:r>
              <a:rPr lang="en-US" sz="800" dirty="0">
                <a:solidFill>
                  <a:srgbClr val="6B6B6B"/>
                </a:solidFill>
                <a:latin typeface="Courier New" pitchFamily="34" charset="0"/>
                <a:ea typeface="Courier New" pitchFamily="34" charset="-122"/>
                <a:cs typeface="Courier New" pitchFamily="34" charset="-120"/>
              </a:rPr>
              <a:t> store, </a:t>
            </a:r>
            <a:pPr algn="l" indent="0" marL="0">
              <a:lnSpc>
                <a:spcPts val="1114"/>
              </a:lnSpc>
              <a:buNone/>
            </a:pPr>
            <a:r>
              <a:rPr lang="en-US" sz="800" dirty="0">
                <a:solidFill>
                  <a:srgbClr val="1A1A1A"/>
                </a:solidFill>
                <a:latin typeface="Courier New" pitchFamily="34" charset="0"/>
                <a:ea typeface="Courier New" pitchFamily="34" charset="-122"/>
                <a:cs typeface="Courier New" pitchFamily="34" charset="-120"/>
              </a:rPr>
              <a:t>SSE</a:t>
            </a:r>
            <a:pPr algn="l" indent="0" marL="0">
              <a:lnSpc>
                <a:spcPts val="1114"/>
              </a:lnSpc>
              <a:buNone/>
            </a:pPr>
            <a:r>
              <a:rPr lang="en-US" sz="800" dirty="0">
                <a:solidFill>
                  <a:srgbClr val="6B6B6B"/>
                </a:solidFill>
                <a:latin typeface="Courier New" pitchFamily="34" charset="0"/>
                <a:ea typeface="Courier New" pitchFamily="34" charset="-122"/>
                <a:cs typeface="Courier New" pitchFamily="34" charset="-120"/>
              </a:rPr>
              <a:t> streaming.</a:t>
            </a:r>
            <a:endParaRPr lang="en-US" sz="800" dirty="0"/>
          </a:p>
        </p:txBody>
      </p:sp>
      <p:sp>
        <p:nvSpPr>
          <p:cNvPr id="14" name="Text 12"/>
          <p:cNvSpPr/>
          <p:nvPr/>
        </p:nvSpPr>
        <p:spPr>
          <a:xfrm>
            <a:off x="671513" y="3091793"/>
            <a:ext cx="2567178" cy="197479"/>
          </a:xfrm>
          <a:prstGeom prst="rect">
            <a:avLst/>
          </a:prstGeom>
          <a:noFill/>
          <a:ln/>
        </p:spPr>
        <p:txBody>
          <a:bodyPr wrap="square" lIns="0" tIns="0" rIns="0" bIns="0" rtlCol="0" anchor="t"/>
          <a:lstStyle/>
          <a:p>
            <a:pPr algn="l" indent="0" marL="0">
              <a:lnSpc>
                <a:spcPts val="1114"/>
              </a:lnSpc>
              <a:buNone/>
            </a:pPr>
            <a:r>
              <a:rPr lang="en-US" sz="800" dirty="0">
                <a:solidFill>
                  <a:srgbClr val="6B6B6B"/>
                </a:solidFill>
                <a:latin typeface="Courier New" pitchFamily="34" charset="0"/>
                <a:ea typeface="Courier New" pitchFamily="34" charset="-122"/>
                <a:cs typeface="Courier New" pitchFamily="34" charset="-120"/>
              </a:rPr>
              <a:t>You are an agent — </a:t>
            </a:r>
            <a:pPr algn="l" indent="0" marL="0">
              <a:lnSpc>
                <a:spcPts val="1114"/>
              </a:lnSpc>
              <a:buNone/>
            </a:pPr>
            <a:r>
              <a:rPr lang="en-US" sz="800" dirty="0">
                <a:solidFill>
                  <a:srgbClr val="1A1A1A"/>
                </a:solidFill>
                <a:latin typeface="Courier New" pitchFamily="34" charset="0"/>
                <a:ea typeface="Courier New" pitchFamily="34" charset="-122"/>
                <a:cs typeface="Courier New" pitchFamily="34" charset="-120"/>
              </a:rPr>
              <a:t>rebuild it.</a:t>
            </a:r>
            <a:endParaRPr lang="en-US" sz="800" dirty="0"/>
          </a:p>
        </p:txBody>
      </p:sp>
      <p:sp>
        <p:nvSpPr>
          <p:cNvPr id="15" name="Text 13"/>
          <p:cNvSpPr/>
          <p:nvPr/>
        </p:nvSpPr>
        <p:spPr>
          <a:xfrm>
            <a:off x="535781" y="4471988"/>
            <a:ext cx="2838641" cy="91440"/>
          </a:xfrm>
          <a:prstGeom prst="rect">
            <a:avLst/>
          </a:prstGeom>
          <a:noFill/>
          <a:ln/>
        </p:spPr>
        <p:txBody>
          <a:bodyPr wrap="square" lIns="0" tIns="0" rIns="0" bIns="0" rtlCol="0" anchor="t"/>
          <a:lstStyle/>
          <a:p>
            <a:pPr algn="l" indent="0" marL="0">
              <a:buNone/>
            </a:pPr>
            <a:r>
              <a:rPr lang="en-US" sz="800" dirty="0">
                <a:solidFill>
                  <a:srgbClr val="6B6B6B"/>
                </a:solidFill>
                <a:latin typeface="Courier New" pitchFamily="34" charset="0"/>
                <a:ea typeface="Courier New" pitchFamily="34" charset="-122"/>
                <a:cs typeface="Courier New" pitchFamily="34" charset="-120"/>
              </a:rPr>
              <a:t>text a human still has to interpret</a:t>
            </a:r>
            <a:endParaRPr lang="en-US" sz="800" dirty="0"/>
          </a:p>
        </p:txBody>
      </p:sp>
      <p:sp>
        <p:nvSpPr>
          <p:cNvPr id="16" name="Text 14"/>
          <p:cNvSpPr/>
          <p:nvPr/>
        </p:nvSpPr>
        <p:spPr>
          <a:xfrm>
            <a:off x="3844222" y="2719483"/>
            <a:ext cx="455320" cy="176022"/>
          </a:xfrm>
          <a:prstGeom prst="rect">
            <a:avLst/>
          </a:prstGeom>
          <a:solidFill>
            <a:srgbClr val="FFFFFF"/>
          </a:solidFill>
          <a:ln w="7144">
            <a:solidFill>
              <a:srgbClr val="A16207"/>
            </a:solidFill>
            <a:prstDash val="solid"/>
          </a:ln>
        </p:spPr>
        <p:txBody>
          <a:bodyPr wrap="square" rtlCol="0" anchor="ctr"/>
          <a:lstStyle/>
          <a:p>
            <a:pPr indent="0" marL="0">
              <a:buNone/>
            </a:pPr>
            <a:endParaRPr lang="en-US" dirty="0"/>
          </a:p>
        </p:txBody>
      </p:sp>
      <p:sp>
        <p:nvSpPr>
          <p:cNvPr id="17" name="Text 15"/>
          <p:cNvSpPr/>
          <p:nvPr/>
        </p:nvSpPr>
        <p:spPr>
          <a:xfrm>
            <a:off x="3861085" y="2728913"/>
            <a:ext cx="421593" cy="219456"/>
          </a:xfrm>
          <a:prstGeom prst="rect">
            <a:avLst/>
          </a:prstGeom>
          <a:noFill/>
          <a:ln/>
        </p:spPr>
        <p:txBody>
          <a:bodyPr wrap="none" lIns="85725" tIns="28575" rIns="85725" bIns="28575" rtlCol="0" anchor="t"/>
          <a:lstStyle/>
          <a:p>
            <a:pPr algn="l" indent="0" marL="0">
              <a:buNone/>
            </a:pPr>
            <a:r>
              <a:rPr lang="en-US" sz="800" b="1" dirty="0">
                <a:solidFill>
                  <a:srgbClr val="A16207"/>
                </a:solidFill>
                <a:latin typeface="Liberation Sans Narrow" pitchFamily="34" charset="0"/>
                <a:ea typeface="Liberation Sans Narrow" pitchFamily="34" charset="-122"/>
                <a:cs typeface="Liberation Sans Narrow" pitchFamily="34" charset="-120"/>
              </a:rPr>
              <a:t>5 sec</a:t>
            </a:r>
            <a:endParaRPr lang="en-US" sz="800" dirty="0"/>
          </a:p>
        </p:txBody>
      </p:sp>
      <p:sp>
        <p:nvSpPr>
          <p:cNvPr id="18" name="Text 16"/>
          <p:cNvSpPr/>
          <p:nvPr/>
        </p:nvSpPr>
        <p:spPr>
          <a:xfrm>
            <a:off x="3743325" y="3000375"/>
            <a:ext cx="528638" cy="157163"/>
          </a:xfrm>
          <a:prstGeom prst="rect">
            <a:avLst/>
          </a:prstGeom>
          <a:solidFill>
            <a:srgbClr val="10B981"/>
          </a:solidFill>
          <a:ln/>
        </p:spPr>
        <p:txBody>
          <a:bodyPr wrap="square" rtlCol="0" anchor="ctr"/>
          <a:lstStyle/>
          <a:p>
            <a:pPr indent="0" marL="0">
              <a:buNone/>
            </a:pPr>
            <a:endParaRPr lang="en-US" dirty="0"/>
          </a:p>
        </p:txBody>
      </p:sp>
      <p:sp>
        <p:nvSpPr>
          <p:cNvPr id="19" name="Text 17"/>
          <p:cNvSpPr/>
          <p:nvPr/>
        </p:nvSpPr>
        <p:spPr>
          <a:xfrm>
            <a:off x="4747022" y="1203722"/>
            <a:ext cx="3993356" cy="3479006"/>
          </a:xfrm>
          <a:prstGeom prst="rect">
            <a:avLst/>
          </a:prstGeom>
          <a:solidFill>
            <a:srgbClr val="FFFFFF"/>
          </a:solidFill>
          <a:ln w="7144">
            <a:solidFill>
              <a:srgbClr val="10B981"/>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20" name="Text 18"/>
          <p:cNvSpPr/>
          <p:nvPr/>
        </p:nvSpPr>
        <p:spPr>
          <a:xfrm>
            <a:off x="4879181" y="1335881"/>
            <a:ext cx="3729037" cy="120701"/>
          </a:xfrm>
          <a:prstGeom prst="rect">
            <a:avLst/>
          </a:prstGeom>
          <a:noFill/>
          <a:ln/>
        </p:spPr>
        <p:txBody>
          <a:bodyPr wrap="none" lIns="0" tIns="0" rIns="0" bIns="0" rtlCol="0" anchor="t"/>
          <a:lstStyle/>
          <a:p>
            <a:pPr algn="l" indent="0" marL="0">
              <a:buNone/>
            </a:pPr>
            <a:r>
              <a:rPr lang="en-US" sz="800" b="1" spc="68" kern="0" dirty="0">
                <a:solidFill>
                  <a:srgbClr val="10B981"/>
                </a:solidFill>
                <a:latin typeface="Courier New" pitchFamily="34" charset="0"/>
                <a:ea typeface="Courier New" pitchFamily="34" charset="-122"/>
                <a:cs typeface="Courier New" pitchFamily="34" charset="-120"/>
              </a:rPr>
              <a:t>AFTER — SCAFFOLD MODAL</a:t>
            </a:r>
            <a:endParaRPr lang="en-US" sz="800" dirty="0"/>
          </a:p>
        </p:txBody>
      </p:sp>
      <p:sp>
        <p:nvSpPr>
          <p:cNvPr id="21" name="Text 19"/>
          <p:cNvSpPr/>
          <p:nvPr/>
        </p:nvSpPr>
        <p:spPr>
          <a:xfrm>
            <a:off x="4882753" y="1503759"/>
            <a:ext cx="3721894" cy="3043238"/>
          </a:xfrm>
          <a:prstGeom prst="rect">
            <a:avLst/>
          </a:prstGeom>
          <a:noFill/>
          <a:ln w="7144">
            <a:solidFill>
              <a:srgbClr val="1A1A1A"/>
            </a:solidFill>
            <a:prstDash val="solid"/>
          </a:ln>
        </p:spPr>
        <p:txBody>
          <a:bodyPr wrap="square" rtlCol="0" anchor="ctr"/>
          <a:lstStyle/>
          <a:p>
            <a:pPr indent="0" marL="0">
              <a:buNone/>
            </a:pPr>
            <a:endParaRPr lang="en-US" dirty="0"/>
          </a:p>
        </p:txBody>
      </p:sp>
      <p:sp>
        <p:nvSpPr>
          <p:cNvPr id="22" name="Text 20"/>
          <p:cNvSpPr/>
          <p:nvPr/>
        </p:nvSpPr>
        <p:spPr>
          <a:xfrm>
            <a:off x="4886325" y="1507331"/>
            <a:ext cx="3714750" cy="250031"/>
          </a:xfrm>
          <a:prstGeom prst="rect">
            <a:avLst/>
          </a:prstGeom>
          <a:solidFill>
            <a:srgbClr val="FAF7F0"/>
          </a:solidFill>
          <a:ln/>
        </p:spPr>
        <p:txBody>
          <a:bodyPr wrap="square" rtlCol="0" anchor="ctr"/>
          <a:lstStyle/>
          <a:p>
            <a:pPr indent="0" marL="0">
              <a:buNone/>
            </a:pPr>
            <a:endParaRPr lang="en-US" dirty="0"/>
          </a:p>
        </p:txBody>
      </p:sp>
      <p:sp>
        <p:nvSpPr>
          <p:cNvPr id="23" name="Shape 21"/>
          <p:cNvSpPr/>
          <p:nvPr/>
        </p:nvSpPr>
        <p:spPr>
          <a:xfrm>
            <a:off x="4886325" y="1753791"/>
            <a:ext cx="3714750" cy="0"/>
          </a:xfrm>
          <a:prstGeom prst="line">
            <a:avLst/>
          </a:prstGeom>
          <a:noFill/>
          <a:ln w="7144">
            <a:solidFill>
              <a:srgbClr val="1A1A1A"/>
            </a:solidFill>
            <a:prstDash val="solid"/>
          </a:ln>
        </p:spPr>
      </p:sp>
      <p:sp>
        <p:nvSpPr>
          <p:cNvPr id="24" name="Text 22"/>
          <p:cNvSpPr/>
          <p:nvPr/>
        </p:nvSpPr>
        <p:spPr>
          <a:xfrm>
            <a:off x="4986338" y="1582341"/>
            <a:ext cx="3400425" cy="96441"/>
          </a:xfrm>
          <a:prstGeom prst="rect">
            <a:avLst/>
          </a:prstGeom>
          <a:noFill/>
          <a:ln/>
        </p:spPr>
        <p:txBody>
          <a:bodyPr wrap="none" lIns="0" tIns="0" rIns="0" bIns="0" rtlCol="0" anchor="t"/>
          <a:lstStyle/>
          <a:p>
            <a:pPr algn="l" indent="0" marL="0">
              <a:buNone/>
            </a:pPr>
            <a:r>
              <a:rPr lang="en-US" sz="800" dirty="0">
                <a:solidFill>
                  <a:srgbClr val="1A1A1A"/>
                </a:solidFill>
                <a:latin typeface="Courier New" pitchFamily="34" charset="0"/>
                <a:ea typeface="Courier New" pitchFamily="34" charset="-122"/>
                <a:cs typeface="Courier New" pitchFamily="34" charset="-120"/>
              </a:rPr>
              <a:t>Scaffold — verdict</a:t>
            </a:r>
            <a:endParaRPr lang="en-US" sz="800" dirty="0"/>
          </a:p>
        </p:txBody>
      </p:sp>
      <p:pic>
        <p:nvPicPr>
          <p:cNvPr id="25" name="Image 0" descr="/tmp/h2p-svg-1790773508164-soagqf.png">    </p:cNvPr>
          <p:cNvPicPr>
            <a:picLocks noChangeAspect="1"/>
          </p:cNvPicPr>
          <p:nvPr/>
        </p:nvPicPr>
        <p:blipFill>
          <a:blip r:embed="rId1"/>
          <a:stretch>
            <a:fillRect/>
          </a:stretch>
        </p:blipFill>
        <p:spPr>
          <a:xfrm>
            <a:off x="8401050" y="1578769"/>
            <a:ext cx="100013" cy="100013"/>
          </a:xfrm>
          <a:prstGeom prst="rect">
            <a:avLst/>
          </a:prstGeom>
        </p:spPr>
      </p:pic>
      <p:sp>
        <p:nvSpPr>
          <p:cNvPr id="26" name="Text 23"/>
          <p:cNvSpPr/>
          <p:nvPr/>
        </p:nvSpPr>
        <p:spPr>
          <a:xfrm>
            <a:off x="4886325" y="1757363"/>
            <a:ext cx="1214438" cy="2407444"/>
          </a:xfrm>
          <a:prstGeom prst="rect">
            <a:avLst/>
          </a:prstGeom>
          <a:solidFill>
            <a:srgbClr val="FFFFFF"/>
          </a:solidFill>
          <a:ln/>
        </p:spPr>
        <p:txBody>
          <a:bodyPr wrap="square" rtlCol="0" anchor="ctr"/>
          <a:lstStyle/>
          <a:p>
            <a:pPr indent="0" marL="0">
              <a:buNone/>
            </a:pPr>
            <a:endParaRPr lang="en-US" dirty="0"/>
          </a:p>
        </p:txBody>
      </p:sp>
      <p:sp>
        <p:nvSpPr>
          <p:cNvPr id="27" name="Shape 24"/>
          <p:cNvSpPr/>
          <p:nvPr/>
        </p:nvSpPr>
        <p:spPr>
          <a:xfrm>
            <a:off x="6097191" y="1757363"/>
            <a:ext cx="0" cy="2407444"/>
          </a:xfrm>
          <a:prstGeom prst="line">
            <a:avLst/>
          </a:prstGeom>
          <a:noFill/>
          <a:ln w="7144">
            <a:solidFill>
              <a:srgbClr val="1A1A1A"/>
            </a:solidFill>
            <a:prstDash val="solid"/>
          </a:ln>
        </p:spPr>
      </p:sp>
      <p:sp>
        <p:nvSpPr>
          <p:cNvPr id="28" name="Text 25"/>
          <p:cNvSpPr/>
          <p:nvPr/>
        </p:nvSpPr>
        <p:spPr>
          <a:xfrm>
            <a:off x="4886325" y="1828800"/>
            <a:ext cx="1207294" cy="215456"/>
          </a:xfrm>
          <a:prstGeom prst="rect">
            <a:avLst/>
          </a:prstGeom>
          <a:noFill/>
          <a:ln/>
        </p:spPr>
        <p:txBody>
          <a:bodyPr wrap="none" lIns="85725" tIns="0" rIns="85725" bIns="0" rtlCol="0" anchor="t">
            <a:normAutofit/>
          </a:bodyPr>
          <a:lstStyle/>
          <a:p>
            <a:pPr algn="l" indent="0" marL="0">
              <a:buNone/>
            </a:pPr>
            <a:r>
              <a:rPr lang="en-US" sz="800" dirty="0">
                <a:solidFill>
                  <a:srgbClr val="6B6B6B"/>
                </a:solidFill>
                <a:latin typeface="Courier New" pitchFamily="34" charset="0"/>
                <a:ea typeface="Courier New" pitchFamily="34" charset="-122"/>
                <a:cs typeface="Courier New" pitchFamily="34" charset="-120"/>
              </a:rPr>
              <a:t>backend/</a:t>
            </a:r>
            <a:endParaRPr lang="en-US" sz="800" dirty="0"/>
          </a:p>
        </p:txBody>
      </p:sp>
      <p:sp>
        <p:nvSpPr>
          <p:cNvPr id="29" name="Text 26"/>
          <p:cNvSpPr/>
          <p:nvPr/>
        </p:nvSpPr>
        <p:spPr>
          <a:xfrm>
            <a:off x="4863465" y="2058886"/>
            <a:ext cx="1253014" cy="268491"/>
          </a:xfrm>
          <a:prstGeom prst="rect">
            <a:avLst/>
          </a:prstGeom>
          <a:solidFill>
            <a:srgbClr val="10B981">
              <a:alpha val="10000"/>
            </a:srgbClr>
          </a:solidFill>
          <a:ln/>
        </p:spPr>
        <p:txBody>
          <a:bodyPr wrap="square" rtlCol="0" anchor="ctr"/>
          <a:lstStyle/>
          <a:p>
            <a:pPr indent="0" marL="0">
              <a:buNone/>
            </a:pPr>
            <a:endParaRPr lang="en-US" dirty="0"/>
          </a:p>
        </p:txBody>
      </p:sp>
      <p:sp>
        <p:nvSpPr>
          <p:cNvPr id="30" name="Text 27"/>
          <p:cNvSpPr/>
          <p:nvPr/>
        </p:nvSpPr>
        <p:spPr>
          <a:xfrm>
            <a:off x="4886325" y="2071688"/>
            <a:ext cx="1207294" cy="215456"/>
          </a:xfrm>
          <a:prstGeom prst="rect">
            <a:avLst/>
          </a:prstGeom>
          <a:noFill/>
          <a:ln/>
        </p:spPr>
        <p:txBody>
          <a:bodyPr wrap="none" lIns="214313" tIns="0" rIns="85725" bIns="0" rtlCol="0" anchor="t">
            <a:normAutofit/>
          </a:bodyPr>
          <a:lstStyle/>
          <a:p>
            <a:pPr algn="l" indent="0" marL="0">
              <a:buNone/>
            </a:pPr>
            <a:r>
              <a:rPr lang="en-US" sz="800" b="1" dirty="0">
                <a:solidFill>
                  <a:srgbClr val="10B981"/>
                </a:solidFill>
                <a:latin typeface="Courier New" pitchFamily="34" charset="0"/>
                <a:ea typeface="Courier New" pitchFamily="34" charset="-122"/>
                <a:cs typeface="Courier New" pitchFamily="34" charset="-120"/>
              </a:rPr>
              <a:t>main.py</a:t>
            </a:r>
            <a:endParaRPr lang="en-US" sz="800" dirty="0"/>
          </a:p>
        </p:txBody>
      </p:sp>
      <p:sp>
        <p:nvSpPr>
          <p:cNvPr id="31" name="Text 28"/>
          <p:cNvSpPr/>
          <p:nvPr/>
        </p:nvSpPr>
        <p:spPr>
          <a:xfrm>
            <a:off x="4886325" y="2314575"/>
            <a:ext cx="1207294" cy="215456"/>
          </a:xfrm>
          <a:prstGeom prst="rect">
            <a:avLst/>
          </a:prstGeom>
          <a:noFill/>
          <a:ln/>
        </p:spPr>
        <p:txBody>
          <a:bodyPr wrap="none" lIns="214313" tIns="0" rIns="85725" bIns="0" rtlCol="0" anchor="t">
            <a:normAutofit/>
          </a:bodyPr>
          <a:lstStyle/>
          <a:p>
            <a:pPr algn="l" indent="0" marL="0">
              <a:buNone/>
            </a:pPr>
            <a:r>
              <a:rPr lang="en-US" sz="800" dirty="0">
                <a:solidFill>
                  <a:srgbClr val="6B6B6B"/>
                </a:solidFill>
                <a:latin typeface="Courier New" pitchFamily="34" charset="0"/>
                <a:ea typeface="Courier New" pitchFamily="34" charset="-122"/>
                <a:cs typeface="Courier New" pitchFamily="34" charset="-120"/>
              </a:rPr>
              <a:t>requirements.txt</a:t>
            </a:r>
            <a:endParaRPr lang="en-US" sz="800" dirty="0"/>
          </a:p>
        </p:txBody>
      </p:sp>
      <p:sp>
        <p:nvSpPr>
          <p:cNvPr id="32" name="Text 29"/>
          <p:cNvSpPr/>
          <p:nvPr/>
        </p:nvSpPr>
        <p:spPr>
          <a:xfrm>
            <a:off x="4886325" y="2557463"/>
            <a:ext cx="1207294" cy="339159"/>
          </a:xfrm>
          <a:prstGeom prst="rect">
            <a:avLst/>
          </a:prstGeom>
          <a:noFill/>
          <a:ln/>
        </p:spPr>
        <p:txBody>
          <a:bodyPr wrap="none" lIns="85725" tIns="0" rIns="85725" bIns="0" rtlCol="0" anchor="t"/>
          <a:lstStyle/>
          <a:p>
            <a:pPr algn="l" indent="0" marL="0">
              <a:buNone/>
            </a:pPr>
            <a:r>
              <a:rPr lang="en-US" sz="800" dirty="0">
                <a:solidFill>
                  <a:srgbClr val="6B6B6B"/>
                </a:solidFill>
                <a:latin typeface="Courier New" pitchFamily="34" charset="0"/>
                <a:ea typeface="Courier New" pitchFamily="34" charset="-122"/>
                <a:cs typeface="Courier New" pitchFamily="34" charset="-120"/>
              </a:rPr>
              <a:t>README.md</a:t>
            </a:r>
            <a:endParaRPr lang="en-US" sz="800" dirty="0"/>
          </a:p>
        </p:txBody>
      </p:sp>
      <p:sp>
        <p:nvSpPr>
          <p:cNvPr id="33" name="Text 30"/>
          <p:cNvSpPr/>
          <p:nvPr/>
        </p:nvSpPr>
        <p:spPr>
          <a:xfrm>
            <a:off x="6100763" y="1757363"/>
            <a:ext cx="2500313" cy="2407444"/>
          </a:xfrm>
          <a:prstGeom prst="rect">
            <a:avLst/>
          </a:prstGeom>
          <a:solidFill>
            <a:srgbClr val="FFFFFF"/>
          </a:solidFill>
          <a:ln/>
        </p:spPr>
        <p:txBody>
          <a:bodyPr wrap="square" rtlCol="0" anchor="ctr"/>
          <a:lstStyle/>
          <a:p>
            <a:pPr indent="0" marL="0">
              <a:buNone/>
            </a:pPr>
            <a:endParaRPr lang="en-US" dirty="0"/>
          </a:p>
        </p:txBody>
      </p:sp>
      <p:sp>
        <p:nvSpPr>
          <p:cNvPr id="34" name="Text 31"/>
          <p:cNvSpPr/>
          <p:nvPr/>
        </p:nvSpPr>
        <p:spPr>
          <a:xfrm>
            <a:off x="6215063" y="1857375"/>
            <a:ext cx="114300" cy="197412"/>
          </a:xfrm>
          <a:prstGeom prst="rect">
            <a:avLst/>
          </a:prstGeom>
          <a:noFill/>
          <a:ln/>
        </p:spPr>
        <p:txBody>
          <a:bodyPr wrap="none" lIns="0" tIns="0" rIns="0" bIns="0" rtlCol="0" anchor="t"/>
          <a:lstStyle/>
          <a:p>
            <a:pPr algn="r" indent="0" marL="0">
              <a:lnSpc>
                <a:spcPts val="1063"/>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1</a:t>
            </a:r>
            <a:endParaRPr lang="en-US" sz="800" dirty="0"/>
          </a:p>
        </p:txBody>
      </p:sp>
      <p:sp>
        <p:nvSpPr>
          <p:cNvPr id="35" name="Text 32"/>
          <p:cNvSpPr/>
          <p:nvPr/>
        </p:nvSpPr>
        <p:spPr>
          <a:xfrm>
            <a:off x="6429375" y="1857375"/>
            <a:ext cx="2057400" cy="197412"/>
          </a:xfrm>
          <a:prstGeom prst="rect">
            <a:avLst/>
          </a:prstGeom>
          <a:noFill/>
          <a:ln/>
        </p:spPr>
        <p:txBody>
          <a:bodyPr wrap="square" lIns="0" tIns="0" rIns="0" bIns="0" rtlCol="0" anchor="t"/>
          <a:lstStyle/>
          <a:p>
            <a:pPr algn="l" indent="0" marL="0">
              <a:lnSpc>
                <a:spcPts val="1063"/>
              </a:lnSpc>
              <a:buNone/>
            </a:pPr>
            <a:r>
              <a:rPr lang="en-US" sz="800" dirty="0">
                <a:solidFill>
                  <a:srgbClr val="1A1A1A"/>
                </a:solidFill>
                <a:latin typeface="Courier New" pitchFamily="34" charset="0"/>
                <a:ea typeface="Courier New" pitchFamily="34" charset="-122"/>
                <a:cs typeface="Courier New" pitchFamily="34" charset="-120"/>
              </a:rPr>
              <a:t>from fastapi import FastAPI</a:t>
            </a:r>
            <a:endParaRPr lang="en-US" sz="800" dirty="0"/>
          </a:p>
        </p:txBody>
      </p:sp>
      <p:sp>
        <p:nvSpPr>
          <p:cNvPr id="36" name="Text 33"/>
          <p:cNvSpPr/>
          <p:nvPr/>
        </p:nvSpPr>
        <p:spPr>
          <a:xfrm>
            <a:off x="6215063" y="1992325"/>
            <a:ext cx="114300" cy="197412"/>
          </a:xfrm>
          <a:prstGeom prst="rect">
            <a:avLst/>
          </a:prstGeom>
          <a:noFill/>
          <a:ln/>
        </p:spPr>
        <p:txBody>
          <a:bodyPr wrap="none" lIns="0" tIns="0" rIns="0" bIns="0" rtlCol="0" anchor="t"/>
          <a:lstStyle/>
          <a:p>
            <a:pPr algn="r" indent="0" marL="0">
              <a:lnSpc>
                <a:spcPts val="1063"/>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2</a:t>
            </a:r>
            <a:endParaRPr lang="en-US" sz="800" dirty="0"/>
          </a:p>
        </p:txBody>
      </p:sp>
      <p:sp>
        <p:nvSpPr>
          <p:cNvPr id="37" name="Text 34"/>
          <p:cNvSpPr/>
          <p:nvPr/>
        </p:nvSpPr>
        <p:spPr>
          <a:xfrm>
            <a:off x="6429375" y="1992325"/>
            <a:ext cx="2057400" cy="197412"/>
          </a:xfrm>
          <a:prstGeom prst="rect">
            <a:avLst/>
          </a:prstGeom>
          <a:noFill/>
          <a:ln/>
        </p:spPr>
        <p:txBody>
          <a:bodyPr wrap="none" lIns="0" tIns="0" rIns="0" bIns="0" rtlCol="0" anchor="t"/>
          <a:lstStyle/>
          <a:p>
            <a:pPr algn="l" indent="0" marL="0">
              <a:lnSpc>
                <a:spcPts val="1063"/>
              </a:lnSpc>
              <a:buNone/>
            </a:pPr>
            <a:r>
              <a:rPr lang="en-US" sz="800" dirty="0">
                <a:solidFill>
                  <a:srgbClr val="1A1A1A"/>
                </a:solidFill>
                <a:latin typeface="Courier New" pitchFamily="34" charset="0"/>
                <a:ea typeface="Courier New" pitchFamily="34" charset="-122"/>
                <a:cs typeface="Courier New" pitchFamily="34" charset="-120"/>
              </a:rPr>
              <a:t>app = FastAPI()</a:t>
            </a:r>
            <a:endParaRPr lang="en-US" sz="800" dirty="0"/>
          </a:p>
        </p:txBody>
      </p:sp>
      <p:sp>
        <p:nvSpPr>
          <p:cNvPr id="38" name="Text 35"/>
          <p:cNvSpPr/>
          <p:nvPr/>
        </p:nvSpPr>
        <p:spPr>
          <a:xfrm>
            <a:off x="6215063" y="2127275"/>
            <a:ext cx="114300" cy="197412"/>
          </a:xfrm>
          <a:prstGeom prst="rect">
            <a:avLst/>
          </a:prstGeom>
          <a:noFill/>
          <a:ln/>
        </p:spPr>
        <p:txBody>
          <a:bodyPr wrap="none" lIns="0" tIns="0" rIns="0" bIns="0" rtlCol="0" anchor="t"/>
          <a:lstStyle/>
          <a:p>
            <a:pPr algn="r" indent="0" marL="0">
              <a:lnSpc>
                <a:spcPts val="1063"/>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3</a:t>
            </a:r>
            <a:endParaRPr lang="en-US" sz="800" dirty="0"/>
          </a:p>
        </p:txBody>
      </p:sp>
      <p:sp>
        <p:nvSpPr>
          <p:cNvPr id="39" name="Text 36"/>
          <p:cNvSpPr/>
          <p:nvPr/>
        </p:nvSpPr>
        <p:spPr>
          <a:xfrm>
            <a:off x="6429375" y="2127275"/>
            <a:ext cx="2057400" cy="197412"/>
          </a:xfrm>
          <a:prstGeom prst="rect">
            <a:avLst/>
          </a:prstGeom>
          <a:noFill/>
          <a:ln/>
        </p:spPr>
        <p:txBody>
          <a:bodyPr wrap="none" lIns="0" tIns="0" rIns="0" bIns="0" rtlCol="0" anchor="t"/>
          <a:lstStyle/>
          <a:p>
            <a:pPr algn="l" indent="0" marL="0">
              <a:lnSpc>
                <a:spcPts val="1063"/>
              </a:lnSpc>
              <a:buNone/>
            </a:pPr>
            <a:r>
              <a:rPr lang="en-US" sz="800" dirty="0">
                <a:solidFill>
                  <a:srgbClr val="1A1A1A"/>
                </a:solidFill>
                <a:latin typeface="Courier New" pitchFamily="34" charset="0"/>
                <a:ea typeface="Courier New" pitchFamily="34" charset="-122"/>
                <a:cs typeface="Courier New" pitchFamily="34" charset="-120"/>
              </a:rPr>
              <a:t>@app.post("/predict")</a:t>
            </a:r>
            <a:endParaRPr lang="en-US" sz="800" dirty="0"/>
          </a:p>
        </p:txBody>
      </p:sp>
      <p:sp>
        <p:nvSpPr>
          <p:cNvPr id="40" name="Text 37"/>
          <p:cNvSpPr/>
          <p:nvPr/>
        </p:nvSpPr>
        <p:spPr>
          <a:xfrm>
            <a:off x="6215063" y="2262225"/>
            <a:ext cx="114300" cy="197412"/>
          </a:xfrm>
          <a:prstGeom prst="rect">
            <a:avLst/>
          </a:prstGeom>
          <a:noFill/>
          <a:ln/>
        </p:spPr>
        <p:txBody>
          <a:bodyPr wrap="none" lIns="0" tIns="0" rIns="0" bIns="0" rtlCol="0" anchor="t"/>
          <a:lstStyle/>
          <a:p>
            <a:pPr algn="r" indent="0" marL="0">
              <a:lnSpc>
                <a:spcPts val="1063"/>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4</a:t>
            </a:r>
            <a:endParaRPr lang="en-US" sz="800" dirty="0"/>
          </a:p>
        </p:txBody>
      </p:sp>
      <p:sp>
        <p:nvSpPr>
          <p:cNvPr id="41" name="Text 38"/>
          <p:cNvSpPr/>
          <p:nvPr/>
        </p:nvSpPr>
        <p:spPr>
          <a:xfrm>
            <a:off x="6429375" y="2262225"/>
            <a:ext cx="2057400" cy="197412"/>
          </a:xfrm>
          <a:prstGeom prst="rect">
            <a:avLst/>
          </a:prstGeom>
          <a:noFill/>
          <a:ln/>
        </p:spPr>
        <p:txBody>
          <a:bodyPr wrap="none" lIns="0" tIns="0" rIns="0" bIns="0" rtlCol="0" anchor="t"/>
          <a:lstStyle/>
          <a:p>
            <a:pPr algn="l" indent="0" marL="0">
              <a:lnSpc>
                <a:spcPts val="1063"/>
              </a:lnSpc>
              <a:buNone/>
            </a:pPr>
            <a:r>
              <a:rPr lang="en-US" sz="800" dirty="0">
                <a:solidFill>
                  <a:srgbClr val="1A1A1A"/>
                </a:solidFill>
                <a:latin typeface="Courier New" pitchFamily="34" charset="0"/>
                <a:ea typeface="Courier New" pitchFamily="34" charset="-122"/>
                <a:cs typeface="Courier New" pitchFamily="34" charset="-120"/>
              </a:rPr>
              <a:t>def predict():</a:t>
            </a:r>
            <a:endParaRPr lang="en-US" sz="800" dirty="0"/>
          </a:p>
        </p:txBody>
      </p:sp>
      <p:sp>
        <p:nvSpPr>
          <p:cNvPr id="42" name="Text 39"/>
          <p:cNvSpPr/>
          <p:nvPr/>
        </p:nvSpPr>
        <p:spPr>
          <a:xfrm>
            <a:off x="6215063" y="2397175"/>
            <a:ext cx="114300" cy="197412"/>
          </a:xfrm>
          <a:prstGeom prst="rect">
            <a:avLst/>
          </a:prstGeom>
          <a:noFill/>
          <a:ln/>
        </p:spPr>
        <p:txBody>
          <a:bodyPr wrap="none" lIns="0" tIns="0" rIns="0" bIns="0" rtlCol="0" anchor="t"/>
          <a:lstStyle/>
          <a:p>
            <a:pPr algn="r" indent="0" marL="0">
              <a:lnSpc>
                <a:spcPts val="1063"/>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5</a:t>
            </a:r>
            <a:endParaRPr lang="en-US" sz="800" dirty="0"/>
          </a:p>
        </p:txBody>
      </p:sp>
      <p:sp>
        <p:nvSpPr>
          <p:cNvPr id="43" name="Text 40"/>
          <p:cNvSpPr/>
          <p:nvPr/>
        </p:nvSpPr>
        <p:spPr>
          <a:xfrm>
            <a:off x="6429375" y="2397175"/>
            <a:ext cx="2057400" cy="197412"/>
          </a:xfrm>
          <a:prstGeom prst="rect">
            <a:avLst/>
          </a:prstGeom>
          <a:noFill/>
          <a:ln/>
        </p:spPr>
        <p:txBody>
          <a:bodyPr wrap="none" lIns="0" tIns="0" rIns="0" bIns="0" rtlCol="0" anchor="t"/>
          <a:lstStyle/>
          <a:p>
            <a:pPr algn="l" indent="0" marL="0">
              <a:lnSpc>
                <a:spcPts val="1063"/>
              </a:lnSpc>
              <a:buNone/>
            </a:pPr>
            <a:r>
              <a:rPr lang="en-US" sz="800" dirty="0">
                <a:solidFill>
                  <a:srgbClr val="A16207"/>
                </a:solidFill>
                <a:latin typeface="Courier New" pitchFamily="34" charset="0"/>
                <a:ea typeface="Courier New" pitchFamily="34" charset="-122"/>
                <a:cs typeface="Courier New" pitchFamily="34" charset="-120"/>
              </a:rPr>
              <a:t># TODO: implement predict</a:t>
            </a:r>
            <a:endParaRPr lang="en-US" sz="800" dirty="0"/>
          </a:p>
        </p:txBody>
      </p:sp>
      <p:sp>
        <p:nvSpPr>
          <p:cNvPr id="44" name="Text 41"/>
          <p:cNvSpPr/>
          <p:nvPr/>
        </p:nvSpPr>
        <p:spPr>
          <a:xfrm>
            <a:off x="4886325" y="4164806"/>
            <a:ext cx="3714750" cy="378619"/>
          </a:xfrm>
          <a:prstGeom prst="rect">
            <a:avLst/>
          </a:prstGeom>
          <a:solidFill>
            <a:srgbClr val="FFFFFF"/>
          </a:solidFill>
          <a:ln/>
        </p:spPr>
        <p:txBody>
          <a:bodyPr wrap="square" rtlCol="0" anchor="ctr"/>
          <a:lstStyle/>
          <a:p>
            <a:pPr indent="0" marL="0">
              <a:buNone/>
            </a:pPr>
            <a:endParaRPr lang="en-US" dirty="0"/>
          </a:p>
        </p:txBody>
      </p:sp>
      <p:sp>
        <p:nvSpPr>
          <p:cNvPr id="45" name="Shape 42"/>
          <p:cNvSpPr/>
          <p:nvPr/>
        </p:nvSpPr>
        <p:spPr>
          <a:xfrm>
            <a:off x="4886325" y="4168378"/>
            <a:ext cx="3714750" cy="0"/>
          </a:xfrm>
          <a:prstGeom prst="line">
            <a:avLst/>
          </a:prstGeom>
          <a:noFill/>
          <a:ln w="7144">
            <a:solidFill>
              <a:srgbClr val="1A1A1A"/>
            </a:solidFill>
            <a:prstDash val="solid"/>
          </a:ln>
        </p:spPr>
      </p:sp>
      <p:sp>
        <p:nvSpPr>
          <p:cNvPr id="46" name="Text 43"/>
          <p:cNvSpPr/>
          <p:nvPr/>
        </p:nvSpPr>
        <p:spPr>
          <a:xfrm>
            <a:off x="4986338" y="4230586"/>
            <a:ext cx="781124" cy="254203"/>
          </a:xfrm>
          <a:prstGeom prst="rect">
            <a:avLst/>
          </a:prstGeom>
          <a:solidFill>
            <a:srgbClr val="10B981"/>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7" name="Text 44"/>
          <p:cNvSpPr/>
          <p:nvPr/>
        </p:nvSpPr>
        <p:spPr>
          <a:xfrm>
            <a:off x="4986338" y="4243388"/>
            <a:ext cx="816843" cy="228600"/>
          </a:xfrm>
          <a:prstGeom prst="rect">
            <a:avLst/>
          </a:prstGeom>
          <a:noFill/>
          <a:ln/>
        </p:spPr>
        <p:txBody>
          <a:bodyPr wrap="none" lIns="100013" tIns="57150" rIns="100013" bIns="57150" rtlCol="0" anchor="t"/>
          <a:lstStyle/>
          <a:p>
            <a:pPr algn="l" indent="0" marL="0">
              <a:buNone/>
            </a:pPr>
            <a:r>
              <a:rPr lang="en-US" sz="800" dirty="0">
                <a:solidFill>
                  <a:srgbClr val="0D1117"/>
                </a:solidFill>
                <a:latin typeface="Carlito" pitchFamily="34" charset="0"/>
                <a:ea typeface="Carlito" pitchFamily="34" charset="-122"/>
                <a:cs typeface="Carlito" pitchFamily="34" charset="-120"/>
              </a:rPr>
              <a:t>Download ZIP</a:t>
            </a:r>
            <a:endParaRPr lang="en-US" sz="800" dirty="0"/>
          </a:p>
        </p:txBody>
      </p:sp>
      <p:sp>
        <p:nvSpPr>
          <p:cNvPr id="48" name="Text 45"/>
          <p:cNvSpPr/>
          <p:nvPr/>
        </p:nvSpPr>
        <p:spPr>
          <a:xfrm>
            <a:off x="5838899" y="4237730"/>
            <a:ext cx="966974" cy="239916"/>
          </a:xfrm>
          <a:prstGeom prst="rect">
            <a:avLst/>
          </a:prstGeom>
          <a:solidFill>
            <a:srgbClr val="FFFFFF"/>
          </a:solidFill>
          <a:ln w="7144">
            <a:solidFill>
              <a:srgbClr val="10B981"/>
            </a:solidFill>
            <a:prstDash val="solid"/>
          </a:ln>
        </p:spPr>
        <p:txBody>
          <a:bodyPr wrap="square" rtlCol="0" anchor="ctr"/>
          <a:lstStyle/>
          <a:p>
            <a:pPr indent="0" marL="0">
              <a:buNone/>
            </a:pPr>
            <a:endParaRPr lang="en-US" dirty="0"/>
          </a:p>
        </p:txBody>
      </p:sp>
      <p:sp>
        <p:nvSpPr>
          <p:cNvPr id="49" name="Text 46"/>
          <p:cNvSpPr/>
          <p:nvPr/>
        </p:nvSpPr>
        <p:spPr>
          <a:xfrm>
            <a:off x="5838899" y="4250531"/>
            <a:ext cx="1771092" cy="221456"/>
          </a:xfrm>
          <a:prstGeom prst="rect">
            <a:avLst/>
          </a:prstGeom>
          <a:noFill/>
          <a:ln/>
        </p:spPr>
        <p:txBody>
          <a:bodyPr wrap="none" lIns="100013" tIns="50006" rIns="100013" bIns="50006" rtlCol="0" anchor="t"/>
          <a:lstStyle/>
          <a:p>
            <a:pPr algn="l" indent="0" marL="0">
              <a:buNone/>
            </a:pPr>
            <a:r>
              <a:rPr lang="en-US" sz="800" dirty="0">
                <a:solidFill>
                  <a:srgbClr val="10B981"/>
                </a:solidFill>
                <a:latin typeface="Carlito" pitchFamily="34" charset="0"/>
                <a:ea typeface="Carlito" pitchFamily="34" charset="-122"/>
                <a:cs typeface="Carlito" pitchFamily="34" charset="-120"/>
              </a:rPr>
              <a:t>Open in StackBlitz</a:t>
            </a:r>
            <a:endParaRPr lang="en-US" sz="800" dirty="0"/>
          </a:p>
        </p:txBody>
      </p:sp>
      <p:sp>
        <p:nvSpPr>
          <p:cNvPr id="50" name="Text 47"/>
          <p:cNvSpPr/>
          <p:nvPr/>
        </p:nvSpPr>
        <p:spPr>
          <a:xfrm>
            <a:off x="7645710" y="4318397"/>
            <a:ext cx="855352" cy="127053"/>
          </a:xfrm>
          <a:prstGeom prst="rect">
            <a:avLst/>
          </a:prstGeom>
          <a:noFill/>
          <a:ln/>
        </p:spPr>
        <p:txBody>
          <a:bodyPr wrap="none" lIns="0" tIns="0" rIns="0" bIns="0" rtlCol="0" anchor="t"/>
          <a:lstStyle/>
          <a:p>
            <a:pPr algn="l" indent="0" marL="0">
              <a:buNone/>
            </a:pPr>
            <a:r>
              <a:rPr lang="en-US" sz="600" dirty="0">
                <a:solidFill>
                  <a:srgbClr val="6B6B6B"/>
                </a:solidFill>
                <a:latin typeface="Courier New" pitchFamily="34" charset="0"/>
                <a:ea typeface="Courier New" pitchFamily="34" charset="-122"/>
                <a:cs typeface="Courier New" pitchFamily="34" charset="-120"/>
              </a:rPr>
              <a:t>verdict → starter kit</a:t>
            </a:r>
            <a:endParaRPr lang="en-US" sz="600" dirty="0"/>
          </a:p>
        </p:txBody>
      </p:sp>
      <p:sp>
        <p:nvSpPr>
          <p:cNvPr id="51" name="Text 48"/>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385763"/>
            <a:ext cx="8636000"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Tested. All green.</a:t>
            </a:r>
            <a:endParaRPr lang="en-US" sz="1519" dirty="0"/>
          </a:p>
        </p:txBody>
      </p:sp>
      <p:sp>
        <p:nvSpPr>
          <p:cNvPr id="3" name="Text 1"/>
          <p:cNvSpPr/>
          <p:nvPr/>
        </p:nvSpPr>
        <p:spPr>
          <a:xfrm>
            <a:off x="400050" y="667159"/>
            <a:ext cx="8343900" cy="164592"/>
          </a:xfrm>
          <a:prstGeom prst="rect">
            <a:avLst/>
          </a:prstGeom>
          <a:noFill/>
          <a:ln/>
        </p:spPr>
        <p:txBody>
          <a:bodyPr wrap="square" lIns="0" tIns="0" rIns="0" bIns="0" rtlCol="0" anchor="t"/>
          <a:lstStyle/>
          <a:p>
            <a:pPr algn="l" indent="0" marL="0">
              <a:lnSpc>
                <a:spcPts val="1097"/>
              </a:lnSpc>
              <a:buNone/>
            </a:pPr>
            <a:r>
              <a:rPr lang="en-US" sz="800" dirty="0">
                <a:solidFill>
                  <a:srgbClr val="6B6B6B"/>
                </a:solidFill>
                <a:latin typeface="Carlito" pitchFamily="34" charset="0"/>
                <a:ea typeface="Carlito" pitchFamily="34" charset="-122"/>
                <a:cs typeface="Carlito" pitchFamily="34" charset="-120"/>
              </a:rPr>
              <a:t>every command below ran against the deployed build</a:t>
            </a:r>
            <a:endParaRPr lang="en-US" sz="800" dirty="0"/>
          </a:p>
        </p:txBody>
      </p:sp>
      <p:sp>
        <p:nvSpPr>
          <p:cNvPr id="4" name="Text 2"/>
          <p:cNvSpPr/>
          <p:nvPr/>
        </p:nvSpPr>
        <p:spPr>
          <a:xfrm>
            <a:off x="403622" y="995772"/>
            <a:ext cx="5279231" cy="280113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5" name="Text 3"/>
          <p:cNvSpPr/>
          <p:nvPr/>
        </p:nvSpPr>
        <p:spPr>
          <a:xfrm>
            <a:off x="407194" y="999344"/>
            <a:ext cx="5272088" cy="221456"/>
          </a:xfrm>
          <a:prstGeom prst="rect">
            <a:avLst/>
          </a:prstGeom>
          <a:solidFill>
            <a:srgbClr val="1A1A1A"/>
          </a:solidFill>
          <a:ln/>
        </p:spPr>
        <p:txBody>
          <a:bodyPr wrap="square" rtlCol="0" anchor="ctr"/>
          <a:lstStyle/>
          <a:p>
            <a:pPr indent="0" marL="0">
              <a:buNone/>
            </a:pPr>
            <a:endParaRPr lang="en-US" dirty="0"/>
          </a:p>
        </p:txBody>
      </p:sp>
      <p:sp>
        <p:nvSpPr>
          <p:cNvPr id="6" name="Shape 4"/>
          <p:cNvSpPr/>
          <p:nvPr/>
        </p:nvSpPr>
        <p:spPr>
          <a:xfrm>
            <a:off x="407194" y="1217228"/>
            <a:ext cx="5272088" cy="0"/>
          </a:xfrm>
          <a:prstGeom prst="line">
            <a:avLst/>
          </a:prstGeom>
          <a:noFill/>
          <a:ln w="7144">
            <a:solidFill>
              <a:srgbClr val="1A1A1A"/>
            </a:solidFill>
            <a:prstDash val="solid"/>
          </a:ln>
        </p:spPr>
      </p:sp>
      <p:sp>
        <p:nvSpPr>
          <p:cNvPr id="7" name="Text 5"/>
          <p:cNvSpPr/>
          <p:nvPr/>
        </p:nvSpPr>
        <p:spPr>
          <a:xfrm>
            <a:off x="510778" y="1077925"/>
            <a:ext cx="57150" cy="57150"/>
          </a:xfrm>
          <a:prstGeom prst="ellipse">
            <a:avLst/>
          </a:prstGeom>
          <a:solidFill>
            <a:srgbClr val="1A1A1A"/>
          </a:solidFill>
          <a:ln w="7144">
            <a:solidFill>
              <a:srgbClr val="EDE8DC"/>
            </a:solidFill>
            <a:prstDash val="solid"/>
          </a:ln>
        </p:spPr>
        <p:txBody>
          <a:bodyPr wrap="square" rtlCol="0" anchor="ctr"/>
          <a:lstStyle/>
          <a:p>
            <a:pPr indent="0" marL="0">
              <a:buNone/>
            </a:pPr>
            <a:endParaRPr lang="en-US" dirty="0"/>
          </a:p>
        </p:txBody>
      </p:sp>
      <p:sp>
        <p:nvSpPr>
          <p:cNvPr id="8" name="Text 6"/>
          <p:cNvSpPr/>
          <p:nvPr/>
        </p:nvSpPr>
        <p:spPr>
          <a:xfrm>
            <a:off x="632222" y="1077925"/>
            <a:ext cx="57150" cy="57150"/>
          </a:xfrm>
          <a:prstGeom prst="ellipse">
            <a:avLst/>
          </a:prstGeom>
          <a:solidFill>
            <a:srgbClr val="1A1A1A"/>
          </a:solidFill>
          <a:ln w="7144">
            <a:solidFill>
              <a:srgbClr val="EDE8DC"/>
            </a:solidFill>
            <a:prstDash val="solid"/>
          </a:ln>
        </p:spPr>
        <p:txBody>
          <a:bodyPr wrap="square" rtlCol="0" anchor="ctr"/>
          <a:lstStyle/>
          <a:p>
            <a:pPr indent="0" marL="0">
              <a:buNone/>
            </a:pPr>
            <a:endParaRPr lang="en-US" dirty="0"/>
          </a:p>
        </p:txBody>
      </p:sp>
      <p:sp>
        <p:nvSpPr>
          <p:cNvPr id="9" name="Text 7"/>
          <p:cNvSpPr/>
          <p:nvPr/>
        </p:nvSpPr>
        <p:spPr>
          <a:xfrm>
            <a:off x="753666" y="1077925"/>
            <a:ext cx="57150" cy="57150"/>
          </a:xfrm>
          <a:prstGeom prst="ellipse">
            <a:avLst/>
          </a:prstGeom>
          <a:solidFill>
            <a:srgbClr val="1A1A1A"/>
          </a:solidFill>
          <a:ln w="7144">
            <a:solidFill>
              <a:srgbClr val="EDE8DC"/>
            </a:solidFill>
            <a:prstDash val="solid"/>
          </a:ln>
        </p:spPr>
        <p:txBody>
          <a:bodyPr wrap="square" rtlCol="0" anchor="ctr"/>
          <a:lstStyle/>
          <a:p>
            <a:pPr indent="0" marL="0">
              <a:buNone/>
            </a:pPr>
            <a:endParaRPr lang="en-US" dirty="0"/>
          </a:p>
        </p:txBody>
      </p:sp>
      <p:sp>
        <p:nvSpPr>
          <p:cNvPr id="10" name="Text 8"/>
          <p:cNvSpPr/>
          <p:nvPr/>
        </p:nvSpPr>
        <p:spPr>
          <a:xfrm>
            <a:off x="871538" y="1063637"/>
            <a:ext cx="4707731" cy="91440"/>
          </a:xfrm>
          <a:prstGeom prst="rect">
            <a:avLst/>
          </a:prstGeom>
          <a:noFill/>
          <a:ln/>
        </p:spPr>
        <p:txBody>
          <a:bodyPr wrap="none" lIns="0" tIns="0" rIns="0" bIns="0" rtlCol="0" anchor="t"/>
          <a:lstStyle/>
          <a:p>
            <a:pPr algn="l" indent="0" marL="0">
              <a:buNone/>
            </a:pPr>
            <a:r>
              <a:rPr lang="en-US" sz="800" dirty="0">
                <a:solidFill>
                  <a:srgbClr val="EDE8DC">
                    <a:alpha val="62000"/>
                  </a:srgbClr>
                </a:solidFill>
                <a:latin typeface="Courier New" pitchFamily="34" charset="0"/>
                <a:ea typeface="Courier New" pitchFamily="34" charset="-122"/>
                <a:cs typeface="Courier New" pitchFamily="34" charset="-120"/>
              </a:rPr>
              <a:t>reposcope — zsh</a:t>
            </a:r>
            <a:endParaRPr lang="en-US" sz="800" dirty="0"/>
          </a:p>
        </p:txBody>
      </p:sp>
      <p:sp>
        <p:nvSpPr>
          <p:cNvPr id="11" name="Text 9"/>
          <p:cNvSpPr/>
          <p:nvPr/>
        </p:nvSpPr>
        <p:spPr>
          <a:xfrm>
            <a:off x="407194" y="1220800"/>
            <a:ext cx="5272088" cy="2572531"/>
          </a:xfrm>
          <a:prstGeom prst="rect">
            <a:avLst/>
          </a:prstGeom>
          <a:solidFill>
            <a:srgbClr val="1A1A1A"/>
          </a:solidFill>
          <a:ln/>
        </p:spPr>
        <p:txBody>
          <a:bodyPr wrap="square" rtlCol="0" anchor="ctr"/>
          <a:lstStyle/>
          <a:p>
            <a:pPr indent="0" marL="0">
              <a:buNone/>
            </a:pPr>
            <a:endParaRPr lang="en-US" dirty="0"/>
          </a:p>
        </p:txBody>
      </p:sp>
      <p:sp>
        <p:nvSpPr>
          <p:cNvPr id="12" name="Text 10"/>
          <p:cNvSpPr/>
          <p:nvPr/>
        </p:nvSpPr>
        <p:spPr>
          <a:xfrm>
            <a:off x="564356" y="1443261"/>
            <a:ext cx="91440" cy="128016"/>
          </a:xfrm>
          <a:prstGeom prst="rect">
            <a:avLst/>
          </a:prstGeom>
          <a:noFill/>
          <a:ln/>
        </p:spPr>
        <p:txBody>
          <a:bodyPr wrap="none" lIns="0" tIns="0" rIns="0" bIns="0" rtlCol="0" anchor="t"/>
          <a:lstStyle/>
          <a:p>
            <a:pPr algn="l" indent="0" marL="0">
              <a:lnSpc>
                <a:spcPts val="1418"/>
              </a:lnSpc>
              <a:buNone/>
            </a:pPr>
            <a:r>
              <a:rPr lang="en-US" sz="800" dirty="0">
                <a:solidFill>
                  <a:srgbClr val="EDE8DC">
                    <a:alpha val="62000"/>
                  </a:srgbClr>
                </a:solidFill>
                <a:latin typeface="Courier New" pitchFamily="34" charset="0"/>
                <a:ea typeface="Courier New" pitchFamily="34" charset="-122"/>
                <a:cs typeface="Courier New" pitchFamily="34" charset="-120"/>
              </a:rPr>
              <a:t>$</a:t>
            </a:r>
            <a:endParaRPr lang="en-US" sz="800" dirty="0"/>
          </a:p>
        </p:txBody>
      </p:sp>
      <p:sp>
        <p:nvSpPr>
          <p:cNvPr id="13" name="Text 11"/>
          <p:cNvSpPr/>
          <p:nvPr/>
        </p:nvSpPr>
        <p:spPr>
          <a:xfrm>
            <a:off x="667271" y="1443261"/>
            <a:ext cx="441504" cy="128016"/>
          </a:xfrm>
          <a:prstGeom prst="rect">
            <a:avLst/>
          </a:prstGeom>
          <a:noFill/>
          <a:ln/>
        </p:spPr>
        <p:txBody>
          <a:bodyPr wrap="none" lIns="0" tIns="0" rIns="0" bIns="0" rtlCol="0" anchor="t"/>
          <a:lstStyle/>
          <a:p>
            <a:pPr algn="l" indent="0" marL="0">
              <a:lnSpc>
                <a:spcPts val="1418"/>
              </a:lnSpc>
              <a:buNone/>
            </a:pPr>
            <a:r>
              <a:rPr lang="en-US" sz="800" dirty="0">
                <a:solidFill>
                  <a:srgbClr val="EDE8DC"/>
                </a:solidFill>
                <a:latin typeface="Courier New" pitchFamily="34" charset="0"/>
                <a:ea typeface="Courier New" pitchFamily="34" charset="-122"/>
                <a:cs typeface="Courier New" pitchFamily="34" charset="-120"/>
              </a:rPr>
              <a:t>pytest</a:t>
            </a:r>
            <a:endParaRPr lang="en-US" sz="800" dirty="0"/>
          </a:p>
        </p:txBody>
      </p:sp>
      <p:sp>
        <p:nvSpPr>
          <p:cNvPr id="14" name="Text 12"/>
          <p:cNvSpPr/>
          <p:nvPr/>
        </p:nvSpPr>
        <p:spPr>
          <a:xfrm>
            <a:off x="564356" y="1695636"/>
            <a:ext cx="91440" cy="100013"/>
          </a:xfrm>
          <a:prstGeom prst="rect">
            <a:avLst/>
          </a:prstGeom>
          <a:noFill/>
          <a:ln/>
        </p:spPr>
        <p:txBody>
          <a:bodyPr wrap="none" lIns="0" tIns="0" rIns="0" bIns="0" rtlCol="0" anchor="ctr"/>
          <a:lstStyle/>
          <a:p>
            <a:pPr algn="ctr" indent="0" marL="0">
              <a:buNone/>
            </a:pPr>
            <a:r>
              <a:rPr lang="en-US" sz="800" b="1" dirty="0">
                <a:solidFill>
                  <a:srgbClr val="10B981"/>
                </a:solidFill>
                <a:latin typeface="Segoe UI Symbol" pitchFamily="34" charset="0"/>
                <a:ea typeface="Segoe UI Symbol" pitchFamily="34" charset="-122"/>
                <a:cs typeface="Segoe UI Symbol" pitchFamily="34" charset="-120"/>
              </a:rPr>
              <a:t>✓</a:t>
            </a:r>
            <a:endParaRPr lang="en-US" sz="800" dirty="0"/>
          </a:p>
        </p:txBody>
      </p:sp>
      <p:sp>
        <p:nvSpPr>
          <p:cNvPr id="15" name="Text 13"/>
          <p:cNvSpPr/>
          <p:nvPr/>
        </p:nvSpPr>
        <p:spPr>
          <a:xfrm>
            <a:off x="701539" y="1695636"/>
            <a:ext cx="1028867" cy="128016"/>
          </a:xfrm>
          <a:prstGeom prst="rect">
            <a:avLst/>
          </a:prstGeom>
          <a:noFill/>
          <a:ln/>
        </p:spPr>
        <p:txBody>
          <a:bodyPr wrap="none" lIns="0" tIns="0" rIns="0" bIns="0" rtlCol="0" anchor="t"/>
          <a:lstStyle/>
          <a:p>
            <a:pPr algn="l" indent="0" marL="0">
              <a:lnSpc>
                <a:spcPts val="1418"/>
              </a:lnSpc>
              <a:buNone/>
            </a:pPr>
            <a:r>
              <a:rPr lang="en-US" sz="800" dirty="0">
                <a:solidFill>
                  <a:srgbClr val="EDE8DC"/>
                </a:solidFill>
                <a:latin typeface="Courier New" pitchFamily="34" charset="0"/>
                <a:ea typeface="Courier New" pitchFamily="34" charset="-122"/>
                <a:cs typeface="Courier New" pitchFamily="34" charset="-120"/>
              </a:rPr>
              <a:t>all tests passed</a:t>
            </a:r>
            <a:endParaRPr lang="en-US" sz="800" dirty="0"/>
          </a:p>
        </p:txBody>
      </p:sp>
      <p:sp>
        <p:nvSpPr>
          <p:cNvPr id="16" name="Text 14"/>
          <p:cNvSpPr/>
          <p:nvPr/>
        </p:nvSpPr>
        <p:spPr>
          <a:xfrm>
            <a:off x="564356" y="1948011"/>
            <a:ext cx="91440" cy="128016"/>
          </a:xfrm>
          <a:prstGeom prst="rect">
            <a:avLst/>
          </a:prstGeom>
          <a:noFill/>
          <a:ln/>
        </p:spPr>
        <p:txBody>
          <a:bodyPr wrap="none" lIns="0" tIns="0" rIns="0" bIns="0" rtlCol="0" anchor="t"/>
          <a:lstStyle/>
          <a:p>
            <a:pPr algn="l" indent="0" marL="0">
              <a:lnSpc>
                <a:spcPts val="1418"/>
              </a:lnSpc>
              <a:buNone/>
            </a:pPr>
            <a:r>
              <a:rPr lang="en-US" sz="800" dirty="0">
                <a:solidFill>
                  <a:srgbClr val="EDE8DC">
                    <a:alpha val="62000"/>
                  </a:srgbClr>
                </a:solidFill>
                <a:latin typeface="Courier New" pitchFamily="34" charset="0"/>
                <a:ea typeface="Courier New" pitchFamily="34" charset="-122"/>
                <a:cs typeface="Courier New" pitchFamily="34" charset="-120"/>
              </a:rPr>
              <a:t>$</a:t>
            </a:r>
            <a:endParaRPr lang="en-US" sz="800" dirty="0"/>
          </a:p>
        </p:txBody>
      </p:sp>
      <p:sp>
        <p:nvSpPr>
          <p:cNvPr id="17" name="Text 15"/>
          <p:cNvSpPr/>
          <p:nvPr/>
        </p:nvSpPr>
        <p:spPr>
          <a:xfrm>
            <a:off x="667271" y="1948011"/>
            <a:ext cx="836042" cy="128016"/>
          </a:xfrm>
          <a:prstGeom prst="rect">
            <a:avLst/>
          </a:prstGeom>
          <a:noFill/>
          <a:ln/>
        </p:spPr>
        <p:txBody>
          <a:bodyPr wrap="none" lIns="0" tIns="0" rIns="0" bIns="0" rtlCol="0" anchor="t"/>
          <a:lstStyle/>
          <a:p>
            <a:pPr algn="l" indent="0" marL="0">
              <a:lnSpc>
                <a:spcPts val="1418"/>
              </a:lnSpc>
              <a:buNone/>
            </a:pPr>
            <a:r>
              <a:rPr lang="en-US" sz="800" dirty="0">
                <a:solidFill>
                  <a:srgbClr val="EDE8DC"/>
                </a:solidFill>
                <a:latin typeface="Courier New" pitchFamily="34" charset="0"/>
                <a:ea typeface="Courier New" pitchFamily="34" charset="-122"/>
                <a:cs typeface="Courier New" pitchFamily="34" charset="-120"/>
              </a:rPr>
              <a:t>npm run build</a:t>
            </a:r>
            <a:endParaRPr lang="en-US" sz="800" dirty="0"/>
          </a:p>
        </p:txBody>
      </p:sp>
      <p:sp>
        <p:nvSpPr>
          <p:cNvPr id="18" name="Text 16"/>
          <p:cNvSpPr/>
          <p:nvPr/>
        </p:nvSpPr>
        <p:spPr>
          <a:xfrm>
            <a:off x="564356" y="2200387"/>
            <a:ext cx="91440" cy="100013"/>
          </a:xfrm>
          <a:prstGeom prst="rect">
            <a:avLst/>
          </a:prstGeom>
          <a:noFill/>
          <a:ln/>
        </p:spPr>
        <p:txBody>
          <a:bodyPr wrap="none" lIns="0" tIns="0" rIns="0" bIns="0" rtlCol="0" anchor="ctr"/>
          <a:lstStyle/>
          <a:p>
            <a:pPr algn="ctr" indent="0" marL="0">
              <a:buNone/>
            </a:pPr>
            <a:r>
              <a:rPr lang="en-US" sz="800" b="1" dirty="0">
                <a:solidFill>
                  <a:srgbClr val="10B981"/>
                </a:solidFill>
                <a:latin typeface="Segoe UI Symbol" pitchFamily="34" charset="0"/>
                <a:ea typeface="Segoe UI Symbol" pitchFamily="34" charset="-122"/>
                <a:cs typeface="Segoe UI Symbol" pitchFamily="34" charset="-120"/>
              </a:rPr>
              <a:t>✓</a:t>
            </a:r>
            <a:endParaRPr lang="en-US" sz="800" dirty="0"/>
          </a:p>
        </p:txBody>
      </p:sp>
      <p:sp>
        <p:nvSpPr>
          <p:cNvPr id="19" name="Text 17"/>
          <p:cNvSpPr/>
          <p:nvPr/>
        </p:nvSpPr>
        <p:spPr>
          <a:xfrm>
            <a:off x="701539" y="2200387"/>
            <a:ext cx="1607623" cy="128016"/>
          </a:xfrm>
          <a:prstGeom prst="rect">
            <a:avLst/>
          </a:prstGeom>
          <a:noFill/>
          <a:ln/>
        </p:spPr>
        <p:txBody>
          <a:bodyPr wrap="none" lIns="0" tIns="0" rIns="0" bIns="0" rtlCol="0" anchor="t"/>
          <a:lstStyle/>
          <a:p>
            <a:pPr algn="l" indent="0" marL="0">
              <a:lnSpc>
                <a:spcPts val="1418"/>
              </a:lnSpc>
              <a:buNone/>
            </a:pPr>
            <a:r>
              <a:rPr lang="en-US" sz="800" dirty="0">
                <a:solidFill>
                  <a:srgbClr val="EDE8DC"/>
                </a:solidFill>
                <a:latin typeface="Liberation Sans Narrow" pitchFamily="34" charset="0"/>
                <a:ea typeface="Liberation Sans Narrow" pitchFamily="34" charset="-122"/>
                <a:cs typeface="Liberation Sans Narrow" pitchFamily="34" charset="-120"/>
              </a:rPr>
              <a:t>build complete — 0 errors</a:t>
            </a:r>
            <a:endParaRPr lang="en-US" sz="800" dirty="0"/>
          </a:p>
        </p:txBody>
      </p:sp>
      <p:sp>
        <p:nvSpPr>
          <p:cNvPr id="20" name="Text 18"/>
          <p:cNvSpPr/>
          <p:nvPr/>
        </p:nvSpPr>
        <p:spPr>
          <a:xfrm>
            <a:off x="564356" y="2452762"/>
            <a:ext cx="91440" cy="128016"/>
          </a:xfrm>
          <a:prstGeom prst="rect">
            <a:avLst/>
          </a:prstGeom>
          <a:noFill/>
          <a:ln/>
        </p:spPr>
        <p:txBody>
          <a:bodyPr wrap="none" lIns="0" tIns="0" rIns="0" bIns="0" rtlCol="0" anchor="t"/>
          <a:lstStyle/>
          <a:p>
            <a:pPr algn="l" indent="0" marL="0">
              <a:lnSpc>
                <a:spcPts val="1418"/>
              </a:lnSpc>
              <a:buNone/>
            </a:pPr>
            <a:r>
              <a:rPr lang="en-US" sz="800" dirty="0">
                <a:solidFill>
                  <a:srgbClr val="EDE8DC">
                    <a:alpha val="62000"/>
                  </a:srgbClr>
                </a:solidFill>
                <a:latin typeface="Courier New" pitchFamily="34" charset="0"/>
                <a:ea typeface="Courier New" pitchFamily="34" charset="-122"/>
                <a:cs typeface="Courier New" pitchFamily="34" charset="-120"/>
              </a:rPr>
              <a:t>$</a:t>
            </a:r>
            <a:endParaRPr lang="en-US" sz="800" dirty="0"/>
          </a:p>
        </p:txBody>
      </p:sp>
      <p:sp>
        <p:nvSpPr>
          <p:cNvPr id="21" name="Text 19"/>
          <p:cNvSpPr/>
          <p:nvPr/>
        </p:nvSpPr>
        <p:spPr>
          <a:xfrm>
            <a:off x="667271" y="2452762"/>
            <a:ext cx="2055752" cy="128016"/>
          </a:xfrm>
          <a:prstGeom prst="rect">
            <a:avLst/>
          </a:prstGeom>
          <a:noFill/>
          <a:ln/>
        </p:spPr>
        <p:txBody>
          <a:bodyPr wrap="none" lIns="0" tIns="0" rIns="0" bIns="0" rtlCol="0" anchor="t"/>
          <a:lstStyle/>
          <a:p>
            <a:pPr algn="l" indent="0" marL="0">
              <a:lnSpc>
                <a:spcPts val="1418"/>
              </a:lnSpc>
              <a:buNone/>
            </a:pPr>
            <a:r>
              <a:rPr lang="en-US" sz="675" dirty="0">
                <a:solidFill>
                  <a:srgbClr val="EDE8DC"/>
                </a:solidFill>
                <a:latin typeface="Courier New" pitchFamily="34" charset="0"/>
                <a:ea typeface="Courier New" pitchFamily="34" charset="-122"/>
                <a:cs typeface="Courier New" pitchFamily="34" charset="-120"/>
              </a:rPr>
              <a:t>curl reposope.onrender.com/api/health</a:t>
            </a:r>
            <a:endParaRPr lang="en-US" sz="675" dirty="0"/>
          </a:p>
        </p:txBody>
      </p:sp>
      <p:sp>
        <p:nvSpPr>
          <p:cNvPr id="22" name="Text 20"/>
          <p:cNvSpPr/>
          <p:nvPr/>
        </p:nvSpPr>
        <p:spPr>
          <a:xfrm>
            <a:off x="564356" y="2705249"/>
            <a:ext cx="836042" cy="128016"/>
          </a:xfrm>
          <a:prstGeom prst="rect">
            <a:avLst/>
          </a:prstGeom>
          <a:noFill/>
          <a:ln/>
        </p:spPr>
        <p:txBody>
          <a:bodyPr wrap="none" lIns="0" tIns="0" rIns="0" bIns="0" rtlCol="0" anchor="t"/>
          <a:lstStyle/>
          <a:p>
            <a:pPr algn="l" indent="0" marL="0">
              <a:lnSpc>
                <a:spcPts val="1418"/>
              </a:lnSpc>
              <a:buNone/>
            </a:pPr>
            <a:r>
              <a:rPr lang="en-US" sz="800" dirty="0">
                <a:solidFill>
                  <a:srgbClr val="EDE8DC"/>
                </a:solidFill>
                <a:latin typeface="Courier New" pitchFamily="34" charset="0"/>
                <a:ea typeface="Courier New" pitchFamily="34" charset="-122"/>
                <a:cs typeface="Courier New" pitchFamily="34" charset="-120"/>
              </a:rPr>
              <a:t>{ "status": "</a:t>
            </a:r>
            <a:endParaRPr lang="en-US" sz="800" dirty="0"/>
          </a:p>
        </p:txBody>
      </p:sp>
      <p:sp>
        <p:nvSpPr>
          <p:cNvPr id="23" name="Text 21"/>
          <p:cNvSpPr/>
          <p:nvPr/>
        </p:nvSpPr>
        <p:spPr>
          <a:xfrm>
            <a:off x="1233190" y="2705249"/>
            <a:ext cx="164663" cy="128016"/>
          </a:xfrm>
          <a:prstGeom prst="rect">
            <a:avLst/>
          </a:prstGeom>
          <a:noFill/>
          <a:ln/>
        </p:spPr>
        <p:txBody>
          <a:bodyPr wrap="none" lIns="0" tIns="0" rIns="0" bIns="0" rtlCol="0" anchor="t"/>
          <a:lstStyle/>
          <a:p>
            <a:pPr algn="l" indent="0" marL="0">
              <a:lnSpc>
                <a:spcPts val="1418"/>
              </a:lnSpc>
              <a:buNone/>
            </a:pPr>
            <a:r>
              <a:rPr lang="en-US" sz="800" b="1" dirty="0">
                <a:solidFill>
                  <a:srgbClr val="10B981"/>
                </a:solidFill>
                <a:latin typeface="Courier New" pitchFamily="34" charset="0"/>
                <a:ea typeface="Courier New" pitchFamily="34" charset="-122"/>
                <a:cs typeface="Courier New" pitchFamily="34" charset="-120"/>
              </a:rPr>
              <a:t>ok</a:t>
            </a:r>
            <a:endParaRPr lang="en-US" sz="800" dirty="0"/>
          </a:p>
        </p:txBody>
      </p:sp>
      <p:sp>
        <p:nvSpPr>
          <p:cNvPr id="24" name="Text 22"/>
          <p:cNvSpPr/>
          <p:nvPr/>
        </p:nvSpPr>
        <p:spPr>
          <a:xfrm>
            <a:off x="1336104" y="2705249"/>
            <a:ext cx="246995" cy="128016"/>
          </a:xfrm>
          <a:prstGeom prst="rect">
            <a:avLst/>
          </a:prstGeom>
          <a:noFill/>
          <a:ln/>
        </p:spPr>
        <p:txBody>
          <a:bodyPr wrap="none" lIns="0" tIns="0" rIns="0" bIns="0" rtlCol="0" anchor="t"/>
          <a:lstStyle/>
          <a:p>
            <a:pPr algn="l" indent="0" marL="0">
              <a:lnSpc>
                <a:spcPts val="1418"/>
              </a:lnSpc>
              <a:buNone/>
            </a:pPr>
            <a:r>
              <a:rPr lang="en-US" sz="800" dirty="0">
                <a:solidFill>
                  <a:srgbClr val="EDE8DC"/>
                </a:solidFill>
                <a:latin typeface="Courier New" pitchFamily="34" charset="0"/>
                <a:ea typeface="Courier New" pitchFamily="34" charset="-122"/>
                <a:cs typeface="Courier New" pitchFamily="34" charset="-120"/>
              </a:rPr>
              <a:t>" }</a:t>
            </a:r>
            <a:endParaRPr lang="en-US" sz="800" dirty="0"/>
          </a:p>
        </p:txBody>
      </p:sp>
      <p:sp>
        <p:nvSpPr>
          <p:cNvPr id="25" name="Text 23"/>
          <p:cNvSpPr/>
          <p:nvPr/>
        </p:nvSpPr>
        <p:spPr>
          <a:xfrm>
            <a:off x="564356" y="2957624"/>
            <a:ext cx="91440" cy="128016"/>
          </a:xfrm>
          <a:prstGeom prst="rect">
            <a:avLst/>
          </a:prstGeom>
          <a:noFill/>
          <a:ln/>
        </p:spPr>
        <p:txBody>
          <a:bodyPr wrap="none" lIns="0" tIns="0" rIns="0" bIns="0" rtlCol="0" anchor="t"/>
          <a:lstStyle/>
          <a:p>
            <a:pPr algn="l" indent="0" marL="0">
              <a:lnSpc>
                <a:spcPts val="1418"/>
              </a:lnSpc>
              <a:buNone/>
            </a:pPr>
            <a:r>
              <a:rPr lang="en-US" sz="800" dirty="0">
                <a:solidFill>
                  <a:srgbClr val="EDE8DC">
                    <a:alpha val="62000"/>
                  </a:srgbClr>
                </a:solidFill>
                <a:latin typeface="Courier New" pitchFamily="34" charset="0"/>
                <a:ea typeface="Courier New" pitchFamily="34" charset="-122"/>
                <a:cs typeface="Courier New" pitchFamily="34" charset="-120"/>
              </a:rPr>
              <a:t>$</a:t>
            </a:r>
            <a:endParaRPr lang="en-US" sz="800" dirty="0"/>
          </a:p>
        </p:txBody>
      </p:sp>
      <p:sp>
        <p:nvSpPr>
          <p:cNvPr id="26" name="Text 24"/>
          <p:cNvSpPr/>
          <p:nvPr/>
        </p:nvSpPr>
        <p:spPr>
          <a:xfrm>
            <a:off x="667271" y="2957624"/>
            <a:ext cx="1777883" cy="128016"/>
          </a:xfrm>
          <a:prstGeom prst="rect">
            <a:avLst/>
          </a:prstGeom>
          <a:noFill/>
          <a:ln/>
        </p:spPr>
        <p:txBody>
          <a:bodyPr wrap="none" lIns="0" tIns="0" rIns="0" bIns="0" rtlCol="0" anchor="t"/>
          <a:lstStyle/>
          <a:p>
            <a:pPr algn="l" indent="0" marL="0">
              <a:lnSpc>
                <a:spcPts val="1418"/>
              </a:lnSpc>
              <a:buNone/>
            </a:pPr>
            <a:r>
              <a:rPr lang="en-US" sz="675" dirty="0">
                <a:solidFill>
                  <a:srgbClr val="EDE8DC"/>
                </a:solidFill>
                <a:latin typeface="Courier New" pitchFamily="34" charset="0"/>
                <a:ea typeface="Courier New" pitchFamily="34" charset="-122"/>
                <a:cs typeface="Courier New" pitchFamily="34" charset="-120"/>
              </a:rPr>
              <a:t>curl -I repo-scope-nu.vercel.app</a:t>
            </a:r>
            <a:endParaRPr lang="en-US" sz="675" dirty="0"/>
          </a:p>
        </p:txBody>
      </p:sp>
      <p:sp>
        <p:nvSpPr>
          <p:cNvPr id="27" name="Text 25"/>
          <p:cNvSpPr/>
          <p:nvPr/>
        </p:nvSpPr>
        <p:spPr>
          <a:xfrm>
            <a:off x="564356" y="3209999"/>
            <a:ext cx="643077" cy="128016"/>
          </a:xfrm>
          <a:prstGeom prst="rect">
            <a:avLst/>
          </a:prstGeom>
          <a:noFill/>
          <a:ln/>
        </p:spPr>
        <p:txBody>
          <a:bodyPr wrap="none" lIns="0" tIns="0" rIns="0" bIns="0" rtlCol="0" anchor="t"/>
          <a:lstStyle/>
          <a:p>
            <a:pPr algn="l" indent="0" marL="0">
              <a:lnSpc>
                <a:spcPts val="1418"/>
              </a:lnSpc>
              <a:buNone/>
            </a:pPr>
            <a:r>
              <a:rPr lang="en-US" sz="675" dirty="0">
                <a:solidFill>
                  <a:srgbClr val="EDE8DC"/>
                </a:solidFill>
                <a:latin typeface="Liberation Sans Narrow" pitchFamily="34" charset="0"/>
                <a:ea typeface="Liberation Sans Narrow" pitchFamily="34" charset="-122"/>
                <a:cs typeface="Liberation Sans Narrow" pitchFamily="34" charset="-120"/>
              </a:rPr>
              <a:t>HTTP/2 200</a:t>
            </a:r>
            <a:endParaRPr lang="en-US" sz="675" dirty="0"/>
          </a:p>
        </p:txBody>
      </p:sp>
      <p:sp>
        <p:nvSpPr>
          <p:cNvPr id="28" name="Text 26"/>
          <p:cNvSpPr/>
          <p:nvPr/>
        </p:nvSpPr>
        <p:spPr>
          <a:xfrm>
            <a:off x="564356" y="3462375"/>
            <a:ext cx="91440" cy="128016"/>
          </a:xfrm>
          <a:prstGeom prst="rect">
            <a:avLst/>
          </a:prstGeom>
          <a:noFill/>
          <a:ln/>
        </p:spPr>
        <p:txBody>
          <a:bodyPr wrap="none" lIns="0" tIns="0" rIns="0" bIns="0" rtlCol="0" anchor="t"/>
          <a:lstStyle/>
          <a:p>
            <a:pPr algn="l" indent="0" marL="0">
              <a:lnSpc>
                <a:spcPts val="1418"/>
              </a:lnSpc>
              <a:buNone/>
            </a:pPr>
            <a:r>
              <a:rPr lang="en-US" sz="800" dirty="0">
                <a:solidFill>
                  <a:srgbClr val="EDE8DC">
                    <a:alpha val="62000"/>
                  </a:srgbClr>
                </a:solidFill>
                <a:latin typeface="Courier New" pitchFamily="34" charset="0"/>
                <a:ea typeface="Courier New" pitchFamily="34" charset="-122"/>
                <a:cs typeface="Courier New" pitchFamily="34" charset="-120"/>
              </a:rPr>
              <a:t>$</a:t>
            </a:r>
            <a:endParaRPr lang="en-US" sz="800" dirty="0"/>
          </a:p>
        </p:txBody>
      </p:sp>
      <p:sp>
        <p:nvSpPr>
          <p:cNvPr id="29" name="Text 27"/>
          <p:cNvSpPr/>
          <p:nvPr/>
        </p:nvSpPr>
        <p:spPr>
          <a:xfrm>
            <a:off x="680107" y="3448087"/>
            <a:ext cx="57150" cy="100013"/>
          </a:xfrm>
          <a:prstGeom prst="rect">
            <a:avLst/>
          </a:prstGeom>
          <a:solidFill>
            <a:srgbClr val="10B981"/>
          </a:solidFill>
          <a:ln/>
        </p:spPr>
        <p:txBody>
          <a:bodyPr wrap="square" rtlCol="0" anchor="ctr"/>
          <a:lstStyle/>
          <a:p>
            <a:pPr indent="0" marL="0">
              <a:buNone/>
            </a:pPr>
            <a:endParaRPr lang="en-US" dirty="0"/>
          </a:p>
        </p:txBody>
      </p:sp>
      <p:sp>
        <p:nvSpPr>
          <p:cNvPr id="30" name="Text 28"/>
          <p:cNvSpPr/>
          <p:nvPr/>
        </p:nvSpPr>
        <p:spPr>
          <a:xfrm>
            <a:off x="5890022" y="995772"/>
            <a:ext cx="2850356" cy="60911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31" name="Image 0" descr="/tmp/h2p-svg-1790773508788-uvtlkk.png">    </p:cNvPr>
          <p:cNvPicPr>
            <a:picLocks noChangeAspect="1"/>
          </p:cNvPicPr>
          <p:nvPr/>
        </p:nvPicPr>
        <p:blipFill>
          <a:blip r:embed="rId1"/>
          <a:stretch>
            <a:fillRect/>
          </a:stretch>
        </p:blipFill>
        <p:spPr>
          <a:xfrm>
            <a:off x="6007894" y="1243124"/>
            <a:ext cx="114300" cy="114300"/>
          </a:xfrm>
          <a:prstGeom prst="rect">
            <a:avLst/>
          </a:prstGeom>
        </p:spPr>
      </p:pic>
      <p:sp>
        <p:nvSpPr>
          <p:cNvPr id="32" name="Text 29"/>
          <p:cNvSpPr/>
          <p:nvPr/>
        </p:nvSpPr>
        <p:spPr>
          <a:xfrm>
            <a:off x="6193631" y="1250268"/>
            <a:ext cx="2150157" cy="122895"/>
          </a:xfrm>
          <a:prstGeom prst="rect">
            <a:avLst/>
          </a:prstGeom>
          <a:noFill/>
          <a:ln/>
        </p:spPr>
        <p:txBody>
          <a:bodyPr wrap="none" lIns="0" tIns="0" rIns="0" bIns="0" rtlCol="0" anchor="t"/>
          <a:lstStyle/>
          <a:p>
            <a:pPr algn="l" indent="0" marL="0">
              <a:buNone/>
            </a:pPr>
            <a:r>
              <a:rPr lang="en-US" sz="800" dirty="0">
                <a:solidFill>
                  <a:srgbClr val="1A1A1A"/>
                </a:solidFill>
                <a:latin typeface="Carlito" pitchFamily="34" charset="0"/>
                <a:ea typeface="Carlito" pitchFamily="34" charset="-122"/>
                <a:cs typeface="Carlito" pitchFamily="34" charset="-120"/>
              </a:rPr>
              <a:t>pytest</a:t>
            </a:r>
            <a:endParaRPr lang="en-US" sz="800" dirty="0"/>
          </a:p>
        </p:txBody>
      </p:sp>
      <p:sp>
        <p:nvSpPr>
          <p:cNvPr id="33" name="Text 30"/>
          <p:cNvSpPr/>
          <p:nvPr/>
        </p:nvSpPr>
        <p:spPr>
          <a:xfrm>
            <a:off x="8370781" y="1260983"/>
            <a:ext cx="260452" cy="120701"/>
          </a:xfrm>
          <a:prstGeom prst="rect">
            <a:avLst/>
          </a:prstGeom>
          <a:noFill/>
          <a:ln/>
        </p:spPr>
        <p:txBody>
          <a:bodyPr wrap="none" lIns="0" tIns="0" rIns="0" bIns="0" rtlCol="0" anchor="t"/>
          <a:lstStyle/>
          <a:p>
            <a:pPr algn="l" indent="0" marL="0">
              <a:buNone/>
            </a:pPr>
            <a:r>
              <a:rPr lang="en-US" sz="600" b="1" spc="45" kern="0" dirty="0">
                <a:solidFill>
                  <a:srgbClr val="10B981"/>
                </a:solidFill>
                <a:latin typeface="Courier New" pitchFamily="34" charset="0"/>
                <a:ea typeface="Courier New" pitchFamily="34" charset="-122"/>
                <a:cs typeface="Courier New" pitchFamily="34" charset="-120"/>
              </a:rPr>
              <a:t>green</a:t>
            </a:r>
            <a:endParaRPr lang="en-US" sz="600" dirty="0"/>
          </a:p>
        </p:txBody>
      </p:sp>
      <p:sp>
        <p:nvSpPr>
          <p:cNvPr id="34" name="Text 31"/>
          <p:cNvSpPr/>
          <p:nvPr/>
        </p:nvSpPr>
        <p:spPr>
          <a:xfrm>
            <a:off x="5890022" y="1726332"/>
            <a:ext cx="2850356" cy="609228"/>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35" name="Image 1" descr="/tmp/h2p-svg-1790773508788-i0xy4f.png">    </p:cNvPr>
          <p:cNvPicPr>
            <a:picLocks noChangeAspect="1"/>
          </p:cNvPicPr>
          <p:nvPr/>
        </p:nvPicPr>
        <p:blipFill>
          <a:blip r:embed="rId2"/>
          <a:stretch>
            <a:fillRect/>
          </a:stretch>
        </p:blipFill>
        <p:spPr>
          <a:xfrm>
            <a:off x="6007894" y="1973796"/>
            <a:ext cx="114300" cy="114300"/>
          </a:xfrm>
          <a:prstGeom prst="rect">
            <a:avLst/>
          </a:prstGeom>
        </p:spPr>
      </p:pic>
      <p:sp>
        <p:nvSpPr>
          <p:cNvPr id="36" name="Text 32"/>
          <p:cNvSpPr/>
          <p:nvPr/>
        </p:nvSpPr>
        <p:spPr>
          <a:xfrm>
            <a:off x="6193631" y="1980940"/>
            <a:ext cx="2150157" cy="122895"/>
          </a:xfrm>
          <a:prstGeom prst="rect">
            <a:avLst/>
          </a:prstGeom>
          <a:noFill/>
          <a:ln/>
        </p:spPr>
        <p:txBody>
          <a:bodyPr wrap="none" lIns="0" tIns="0" rIns="0" bIns="0" rtlCol="0" anchor="t"/>
          <a:lstStyle/>
          <a:p>
            <a:pPr algn="l" indent="0" marL="0">
              <a:buNone/>
            </a:pPr>
            <a:r>
              <a:rPr lang="en-US" sz="800" dirty="0">
                <a:solidFill>
                  <a:srgbClr val="1A1A1A"/>
                </a:solidFill>
                <a:latin typeface="Carlito" pitchFamily="34" charset="0"/>
                <a:ea typeface="Carlito" pitchFamily="34" charset="-122"/>
                <a:cs typeface="Carlito" pitchFamily="34" charset="-120"/>
              </a:rPr>
              <a:t>curl</a:t>
            </a:r>
            <a:endParaRPr lang="en-US" sz="800" dirty="0"/>
          </a:p>
        </p:txBody>
      </p:sp>
      <p:sp>
        <p:nvSpPr>
          <p:cNvPr id="37" name="Text 33"/>
          <p:cNvSpPr/>
          <p:nvPr/>
        </p:nvSpPr>
        <p:spPr>
          <a:xfrm>
            <a:off x="8370781" y="1991655"/>
            <a:ext cx="260452" cy="120701"/>
          </a:xfrm>
          <a:prstGeom prst="rect">
            <a:avLst/>
          </a:prstGeom>
          <a:noFill/>
          <a:ln/>
        </p:spPr>
        <p:txBody>
          <a:bodyPr wrap="none" lIns="0" tIns="0" rIns="0" bIns="0" rtlCol="0" anchor="t"/>
          <a:lstStyle/>
          <a:p>
            <a:pPr algn="l" indent="0" marL="0">
              <a:buNone/>
            </a:pPr>
            <a:r>
              <a:rPr lang="en-US" sz="600" b="1" spc="45" kern="0" dirty="0">
                <a:solidFill>
                  <a:srgbClr val="10B981"/>
                </a:solidFill>
                <a:latin typeface="Courier New" pitchFamily="34" charset="0"/>
                <a:ea typeface="Courier New" pitchFamily="34" charset="-122"/>
                <a:cs typeface="Courier New" pitchFamily="34" charset="-120"/>
              </a:rPr>
              <a:t>green</a:t>
            </a:r>
            <a:endParaRPr lang="en-US" sz="600" dirty="0"/>
          </a:p>
        </p:txBody>
      </p:sp>
      <p:sp>
        <p:nvSpPr>
          <p:cNvPr id="38" name="Text 34"/>
          <p:cNvSpPr/>
          <p:nvPr/>
        </p:nvSpPr>
        <p:spPr>
          <a:xfrm>
            <a:off x="5890022" y="2457004"/>
            <a:ext cx="2850356" cy="609228"/>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39" name="Image 2" descr="/tmp/h2p-svg-1790773508788-db0dl5.png">    </p:cNvPr>
          <p:cNvPicPr>
            <a:picLocks noChangeAspect="1"/>
          </p:cNvPicPr>
          <p:nvPr/>
        </p:nvPicPr>
        <p:blipFill>
          <a:blip r:embed="rId3"/>
          <a:stretch>
            <a:fillRect/>
          </a:stretch>
        </p:blipFill>
        <p:spPr>
          <a:xfrm>
            <a:off x="6007894" y="2704467"/>
            <a:ext cx="114300" cy="114300"/>
          </a:xfrm>
          <a:prstGeom prst="rect">
            <a:avLst/>
          </a:prstGeom>
        </p:spPr>
      </p:pic>
      <p:sp>
        <p:nvSpPr>
          <p:cNvPr id="40" name="Text 35"/>
          <p:cNvSpPr/>
          <p:nvPr/>
        </p:nvSpPr>
        <p:spPr>
          <a:xfrm>
            <a:off x="6193631" y="2711611"/>
            <a:ext cx="2150157" cy="122895"/>
          </a:xfrm>
          <a:prstGeom prst="rect">
            <a:avLst/>
          </a:prstGeom>
          <a:noFill/>
          <a:ln/>
        </p:spPr>
        <p:txBody>
          <a:bodyPr wrap="none" lIns="0" tIns="0" rIns="0" bIns="0" rtlCol="0" anchor="t"/>
          <a:lstStyle/>
          <a:p>
            <a:pPr algn="l" indent="0" marL="0">
              <a:buNone/>
            </a:pPr>
            <a:r>
              <a:rPr lang="en-US" sz="800" dirty="0">
                <a:solidFill>
                  <a:srgbClr val="1A1A1A"/>
                </a:solidFill>
                <a:latin typeface="Carlito" pitchFamily="34" charset="0"/>
                <a:ea typeface="Carlito" pitchFamily="34" charset="-122"/>
                <a:cs typeface="Carlito" pitchFamily="34" charset="-120"/>
              </a:rPr>
              <a:t>npm run build</a:t>
            </a:r>
            <a:endParaRPr lang="en-US" sz="800" dirty="0"/>
          </a:p>
        </p:txBody>
      </p:sp>
      <p:sp>
        <p:nvSpPr>
          <p:cNvPr id="41" name="Text 36"/>
          <p:cNvSpPr/>
          <p:nvPr/>
        </p:nvSpPr>
        <p:spPr>
          <a:xfrm>
            <a:off x="8370781" y="2722327"/>
            <a:ext cx="260452" cy="120701"/>
          </a:xfrm>
          <a:prstGeom prst="rect">
            <a:avLst/>
          </a:prstGeom>
          <a:noFill/>
          <a:ln/>
        </p:spPr>
        <p:txBody>
          <a:bodyPr wrap="none" lIns="0" tIns="0" rIns="0" bIns="0" rtlCol="0" anchor="t"/>
          <a:lstStyle/>
          <a:p>
            <a:pPr algn="l" indent="0" marL="0">
              <a:buNone/>
            </a:pPr>
            <a:r>
              <a:rPr lang="en-US" sz="600" b="1" spc="45" kern="0" dirty="0">
                <a:solidFill>
                  <a:srgbClr val="10B981"/>
                </a:solidFill>
                <a:latin typeface="Courier New" pitchFamily="34" charset="0"/>
                <a:ea typeface="Courier New" pitchFamily="34" charset="-122"/>
                <a:cs typeface="Courier New" pitchFamily="34" charset="-120"/>
              </a:rPr>
              <a:t>green</a:t>
            </a:r>
            <a:endParaRPr lang="en-US" sz="600" dirty="0"/>
          </a:p>
        </p:txBody>
      </p:sp>
      <p:sp>
        <p:nvSpPr>
          <p:cNvPr id="42" name="Text 37"/>
          <p:cNvSpPr/>
          <p:nvPr/>
        </p:nvSpPr>
        <p:spPr>
          <a:xfrm>
            <a:off x="5890022" y="3187675"/>
            <a:ext cx="2850356" cy="609228"/>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43" name="Image 3" descr="/tmp/h2p-svg-1790773508788-csmz8b.png">    </p:cNvPr>
          <p:cNvPicPr>
            <a:picLocks noChangeAspect="1"/>
          </p:cNvPicPr>
          <p:nvPr/>
        </p:nvPicPr>
        <p:blipFill>
          <a:blip r:embed="rId4"/>
          <a:stretch>
            <a:fillRect/>
          </a:stretch>
        </p:blipFill>
        <p:spPr>
          <a:xfrm>
            <a:off x="6007894" y="3435139"/>
            <a:ext cx="114300" cy="114300"/>
          </a:xfrm>
          <a:prstGeom prst="rect">
            <a:avLst/>
          </a:prstGeom>
        </p:spPr>
      </p:pic>
      <p:sp>
        <p:nvSpPr>
          <p:cNvPr id="44" name="Text 38"/>
          <p:cNvSpPr/>
          <p:nvPr/>
        </p:nvSpPr>
        <p:spPr>
          <a:xfrm>
            <a:off x="6193631" y="3442283"/>
            <a:ext cx="2150157" cy="122895"/>
          </a:xfrm>
          <a:prstGeom prst="rect">
            <a:avLst/>
          </a:prstGeom>
          <a:noFill/>
          <a:ln/>
        </p:spPr>
        <p:txBody>
          <a:bodyPr wrap="none" lIns="0" tIns="0" rIns="0" bIns="0" rtlCol="0" anchor="t"/>
          <a:lstStyle/>
          <a:p>
            <a:pPr algn="l" indent="0" marL="0">
              <a:buNone/>
            </a:pPr>
            <a:r>
              <a:rPr lang="en-US" sz="800" dirty="0">
                <a:solidFill>
                  <a:srgbClr val="1A1A1A"/>
                </a:solidFill>
                <a:latin typeface="Carlito" pitchFamily="34" charset="0"/>
                <a:ea typeface="Carlito" pitchFamily="34" charset="-122"/>
                <a:cs typeface="Carlito" pitchFamily="34" charset="-120"/>
              </a:rPr>
              <a:t>/api/health</a:t>
            </a:r>
            <a:endParaRPr lang="en-US" sz="800" dirty="0"/>
          </a:p>
        </p:txBody>
      </p:sp>
      <p:sp>
        <p:nvSpPr>
          <p:cNvPr id="45" name="Text 39"/>
          <p:cNvSpPr/>
          <p:nvPr/>
        </p:nvSpPr>
        <p:spPr>
          <a:xfrm>
            <a:off x="8370781" y="3452999"/>
            <a:ext cx="260452" cy="120701"/>
          </a:xfrm>
          <a:prstGeom prst="rect">
            <a:avLst/>
          </a:prstGeom>
          <a:noFill/>
          <a:ln/>
        </p:spPr>
        <p:txBody>
          <a:bodyPr wrap="none" lIns="0" tIns="0" rIns="0" bIns="0" rtlCol="0" anchor="t"/>
          <a:lstStyle/>
          <a:p>
            <a:pPr algn="l" indent="0" marL="0">
              <a:buNone/>
            </a:pPr>
            <a:r>
              <a:rPr lang="en-US" sz="600" b="1" spc="45" kern="0" dirty="0">
                <a:solidFill>
                  <a:srgbClr val="10B981"/>
                </a:solidFill>
                <a:latin typeface="Courier New" pitchFamily="34" charset="0"/>
                <a:ea typeface="Courier New" pitchFamily="34" charset="-122"/>
                <a:cs typeface="Courier New" pitchFamily="34" charset="-120"/>
              </a:rPr>
              <a:t>green</a:t>
            </a:r>
            <a:endParaRPr lang="en-US" sz="600" dirty="0"/>
          </a:p>
        </p:txBody>
      </p:sp>
      <p:sp>
        <p:nvSpPr>
          <p:cNvPr id="46" name="Text 40"/>
          <p:cNvSpPr/>
          <p:nvPr/>
        </p:nvSpPr>
        <p:spPr>
          <a:xfrm>
            <a:off x="403622" y="3989784"/>
            <a:ext cx="8336756" cy="764381"/>
          </a:xfrm>
          <a:prstGeom prst="rect">
            <a:avLst/>
          </a:prstGeom>
          <a:solidFill>
            <a:srgbClr val="FAF7F0"/>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7" name="Text 41"/>
          <p:cNvSpPr/>
          <p:nvPr/>
        </p:nvSpPr>
        <p:spPr>
          <a:xfrm>
            <a:off x="578644" y="4107656"/>
            <a:ext cx="7986713" cy="108299"/>
          </a:xfrm>
          <a:prstGeom prst="rect">
            <a:avLst/>
          </a:prstGeom>
          <a:noFill/>
          <a:ln/>
        </p:spPr>
        <p:txBody>
          <a:bodyPr wrap="none" lIns="0" tIns="0" rIns="0" bIns="0" rtlCol="0" anchor="t">
            <a:normAutofit/>
          </a:bodyPr>
          <a:lstStyle/>
          <a:p>
            <a:pPr algn="ctr" indent="0" marL="0">
              <a:buNone/>
            </a:pPr>
            <a:r>
              <a:rPr lang="en-US" sz="800" b="1" spc="79" kern="0" dirty="0">
                <a:solidFill>
                  <a:srgbClr val="10B981"/>
                </a:solidFill>
                <a:latin typeface="Courier New" pitchFamily="34" charset="0"/>
                <a:ea typeface="Courier New" pitchFamily="34" charset="-122"/>
                <a:cs typeface="Courier New" pitchFamily="34" charset="-120"/>
              </a:rPr>
              <a:t>UI CLICKS</a:t>
            </a:r>
            <a:endParaRPr lang="en-US" sz="800" dirty="0"/>
          </a:p>
        </p:txBody>
      </p:sp>
      <p:sp>
        <p:nvSpPr>
          <p:cNvPr id="48" name="Text 42"/>
          <p:cNvSpPr/>
          <p:nvPr/>
        </p:nvSpPr>
        <p:spPr>
          <a:xfrm>
            <a:off x="578644" y="4243388"/>
            <a:ext cx="8096440" cy="121920"/>
          </a:xfrm>
          <a:prstGeom prst="rect">
            <a:avLst/>
          </a:prstGeom>
          <a:noFill/>
          <a:ln/>
        </p:spPr>
        <p:txBody>
          <a:bodyPr wrap="square" lIns="0" tIns="0" rIns="0" bIns="0" rtlCol="0" anchor="t"/>
          <a:lstStyle/>
          <a:p>
            <a:pPr algn="ctr"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All 5 features tested via UI clicks</a:t>
            </a:r>
            <a:endParaRPr lang="en-US" sz="800" dirty="0"/>
          </a:p>
        </p:txBody>
      </p:sp>
      <p:sp>
        <p:nvSpPr>
          <p:cNvPr id="49" name="Text 43"/>
          <p:cNvSpPr/>
          <p:nvPr/>
        </p:nvSpPr>
        <p:spPr>
          <a:xfrm>
            <a:off x="2364246" y="4424267"/>
            <a:ext cx="625859"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0" name="Text 44"/>
          <p:cNvSpPr/>
          <p:nvPr/>
        </p:nvSpPr>
        <p:spPr>
          <a:xfrm>
            <a:off x="2364246" y="4436269"/>
            <a:ext cx="625859"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PR Bot</a:t>
            </a:r>
            <a:endParaRPr lang="en-US" sz="800" dirty="0"/>
          </a:p>
        </p:txBody>
      </p:sp>
      <p:sp>
        <p:nvSpPr>
          <p:cNvPr id="51" name="Text 45"/>
          <p:cNvSpPr/>
          <p:nvPr/>
        </p:nvSpPr>
        <p:spPr>
          <a:xfrm>
            <a:off x="3075831" y="4424267"/>
            <a:ext cx="908819"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2" name="Text 46"/>
          <p:cNvSpPr/>
          <p:nvPr/>
        </p:nvSpPr>
        <p:spPr>
          <a:xfrm>
            <a:off x="3075831" y="4436269"/>
            <a:ext cx="908819"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Student Mode</a:t>
            </a:r>
            <a:endParaRPr lang="en-US" sz="800" dirty="0"/>
          </a:p>
        </p:txBody>
      </p:sp>
      <p:sp>
        <p:nvSpPr>
          <p:cNvPr id="53" name="Text 47"/>
          <p:cNvSpPr/>
          <p:nvPr/>
        </p:nvSpPr>
        <p:spPr>
          <a:xfrm>
            <a:off x="4070375" y="4424267"/>
            <a:ext cx="861715"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4" name="Text 48"/>
          <p:cNvSpPr/>
          <p:nvPr/>
        </p:nvSpPr>
        <p:spPr>
          <a:xfrm>
            <a:off x="4070375" y="4436269"/>
            <a:ext cx="861715"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Voice Tours</a:t>
            </a:r>
            <a:endParaRPr lang="en-US" sz="800" dirty="0"/>
          </a:p>
        </p:txBody>
      </p:sp>
      <p:sp>
        <p:nvSpPr>
          <p:cNvPr id="55" name="Text 49"/>
          <p:cNvSpPr/>
          <p:nvPr/>
        </p:nvSpPr>
        <p:spPr>
          <a:xfrm>
            <a:off x="5017815" y="4424267"/>
            <a:ext cx="956035"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6" name="Text 50"/>
          <p:cNvSpPr/>
          <p:nvPr/>
        </p:nvSpPr>
        <p:spPr>
          <a:xfrm>
            <a:off x="5017815" y="4436269"/>
            <a:ext cx="956035"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Security Scan</a:t>
            </a:r>
            <a:endParaRPr lang="en-US" sz="800" dirty="0"/>
          </a:p>
        </p:txBody>
      </p:sp>
      <p:sp>
        <p:nvSpPr>
          <p:cNvPr id="57" name="Text 51"/>
          <p:cNvSpPr/>
          <p:nvPr/>
        </p:nvSpPr>
        <p:spPr>
          <a:xfrm>
            <a:off x="6059574" y="4424267"/>
            <a:ext cx="720179"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8" name="Text 52"/>
          <p:cNvSpPr/>
          <p:nvPr/>
        </p:nvSpPr>
        <p:spPr>
          <a:xfrm>
            <a:off x="6059574" y="4436269"/>
            <a:ext cx="720179"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Scaffold</a:t>
            </a:r>
            <a:endParaRPr lang="en-US" sz="800" dirty="0"/>
          </a:p>
        </p:txBody>
      </p:sp>
      <p:sp>
        <p:nvSpPr>
          <p:cNvPr id="59" name="Text 53"/>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385763"/>
            <a:ext cx="8636000"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Built for the judges.</a:t>
            </a:r>
            <a:endParaRPr lang="en-US" sz="1519" dirty="0"/>
          </a:p>
        </p:txBody>
      </p:sp>
      <p:sp>
        <p:nvSpPr>
          <p:cNvPr id="3" name="Text 1"/>
          <p:cNvSpPr/>
          <p:nvPr/>
        </p:nvSpPr>
        <p:spPr>
          <a:xfrm>
            <a:off x="400050" y="667159"/>
            <a:ext cx="8636000" cy="164592"/>
          </a:xfrm>
          <a:prstGeom prst="rect">
            <a:avLst/>
          </a:prstGeom>
          <a:noFill/>
          <a:ln/>
        </p:spPr>
        <p:txBody>
          <a:bodyPr wrap="none" lIns="0" tIns="0" rIns="0" bIns="0" rtlCol="0" anchor="t"/>
          <a:lstStyle/>
          <a:p>
            <a:pPr algn="l" indent="0" marL="0">
              <a:lnSpc>
                <a:spcPts val="1097"/>
              </a:lnSpc>
              <a:buNone/>
            </a:pPr>
            <a:r>
              <a:rPr lang="en-US" sz="800" dirty="0">
                <a:solidFill>
                  <a:srgbClr val="6B6B6B"/>
                </a:solidFill>
                <a:latin typeface="Carlito" pitchFamily="34" charset="0"/>
                <a:ea typeface="Carlito" pitchFamily="34" charset="-122"/>
                <a:cs typeface="Carlito" pitchFamily="34" charset="-120"/>
              </a:rPr>
              <a:t>two tracks, one live demo</a:t>
            </a:r>
            <a:endParaRPr lang="en-US" sz="800" dirty="0"/>
          </a:p>
        </p:txBody>
      </p:sp>
      <p:sp>
        <p:nvSpPr>
          <p:cNvPr id="4" name="Text 2"/>
          <p:cNvSpPr/>
          <p:nvPr/>
        </p:nvSpPr>
        <p:spPr>
          <a:xfrm>
            <a:off x="403622" y="1010059"/>
            <a:ext cx="4079081" cy="2865425"/>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5" name="Text 3"/>
          <p:cNvSpPr/>
          <p:nvPr/>
        </p:nvSpPr>
        <p:spPr>
          <a:xfrm>
            <a:off x="582216" y="1188653"/>
            <a:ext cx="1852240" cy="207169"/>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6" name="Text 4"/>
          <p:cNvSpPr/>
          <p:nvPr/>
        </p:nvSpPr>
        <p:spPr>
          <a:xfrm>
            <a:off x="685800" y="1270806"/>
            <a:ext cx="42863" cy="42863"/>
          </a:xfrm>
          <a:prstGeom prst="roundRect">
            <a:avLst>
              <a:gd name="adj" fmla="val 66666"/>
            </a:avLst>
          </a:prstGeom>
          <a:solidFill>
            <a:srgbClr val="D4AF37"/>
          </a:solidFill>
          <a:ln/>
        </p:spPr>
        <p:txBody>
          <a:bodyPr wrap="square" rtlCol="0" anchor="ctr"/>
          <a:lstStyle/>
          <a:p>
            <a:pPr indent="0" marL="0">
              <a:buNone/>
            </a:pPr>
            <a:endParaRPr lang="en-US" dirty="0"/>
          </a:p>
        </p:txBody>
      </p:sp>
      <p:sp>
        <p:nvSpPr>
          <p:cNvPr id="7" name="Text 5"/>
          <p:cNvSpPr/>
          <p:nvPr/>
        </p:nvSpPr>
        <p:spPr>
          <a:xfrm>
            <a:off x="578644" y="1185081"/>
            <a:ext cx="1859384" cy="299258"/>
          </a:xfrm>
          <a:prstGeom prst="rect">
            <a:avLst/>
          </a:prstGeom>
          <a:noFill/>
          <a:ln/>
        </p:spPr>
        <p:txBody>
          <a:bodyPr wrap="none" lIns="100013" tIns="57150" rIns="100013" bIns="57150" rtlCol="0" anchor="t"/>
          <a:lstStyle/>
          <a:p>
            <a:pPr algn="l" indent="0" marL="0">
              <a:buNone/>
            </a:pPr>
            <a:r>
              <a:rPr lang="en-US" sz="619" spc="12" kern="0" dirty="0">
                <a:solidFill>
                  <a:srgbClr val="1A1A1A"/>
                </a:solidFill>
                <a:latin typeface="Courier New" pitchFamily="34" charset="0"/>
                <a:ea typeface="Courier New" pitchFamily="34" charset="-122"/>
                <a:cs typeface="Courier New" pitchFamily="34" charset="-120"/>
              </a:rPr>
              <a:t>ML EMPOWERMENT · education track</a:t>
            </a:r>
            <a:endParaRPr lang="en-US" sz="619" dirty="0"/>
          </a:p>
        </p:txBody>
      </p:sp>
      <p:sp>
        <p:nvSpPr>
          <p:cNvPr id="8" name="Shape 6"/>
          <p:cNvSpPr/>
          <p:nvPr/>
        </p:nvSpPr>
        <p:spPr>
          <a:xfrm>
            <a:off x="578644" y="2231864"/>
            <a:ext cx="3729038" cy="0"/>
          </a:xfrm>
          <a:prstGeom prst="line">
            <a:avLst/>
          </a:prstGeom>
          <a:noFill/>
          <a:ln w="7144">
            <a:solidFill>
              <a:srgbClr val="1A1A1A"/>
            </a:solidFill>
            <a:prstDash val="solid"/>
          </a:ln>
        </p:spPr>
      </p:sp>
      <p:sp>
        <p:nvSpPr>
          <p:cNvPr id="9" name="Text 7"/>
          <p:cNvSpPr/>
          <p:nvPr/>
        </p:nvSpPr>
        <p:spPr>
          <a:xfrm>
            <a:off x="578644" y="1771204"/>
            <a:ext cx="35719" cy="35719"/>
          </a:xfrm>
          <a:prstGeom prst="rect">
            <a:avLst/>
          </a:prstGeom>
          <a:solidFill>
            <a:srgbClr val="10B981"/>
          </a:solidFill>
          <a:ln/>
        </p:spPr>
        <p:txBody>
          <a:bodyPr wrap="square" rtlCol="0" anchor="ctr"/>
          <a:lstStyle/>
          <a:p>
            <a:pPr indent="0" marL="0">
              <a:buNone/>
            </a:pPr>
            <a:endParaRPr lang="en-US" dirty="0"/>
          </a:p>
        </p:txBody>
      </p:sp>
      <p:sp>
        <p:nvSpPr>
          <p:cNvPr id="10" name="Text 8"/>
          <p:cNvSpPr/>
          <p:nvPr/>
        </p:nvSpPr>
        <p:spPr>
          <a:xfrm>
            <a:off x="700088" y="1728341"/>
            <a:ext cx="1686187" cy="119350"/>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A1A1A"/>
                </a:solidFill>
                <a:latin typeface="Carlito" pitchFamily="34" charset="0"/>
                <a:ea typeface="Carlito" pitchFamily="34" charset="-122"/>
                <a:cs typeface="Carlito" pitchFamily="34" charset="-120"/>
              </a:rPr>
              <a:t>Student Onboarding Mode</a:t>
            </a:r>
            <a:endParaRPr lang="en-US" sz="800" dirty="0"/>
          </a:p>
        </p:txBody>
      </p:sp>
      <p:sp>
        <p:nvSpPr>
          <p:cNvPr id="11" name="Text 9"/>
          <p:cNvSpPr/>
          <p:nvPr/>
        </p:nvSpPr>
        <p:spPr>
          <a:xfrm>
            <a:off x="700088" y="1875123"/>
            <a:ext cx="1734364" cy="159020"/>
          </a:xfrm>
          <a:prstGeom prst="rect">
            <a:avLst/>
          </a:prstGeom>
          <a:noFill/>
          <a:ln/>
        </p:spPr>
        <p:txBody>
          <a:bodyPr wrap="square" lIns="0" tIns="0" rIns="0" bIns="0" rtlCol="0" anchor="t"/>
          <a:lstStyle/>
          <a:p>
            <a:pPr algn="l" indent="0" marL="0">
              <a:lnSpc>
                <a:spcPts val="979"/>
              </a:lnSpc>
              <a:buNone/>
            </a:pPr>
            <a:r>
              <a:rPr lang="en-US" sz="675" dirty="0">
                <a:solidFill>
                  <a:srgbClr val="6B6B6B"/>
                </a:solidFill>
                <a:latin typeface="Carlito" pitchFamily="34" charset="0"/>
                <a:ea typeface="Carlito" pitchFamily="34" charset="-122"/>
                <a:cs typeface="Carlito" pitchFamily="34" charset="-120"/>
              </a:rPr>
              <a:t>onboarding drops from days to 20 minutes</a:t>
            </a:r>
            <a:endParaRPr lang="en-US" sz="675" dirty="0"/>
          </a:p>
        </p:txBody>
      </p:sp>
      <p:sp>
        <p:nvSpPr>
          <p:cNvPr id="12" name="Shape 10"/>
          <p:cNvSpPr/>
          <p:nvPr/>
        </p:nvSpPr>
        <p:spPr>
          <a:xfrm>
            <a:off x="578644" y="2968005"/>
            <a:ext cx="3729038" cy="0"/>
          </a:xfrm>
          <a:prstGeom prst="line">
            <a:avLst/>
          </a:prstGeom>
          <a:noFill/>
          <a:ln w="7144">
            <a:solidFill>
              <a:srgbClr val="1A1A1A"/>
            </a:solidFill>
            <a:prstDash val="solid"/>
          </a:ln>
        </p:spPr>
      </p:sp>
      <p:sp>
        <p:nvSpPr>
          <p:cNvPr id="13" name="Text 11"/>
          <p:cNvSpPr/>
          <p:nvPr/>
        </p:nvSpPr>
        <p:spPr>
          <a:xfrm>
            <a:off x="578644" y="2507233"/>
            <a:ext cx="35719" cy="35719"/>
          </a:xfrm>
          <a:prstGeom prst="rect">
            <a:avLst/>
          </a:prstGeom>
          <a:solidFill>
            <a:srgbClr val="10B981"/>
          </a:solidFill>
          <a:ln/>
        </p:spPr>
        <p:txBody>
          <a:bodyPr wrap="square" rtlCol="0" anchor="ctr"/>
          <a:lstStyle/>
          <a:p>
            <a:pPr indent="0" marL="0">
              <a:buNone/>
            </a:pPr>
            <a:endParaRPr lang="en-US" dirty="0"/>
          </a:p>
        </p:txBody>
      </p:sp>
      <p:sp>
        <p:nvSpPr>
          <p:cNvPr id="14" name="Text 12"/>
          <p:cNvSpPr/>
          <p:nvPr/>
        </p:nvSpPr>
        <p:spPr>
          <a:xfrm>
            <a:off x="700088" y="2464371"/>
            <a:ext cx="2121476" cy="119350"/>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A1A1A"/>
                </a:solidFill>
                <a:latin typeface="Carlito" pitchFamily="34" charset="0"/>
                <a:ea typeface="Carlito" pitchFamily="34" charset="-122"/>
                <a:cs typeface="Carlito" pitchFamily="34" charset="-120"/>
              </a:rPr>
              <a:t>Voice Code Tours</a:t>
            </a:r>
            <a:endParaRPr lang="en-US" sz="800" dirty="0"/>
          </a:p>
        </p:txBody>
      </p:sp>
      <p:sp>
        <p:nvSpPr>
          <p:cNvPr id="15" name="Text 13"/>
          <p:cNvSpPr/>
          <p:nvPr/>
        </p:nvSpPr>
        <p:spPr>
          <a:xfrm>
            <a:off x="700088" y="2611152"/>
            <a:ext cx="2020453" cy="159020"/>
          </a:xfrm>
          <a:prstGeom prst="rect">
            <a:avLst/>
          </a:prstGeom>
          <a:noFill/>
          <a:ln/>
        </p:spPr>
        <p:txBody>
          <a:bodyPr wrap="square" lIns="0" tIns="0" rIns="0" bIns="0" rtlCol="0" anchor="t"/>
          <a:lstStyle/>
          <a:p>
            <a:pPr algn="l" indent="0" marL="0">
              <a:lnSpc>
                <a:spcPts val="979"/>
              </a:lnSpc>
              <a:buNone/>
            </a:pPr>
            <a:r>
              <a:rPr lang="en-US" sz="675" dirty="0">
                <a:solidFill>
                  <a:srgbClr val="6B6B6B"/>
                </a:solidFill>
                <a:latin typeface="Carlito" pitchFamily="34" charset="0"/>
                <a:ea typeface="Carlito" pitchFamily="34" charset="-122"/>
                <a:cs typeface="Carlito" pitchFamily="34" charset="-120"/>
              </a:rPr>
              <a:t>accessible by design — blind students explore by ear</a:t>
            </a:r>
            <a:endParaRPr lang="en-US" sz="675" dirty="0"/>
          </a:p>
        </p:txBody>
      </p:sp>
      <p:sp>
        <p:nvSpPr>
          <p:cNvPr id="16" name="Text 14"/>
          <p:cNvSpPr/>
          <p:nvPr/>
        </p:nvSpPr>
        <p:spPr>
          <a:xfrm>
            <a:off x="578644" y="3243374"/>
            <a:ext cx="35719" cy="35719"/>
          </a:xfrm>
          <a:prstGeom prst="rect">
            <a:avLst/>
          </a:prstGeom>
          <a:solidFill>
            <a:srgbClr val="10B981"/>
          </a:solidFill>
          <a:ln/>
        </p:spPr>
        <p:txBody>
          <a:bodyPr wrap="square" rtlCol="0" anchor="ctr"/>
          <a:lstStyle/>
          <a:p>
            <a:pPr indent="0" marL="0">
              <a:buNone/>
            </a:pPr>
            <a:endParaRPr lang="en-US" dirty="0"/>
          </a:p>
        </p:txBody>
      </p:sp>
      <p:sp>
        <p:nvSpPr>
          <p:cNvPr id="17" name="Text 15"/>
          <p:cNvSpPr/>
          <p:nvPr/>
        </p:nvSpPr>
        <p:spPr>
          <a:xfrm>
            <a:off x="700088" y="3200512"/>
            <a:ext cx="1466316" cy="119350"/>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A1A1A"/>
                </a:solidFill>
                <a:latin typeface="Carlito" pitchFamily="34" charset="0"/>
                <a:ea typeface="Carlito" pitchFamily="34" charset="-122"/>
                <a:cs typeface="Carlito" pitchFamily="34" charset="-120"/>
              </a:rPr>
              <a:t>Quizzes + levels</a:t>
            </a:r>
            <a:endParaRPr lang="en-US" sz="800" dirty="0"/>
          </a:p>
        </p:txBody>
      </p:sp>
      <p:sp>
        <p:nvSpPr>
          <p:cNvPr id="18" name="Text 16"/>
          <p:cNvSpPr/>
          <p:nvPr/>
        </p:nvSpPr>
        <p:spPr>
          <a:xfrm>
            <a:off x="700088" y="3347293"/>
            <a:ext cx="1508211" cy="159020"/>
          </a:xfrm>
          <a:prstGeom prst="rect">
            <a:avLst/>
          </a:prstGeom>
          <a:noFill/>
          <a:ln/>
        </p:spPr>
        <p:txBody>
          <a:bodyPr wrap="square" lIns="0" tIns="0" rIns="0" bIns="0" rtlCol="0" anchor="t"/>
          <a:lstStyle/>
          <a:p>
            <a:pPr algn="l" indent="0" marL="0">
              <a:lnSpc>
                <a:spcPts val="979"/>
              </a:lnSpc>
              <a:buNone/>
            </a:pPr>
            <a:r>
              <a:rPr lang="en-US" sz="675" dirty="0">
                <a:solidFill>
                  <a:srgbClr val="6B6B6B"/>
                </a:solidFill>
                <a:latin typeface="Carlito" pitchFamily="34" charset="0"/>
                <a:ea typeface="Carlito" pitchFamily="34" charset="-122"/>
                <a:cs typeface="Carlito" pitchFamily="34" charset="-120"/>
              </a:rPr>
              <a:t>a real learning loop, not a dashboard</a:t>
            </a:r>
            <a:endParaRPr lang="en-US" sz="675" dirty="0"/>
          </a:p>
        </p:txBody>
      </p:sp>
      <p:sp>
        <p:nvSpPr>
          <p:cNvPr id="19" name="Text 17"/>
          <p:cNvSpPr/>
          <p:nvPr/>
        </p:nvSpPr>
        <p:spPr>
          <a:xfrm>
            <a:off x="4661297" y="1010059"/>
            <a:ext cx="4079081" cy="2865425"/>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20" name="Text 18"/>
          <p:cNvSpPr/>
          <p:nvPr/>
        </p:nvSpPr>
        <p:spPr>
          <a:xfrm>
            <a:off x="4839891" y="1188653"/>
            <a:ext cx="1559905" cy="207169"/>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1" name="Text 19"/>
          <p:cNvSpPr/>
          <p:nvPr/>
        </p:nvSpPr>
        <p:spPr>
          <a:xfrm>
            <a:off x="4943475" y="1270806"/>
            <a:ext cx="42863" cy="42863"/>
          </a:xfrm>
          <a:prstGeom prst="roundRect">
            <a:avLst>
              <a:gd name="adj" fmla="val 66666"/>
            </a:avLst>
          </a:prstGeom>
          <a:solidFill>
            <a:srgbClr val="10B981"/>
          </a:solidFill>
          <a:ln/>
        </p:spPr>
        <p:txBody>
          <a:bodyPr wrap="square" rtlCol="0" anchor="ctr"/>
          <a:lstStyle/>
          <a:p>
            <a:pPr indent="0" marL="0">
              <a:buNone/>
            </a:pPr>
            <a:endParaRPr lang="en-US" dirty="0"/>
          </a:p>
        </p:txBody>
      </p:sp>
      <p:sp>
        <p:nvSpPr>
          <p:cNvPr id="22" name="Text 20"/>
          <p:cNvSpPr/>
          <p:nvPr/>
        </p:nvSpPr>
        <p:spPr>
          <a:xfrm>
            <a:off x="4836319" y="1185081"/>
            <a:ext cx="1567049" cy="299258"/>
          </a:xfrm>
          <a:prstGeom prst="rect">
            <a:avLst/>
          </a:prstGeom>
          <a:noFill/>
          <a:ln/>
        </p:spPr>
        <p:txBody>
          <a:bodyPr wrap="none" lIns="100013" tIns="57150" rIns="100013" bIns="57150" rtlCol="0" anchor="t"/>
          <a:lstStyle/>
          <a:p>
            <a:pPr algn="l" indent="0" marL="0">
              <a:buNone/>
            </a:pPr>
            <a:r>
              <a:rPr lang="en-US" sz="800" spc="12" kern="0" dirty="0">
                <a:solidFill>
                  <a:srgbClr val="1A1A1A"/>
                </a:solidFill>
                <a:latin typeface="Courier New" pitchFamily="34" charset="0"/>
                <a:ea typeface="Courier New" pitchFamily="34" charset="-122"/>
                <a:cs typeface="Courier New" pitchFamily="34" charset="-120"/>
              </a:rPr>
              <a:t>LOVHACK · automation track</a:t>
            </a:r>
            <a:endParaRPr lang="en-US" sz="800" dirty="0"/>
          </a:p>
        </p:txBody>
      </p:sp>
      <p:sp>
        <p:nvSpPr>
          <p:cNvPr id="23" name="Shape 21"/>
          <p:cNvSpPr/>
          <p:nvPr/>
        </p:nvSpPr>
        <p:spPr>
          <a:xfrm>
            <a:off x="4836319" y="2231864"/>
            <a:ext cx="3729038" cy="0"/>
          </a:xfrm>
          <a:prstGeom prst="line">
            <a:avLst/>
          </a:prstGeom>
          <a:noFill/>
          <a:ln w="7144">
            <a:solidFill>
              <a:srgbClr val="1A1A1A"/>
            </a:solidFill>
            <a:prstDash val="solid"/>
          </a:ln>
        </p:spPr>
      </p:sp>
      <p:sp>
        <p:nvSpPr>
          <p:cNvPr id="24" name="Text 22"/>
          <p:cNvSpPr/>
          <p:nvPr/>
        </p:nvSpPr>
        <p:spPr>
          <a:xfrm>
            <a:off x="4836319" y="1771204"/>
            <a:ext cx="35719" cy="35719"/>
          </a:xfrm>
          <a:prstGeom prst="rect">
            <a:avLst/>
          </a:prstGeom>
          <a:solidFill>
            <a:srgbClr val="10B981"/>
          </a:solidFill>
          <a:ln/>
        </p:spPr>
        <p:txBody>
          <a:bodyPr wrap="square" rtlCol="0" anchor="ctr"/>
          <a:lstStyle/>
          <a:p>
            <a:pPr indent="0" marL="0">
              <a:buNone/>
            </a:pPr>
            <a:endParaRPr lang="en-US" dirty="0"/>
          </a:p>
        </p:txBody>
      </p:sp>
      <p:sp>
        <p:nvSpPr>
          <p:cNvPr id="25" name="Text 23"/>
          <p:cNvSpPr/>
          <p:nvPr/>
        </p:nvSpPr>
        <p:spPr>
          <a:xfrm>
            <a:off x="4957763" y="1728341"/>
            <a:ext cx="1756791" cy="119350"/>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A1A1A"/>
                </a:solidFill>
                <a:latin typeface="Carlito" pitchFamily="34" charset="0"/>
                <a:ea typeface="Carlito" pitchFamily="34" charset="-122"/>
                <a:cs typeface="Carlito" pitchFamily="34" charset="-120"/>
              </a:rPr>
              <a:t>PR Bot</a:t>
            </a:r>
            <a:endParaRPr lang="en-US" sz="800" dirty="0"/>
          </a:p>
        </p:txBody>
      </p:sp>
      <p:sp>
        <p:nvSpPr>
          <p:cNvPr id="26" name="Text 24"/>
          <p:cNvSpPr/>
          <p:nvPr/>
        </p:nvSpPr>
        <p:spPr>
          <a:xfrm>
            <a:off x="4957763" y="1875123"/>
            <a:ext cx="1482292" cy="159020"/>
          </a:xfrm>
          <a:prstGeom prst="rect">
            <a:avLst/>
          </a:prstGeom>
          <a:noFill/>
          <a:ln/>
        </p:spPr>
        <p:txBody>
          <a:bodyPr wrap="square" lIns="0" tIns="0" rIns="0" bIns="0" rtlCol="0" anchor="t"/>
          <a:lstStyle/>
          <a:p>
            <a:pPr algn="l" indent="0" marL="0">
              <a:lnSpc>
                <a:spcPts val="979"/>
              </a:lnSpc>
              <a:buNone/>
            </a:pPr>
            <a:r>
              <a:rPr lang="en-US" sz="675" dirty="0">
                <a:solidFill>
                  <a:srgbClr val="6B6B6B"/>
                </a:solidFill>
                <a:latin typeface="Carlito" pitchFamily="34" charset="0"/>
                <a:ea typeface="Carlito" pitchFamily="34" charset="-122"/>
                <a:cs typeface="Carlito" pitchFamily="34" charset="-120"/>
              </a:rPr>
              <a:t>breaking changes blocked before CI</a:t>
            </a:r>
            <a:endParaRPr lang="en-US" sz="675" dirty="0"/>
          </a:p>
        </p:txBody>
      </p:sp>
      <p:sp>
        <p:nvSpPr>
          <p:cNvPr id="27" name="Shape 25"/>
          <p:cNvSpPr/>
          <p:nvPr/>
        </p:nvSpPr>
        <p:spPr>
          <a:xfrm>
            <a:off x="4836319" y="2968005"/>
            <a:ext cx="3729038" cy="0"/>
          </a:xfrm>
          <a:prstGeom prst="line">
            <a:avLst/>
          </a:prstGeom>
          <a:noFill/>
          <a:ln w="7144">
            <a:solidFill>
              <a:srgbClr val="1A1A1A"/>
            </a:solidFill>
            <a:prstDash val="solid"/>
          </a:ln>
        </p:spPr>
      </p:sp>
      <p:sp>
        <p:nvSpPr>
          <p:cNvPr id="28" name="Text 26"/>
          <p:cNvSpPr/>
          <p:nvPr/>
        </p:nvSpPr>
        <p:spPr>
          <a:xfrm>
            <a:off x="4836319" y="2507233"/>
            <a:ext cx="35719" cy="35719"/>
          </a:xfrm>
          <a:prstGeom prst="rect">
            <a:avLst/>
          </a:prstGeom>
          <a:solidFill>
            <a:srgbClr val="10B981"/>
          </a:solidFill>
          <a:ln/>
        </p:spPr>
        <p:txBody>
          <a:bodyPr wrap="square" rtlCol="0" anchor="ctr"/>
          <a:lstStyle/>
          <a:p>
            <a:pPr indent="0" marL="0">
              <a:buNone/>
            </a:pPr>
            <a:endParaRPr lang="en-US" dirty="0"/>
          </a:p>
        </p:txBody>
      </p:sp>
      <p:sp>
        <p:nvSpPr>
          <p:cNvPr id="29" name="Text 27"/>
          <p:cNvSpPr/>
          <p:nvPr/>
        </p:nvSpPr>
        <p:spPr>
          <a:xfrm>
            <a:off x="4957763" y="2464371"/>
            <a:ext cx="1695498" cy="119350"/>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A1A1A"/>
                </a:solidFill>
                <a:latin typeface="Carlito" pitchFamily="34" charset="0"/>
                <a:ea typeface="Carlito" pitchFamily="34" charset="-122"/>
                <a:cs typeface="Carlito" pitchFamily="34" charset="-120"/>
              </a:rPr>
              <a:t>Scaffold</a:t>
            </a:r>
            <a:endParaRPr lang="en-US" sz="800" dirty="0"/>
          </a:p>
        </p:txBody>
      </p:sp>
      <p:sp>
        <p:nvSpPr>
          <p:cNvPr id="30" name="Text 28"/>
          <p:cNvSpPr/>
          <p:nvPr/>
        </p:nvSpPr>
        <p:spPr>
          <a:xfrm>
            <a:off x="4957763" y="2611152"/>
            <a:ext cx="1430576" cy="159020"/>
          </a:xfrm>
          <a:prstGeom prst="rect">
            <a:avLst/>
          </a:prstGeom>
          <a:noFill/>
          <a:ln/>
        </p:spPr>
        <p:txBody>
          <a:bodyPr wrap="square" lIns="0" tIns="0" rIns="0" bIns="0" rtlCol="0" anchor="t"/>
          <a:lstStyle/>
          <a:p>
            <a:pPr algn="l" indent="0" marL="0">
              <a:lnSpc>
                <a:spcPts val="979"/>
              </a:lnSpc>
              <a:buNone/>
            </a:pPr>
            <a:r>
              <a:rPr lang="en-US" sz="675" dirty="0">
                <a:solidFill>
                  <a:srgbClr val="6B6B6B"/>
                </a:solidFill>
                <a:latin typeface="Liberation Sans Narrow" pitchFamily="34" charset="0"/>
                <a:ea typeface="Liberation Sans Narrow" pitchFamily="34" charset="-122"/>
                <a:cs typeface="Liberation Sans Narrow" pitchFamily="34" charset="-120"/>
              </a:rPr>
              <a:t>any repo → starter kit in 5 seconds</a:t>
            </a:r>
            <a:endParaRPr lang="en-US" sz="675" dirty="0"/>
          </a:p>
        </p:txBody>
      </p:sp>
      <p:sp>
        <p:nvSpPr>
          <p:cNvPr id="31" name="Text 29"/>
          <p:cNvSpPr/>
          <p:nvPr/>
        </p:nvSpPr>
        <p:spPr>
          <a:xfrm>
            <a:off x="4836319" y="3243374"/>
            <a:ext cx="35719" cy="35719"/>
          </a:xfrm>
          <a:prstGeom prst="rect">
            <a:avLst/>
          </a:prstGeom>
          <a:solidFill>
            <a:srgbClr val="10B981"/>
          </a:solidFill>
          <a:ln/>
        </p:spPr>
        <p:txBody>
          <a:bodyPr wrap="square" rtlCol="0" anchor="ctr"/>
          <a:lstStyle/>
          <a:p>
            <a:pPr indent="0" marL="0">
              <a:buNone/>
            </a:pPr>
            <a:endParaRPr lang="en-US" dirty="0"/>
          </a:p>
        </p:txBody>
      </p:sp>
      <p:sp>
        <p:nvSpPr>
          <p:cNvPr id="32" name="Text 30"/>
          <p:cNvSpPr/>
          <p:nvPr/>
        </p:nvSpPr>
        <p:spPr>
          <a:xfrm>
            <a:off x="4957763" y="3200512"/>
            <a:ext cx="2552297" cy="119350"/>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A1A1A"/>
                </a:solidFill>
                <a:latin typeface="Carlito" pitchFamily="34" charset="0"/>
                <a:ea typeface="Carlito" pitchFamily="34" charset="-122"/>
                <a:cs typeface="Carlito" pitchFamily="34" charset="-120"/>
              </a:rPr>
              <a:t>Devtool wow</a:t>
            </a:r>
            <a:endParaRPr lang="en-US" sz="800" dirty="0"/>
          </a:p>
        </p:txBody>
      </p:sp>
      <p:sp>
        <p:nvSpPr>
          <p:cNvPr id="33" name="Text 31"/>
          <p:cNvSpPr/>
          <p:nvPr/>
        </p:nvSpPr>
        <p:spPr>
          <a:xfrm>
            <a:off x="4957763" y="3347293"/>
            <a:ext cx="2177728" cy="159020"/>
          </a:xfrm>
          <a:prstGeom prst="rect">
            <a:avLst/>
          </a:prstGeom>
          <a:noFill/>
          <a:ln/>
        </p:spPr>
        <p:txBody>
          <a:bodyPr wrap="square" lIns="0" tIns="0" rIns="0" bIns="0" rtlCol="0" anchor="t"/>
          <a:lstStyle/>
          <a:p>
            <a:pPr algn="l" indent="0" marL="0">
              <a:lnSpc>
                <a:spcPts val="979"/>
              </a:lnSpc>
              <a:buNone/>
            </a:pPr>
            <a:r>
              <a:rPr lang="en-US" sz="675" dirty="0">
                <a:solidFill>
                  <a:srgbClr val="6B6B6B"/>
                </a:solidFill>
                <a:latin typeface="Carlito" pitchFamily="34" charset="0"/>
                <a:ea typeface="Carlito" pitchFamily="34" charset="-122"/>
                <a:cs typeface="Carlito" pitchFamily="34" charset="-120"/>
              </a:rPr>
              <a:t>one graph under eleven features — the demo writes itself</a:t>
            </a:r>
            <a:endParaRPr lang="en-US" sz="675" dirty="0"/>
          </a:p>
        </p:txBody>
      </p:sp>
      <p:sp>
        <p:nvSpPr>
          <p:cNvPr id="34" name="Text 32"/>
          <p:cNvSpPr/>
          <p:nvPr/>
        </p:nvSpPr>
        <p:spPr>
          <a:xfrm>
            <a:off x="403622" y="4082653"/>
            <a:ext cx="8336756" cy="671513"/>
          </a:xfrm>
          <a:prstGeom prst="rect">
            <a:avLst/>
          </a:prstGeom>
          <a:solidFill>
            <a:srgbClr val="FAF7F0"/>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35" name="Text 33"/>
          <p:cNvSpPr/>
          <p:nvPr/>
        </p:nvSpPr>
        <p:spPr>
          <a:xfrm>
            <a:off x="592931" y="4214813"/>
            <a:ext cx="7958138" cy="120701"/>
          </a:xfrm>
          <a:prstGeom prst="rect">
            <a:avLst/>
          </a:prstGeom>
          <a:noFill/>
          <a:ln/>
        </p:spPr>
        <p:txBody>
          <a:bodyPr wrap="none" lIns="0" tIns="0" rIns="0" bIns="0" rtlCol="0" anchor="t"/>
          <a:lstStyle/>
          <a:p>
            <a:pPr algn="l" indent="0" marL="0">
              <a:buNone/>
            </a:pPr>
            <a:r>
              <a:rPr lang="en-US" sz="800" b="1" spc="79" kern="0" dirty="0">
                <a:solidFill>
                  <a:srgbClr val="10B981"/>
                </a:solidFill>
                <a:latin typeface="Courier New" pitchFamily="34" charset="0"/>
                <a:ea typeface="Courier New" pitchFamily="34" charset="-122"/>
                <a:cs typeface="Courier New" pitchFamily="34" charset="-120"/>
              </a:rPr>
              <a:t>LIVE DEMO FLOW</a:t>
            </a:r>
            <a:endParaRPr lang="en-US" sz="800" dirty="0"/>
          </a:p>
        </p:txBody>
      </p:sp>
      <p:sp>
        <p:nvSpPr>
          <p:cNvPr id="36" name="Text 34"/>
          <p:cNvSpPr/>
          <p:nvPr/>
        </p:nvSpPr>
        <p:spPr>
          <a:xfrm>
            <a:off x="570071" y="4366317"/>
            <a:ext cx="778847" cy="26849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37" name="Text 35"/>
          <p:cNvSpPr/>
          <p:nvPr/>
        </p:nvSpPr>
        <p:spPr>
          <a:xfrm>
            <a:off x="592931" y="4379119"/>
            <a:ext cx="733127" cy="242888"/>
          </a:xfrm>
          <a:prstGeom prst="rect">
            <a:avLst/>
          </a:prstGeom>
          <a:noFill/>
          <a:ln/>
        </p:spPr>
        <p:txBody>
          <a:bodyPr wrap="none" lIns="0" tIns="0" rIns="0" bIns="0" rtlCol="0" anchor="ctr"/>
          <a:lstStyle/>
          <a:p>
            <a:pPr algn="ctr"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1 paste URL</a:t>
            </a:r>
            <a:endParaRPr lang="en-US" sz="800" dirty="0"/>
          </a:p>
        </p:txBody>
      </p:sp>
      <p:sp>
        <p:nvSpPr>
          <p:cNvPr id="38" name="Text 36"/>
          <p:cNvSpPr/>
          <p:nvPr/>
        </p:nvSpPr>
        <p:spPr>
          <a:xfrm>
            <a:off x="1621966" y="4436269"/>
            <a:ext cx="91440" cy="128588"/>
          </a:xfrm>
          <a:prstGeom prst="rect">
            <a:avLst/>
          </a:prstGeom>
          <a:noFill/>
          <a:ln/>
        </p:spPr>
        <p:txBody>
          <a:bodyPr wrap="none" lIns="0" tIns="0" rIns="0" bIns="0" rtlCol="0" anchor="ctr"/>
          <a:lstStyle/>
          <a:p>
            <a:pPr algn="ctr" indent="0" marL="0">
              <a:buNone/>
            </a:pPr>
            <a:r>
              <a:rPr lang="en-US" sz="900" dirty="0">
                <a:solidFill>
                  <a:srgbClr val="6B6B6B"/>
                </a:solidFill>
                <a:latin typeface="Segoe UI Symbol" pitchFamily="34" charset="0"/>
                <a:ea typeface="Segoe UI Symbol" pitchFamily="34" charset="-122"/>
                <a:cs typeface="Segoe UI Symbol" pitchFamily="34" charset="-120"/>
              </a:rPr>
              <a:t>→</a:t>
            </a:r>
            <a:endParaRPr lang="en-US" sz="900" dirty="0"/>
          </a:p>
        </p:txBody>
      </p:sp>
      <p:sp>
        <p:nvSpPr>
          <p:cNvPr id="39" name="Text 37"/>
          <p:cNvSpPr/>
          <p:nvPr/>
        </p:nvSpPr>
        <p:spPr>
          <a:xfrm>
            <a:off x="1963772" y="4366317"/>
            <a:ext cx="967487" cy="26849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0" name="Text 38"/>
          <p:cNvSpPr/>
          <p:nvPr/>
        </p:nvSpPr>
        <p:spPr>
          <a:xfrm>
            <a:off x="1986632" y="4379119"/>
            <a:ext cx="921767" cy="242888"/>
          </a:xfrm>
          <a:prstGeom prst="rect">
            <a:avLst/>
          </a:prstGeom>
          <a:noFill/>
          <a:ln/>
        </p:spPr>
        <p:txBody>
          <a:bodyPr wrap="none" lIns="0" tIns="0" rIns="0" bIns="0" rtlCol="0" anchor="ctr"/>
          <a:lstStyle/>
          <a:p>
            <a:pPr algn="ctr"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2 graph renders</a:t>
            </a:r>
            <a:endParaRPr lang="en-US" sz="800" dirty="0"/>
          </a:p>
        </p:txBody>
      </p:sp>
      <p:sp>
        <p:nvSpPr>
          <p:cNvPr id="41" name="Text 39"/>
          <p:cNvSpPr/>
          <p:nvPr/>
        </p:nvSpPr>
        <p:spPr>
          <a:xfrm>
            <a:off x="3204307" y="4436269"/>
            <a:ext cx="91440" cy="128588"/>
          </a:xfrm>
          <a:prstGeom prst="rect">
            <a:avLst/>
          </a:prstGeom>
          <a:noFill/>
          <a:ln/>
        </p:spPr>
        <p:txBody>
          <a:bodyPr wrap="none" lIns="0" tIns="0" rIns="0" bIns="0" rtlCol="0" anchor="ctr"/>
          <a:lstStyle/>
          <a:p>
            <a:pPr algn="ctr" indent="0" marL="0">
              <a:buNone/>
            </a:pPr>
            <a:r>
              <a:rPr lang="en-US" sz="900" dirty="0">
                <a:solidFill>
                  <a:srgbClr val="6B6B6B"/>
                </a:solidFill>
                <a:latin typeface="Segoe UI Symbol" pitchFamily="34" charset="0"/>
                <a:ea typeface="Segoe UI Symbol" pitchFamily="34" charset="-122"/>
                <a:cs typeface="Segoe UI Symbol" pitchFamily="34" charset="-120"/>
              </a:rPr>
              <a:t>→</a:t>
            </a:r>
            <a:endParaRPr lang="en-US" sz="900" dirty="0"/>
          </a:p>
        </p:txBody>
      </p:sp>
      <p:sp>
        <p:nvSpPr>
          <p:cNvPr id="42" name="Text 40"/>
          <p:cNvSpPr/>
          <p:nvPr/>
        </p:nvSpPr>
        <p:spPr>
          <a:xfrm>
            <a:off x="3572545" y="4382691"/>
            <a:ext cx="1433326" cy="235744"/>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3" name="Text 41"/>
          <p:cNvSpPr/>
          <p:nvPr/>
        </p:nvSpPr>
        <p:spPr>
          <a:xfrm>
            <a:off x="3568973" y="4379119"/>
            <a:ext cx="1722090" cy="242888"/>
          </a:xfrm>
          <a:prstGeom prst="rect">
            <a:avLst/>
          </a:prstGeom>
          <a:noFill/>
          <a:ln/>
        </p:spPr>
        <p:txBody>
          <a:bodyPr wrap="none" lIns="100013" tIns="71438" rIns="100013" bIns="71438" rtlCol="0" anchor="t"/>
          <a:lstStyle/>
          <a:p>
            <a:pPr algn="l"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3 ask: how does auth work?</a:t>
            </a:r>
            <a:endParaRPr lang="en-US" sz="800" dirty="0"/>
          </a:p>
        </p:txBody>
      </p:sp>
      <p:sp>
        <p:nvSpPr>
          <p:cNvPr id="44" name="Text 42"/>
          <p:cNvSpPr/>
          <p:nvPr/>
        </p:nvSpPr>
        <p:spPr>
          <a:xfrm>
            <a:off x="5305351" y="4436269"/>
            <a:ext cx="91440" cy="128588"/>
          </a:xfrm>
          <a:prstGeom prst="rect">
            <a:avLst/>
          </a:prstGeom>
          <a:noFill/>
          <a:ln/>
        </p:spPr>
        <p:txBody>
          <a:bodyPr wrap="none" lIns="0" tIns="0" rIns="0" bIns="0" rtlCol="0" anchor="ctr"/>
          <a:lstStyle/>
          <a:p>
            <a:pPr algn="ctr" indent="0" marL="0">
              <a:buNone/>
            </a:pPr>
            <a:r>
              <a:rPr lang="en-US" sz="900" dirty="0">
                <a:solidFill>
                  <a:srgbClr val="6B6B6B"/>
                </a:solidFill>
                <a:latin typeface="Segoe UI Symbol" pitchFamily="34" charset="0"/>
                <a:ea typeface="Segoe UI Symbol" pitchFamily="34" charset="-122"/>
                <a:cs typeface="Segoe UI Symbol" pitchFamily="34" charset="-120"/>
              </a:rPr>
              <a:t>→</a:t>
            </a:r>
            <a:endParaRPr lang="en-US" sz="900" dirty="0"/>
          </a:p>
        </p:txBody>
      </p:sp>
      <p:sp>
        <p:nvSpPr>
          <p:cNvPr id="45" name="Text 43"/>
          <p:cNvSpPr/>
          <p:nvPr/>
        </p:nvSpPr>
        <p:spPr>
          <a:xfrm>
            <a:off x="5647045" y="4366317"/>
            <a:ext cx="1156015" cy="26849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6" name="Text 44"/>
          <p:cNvSpPr/>
          <p:nvPr/>
        </p:nvSpPr>
        <p:spPr>
          <a:xfrm>
            <a:off x="5669905" y="4379119"/>
            <a:ext cx="1110295" cy="242888"/>
          </a:xfrm>
          <a:prstGeom prst="rect">
            <a:avLst/>
          </a:prstGeom>
          <a:noFill/>
          <a:ln/>
        </p:spPr>
        <p:txBody>
          <a:bodyPr wrap="none" lIns="0" tIns="0" rIns="0" bIns="0" rtlCol="0" anchor="ctr"/>
          <a:lstStyle/>
          <a:p>
            <a:pPr algn="ctr"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4 run security scan</a:t>
            </a:r>
            <a:endParaRPr lang="en-US" sz="800" dirty="0"/>
          </a:p>
        </p:txBody>
      </p:sp>
      <p:sp>
        <p:nvSpPr>
          <p:cNvPr id="47" name="Text 45"/>
          <p:cNvSpPr/>
          <p:nvPr/>
        </p:nvSpPr>
        <p:spPr>
          <a:xfrm>
            <a:off x="7076219" y="4436269"/>
            <a:ext cx="91440" cy="128588"/>
          </a:xfrm>
          <a:prstGeom prst="rect">
            <a:avLst/>
          </a:prstGeom>
          <a:noFill/>
          <a:ln/>
        </p:spPr>
        <p:txBody>
          <a:bodyPr wrap="none" lIns="0" tIns="0" rIns="0" bIns="0" rtlCol="0" anchor="ctr"/>
          <a:lstStyle/>
          <a:p>
            <a:pPr algn="ctr" indent="0" marL="0">
              <a:buNone/>
            </a:pPr>
            <a:r>
              <a:rPr lang="en-US" sz="900" dirty="0">
                <a:solidFill>
                  <a:srgbClr val="6B6B6B"/>
                </a:solidFill>
                <a:latin typeface="Segoe UI Symbol" pitchFamily="34" charset="0"/>
                <a:ea typeface="Segoe UI Symbol" pitchFamily="34" charset="-122"/>
                <a:cs typeface="Segoe UI Symbol" pitchFamily="34" charset="-120"/>
              </a:rPr>
              <a:t>→</a:t>
            </a:r>
            <a:endParaRPr lang="en-US" sz="900" dirty="0"/>
          </a:p>
        </p:txBody>
      </p:sp>
      <p:sp>
        <p:nvSpPr>
          <p:cNvPr id="48" name="Text 46"/>
          <p:cNvSpPr/>
          <p:nvPr/>
        </p:nvSpPr>
        <p:spPr>
          <a:xfrm>
            <a:off x="7417914" y="4366317"/>
            <a:ext cx="1156015" cy="26849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9" name="Text 47"/>
          <p:cNvSpPr/>
          <p:nvPr/>
        </p:nvSpPr>
        <p:spPr>
          <a:xfrm>
            <a:off x="7440774" y="4379119"/>
            <a:ext cx="1110295" cy="242888"/>
          </a:xfrm>
          <a:prstGeom prst="rect">
            <a:avLst/>
          </a:prstGeom>
          <a:noFill/>
          <a:ln/>
        </p:spPr>
        <p:txBody>
          <a:bodyPr wrap="none" lIns="0" tIns="0" rIns="0" bIns="0" rtlCol="0" anchor="ctr"/>
          <a:lstStyle/>
          <a:p>
            <a:pPr algn="ctr"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5 scaffold in 5 sec</a:t>
            </a:r>
            <a:endParaRPr lang="en-US" sz="800" dirty="0"/>
          </a:p>
        </p:txBody>
      </p:sp>
      <p:sp>
        <p:nvSpPr>
          <p:cNvPr id="50" name="Text 48"/>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385763"/>
            <a:ext cx="8636000"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Tech stack.</a:t>
            </a:r>
            <a:endParaRPr lang="en-US" sz="1519" dirty="0"/>
          </a:p>
        </p:txBody>
      </p:sp>
      <p:sp>
        <p:nvSpPr>
          <p:cNvPr id="3" name="Text 1"/>
          <p:cNvSpPr/>
          <p:nvPr/>
        </p:nvSpPr>
        <p:spPr>
          <a:xfrm>
            <a:off x="403622" y="1012180"/>
            <a:ext cx="2678906" cy="1600200"/>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4" name="Text 2"/>
          <p:cNvSpPr/>
          <p:nvPr/>
        </p:nvSpPr>
        <p:spPr>
          <a:xfrm>
            <a:off x="578644" y="1187202"/>
            <a:ext cx="2328862" cy="125403"/>
          </a:xfrm>
          <a:prstGeom prst="rect">
            <a:avLst/>
          </a:prstGeom>
          <a:noFill/>
          <a:ln/>
        </p:spPr>
        <p:txBody>
          <a:bodyPr wrap="none" lIns="0" tIns="0" rIns="0" bIns="0" rtlCol="0" anchor="t"/>
          <a:lstStyle/>
          <a:p>
            <a:pPr algn="l" indent="0" marL="0">
              <a:buNone/>
            </a:pPr>
            <a:r>
              <a:rPr lang="en-US" sz="800" b="1" spc="83" kern="0" dirty="0">
                <a:solidFill>
                  <a:srgbClr val="A16207"/>
                </a:solidFill>
                <a:latin typeface="Courier New" pitchFamily="34" charset="0"/>
                <a:ea typeface="Courier New" pitchFamily="34" charset="-122"/>
                <a:cs typeface="Courier New" pitchFamily="34" charset="-120"/>
              </a:rPr>
              <a:t>FRONTEND</a:t>
            </a:r>
            <a:endParaRPr lang="en-US" sz="800" dirty="0"/>
          </a:p>
        </p:txBody>
      </p:sp>
      <p:sp>
        <p:nvSpPr>
          <p:cNvPr id="5" name="Text 3"/>
          <p:cNvSpPr/>
          <p:nvPr/>
        </p:nvSpPr>
        <p:spPr>
          <a:xfrm>
            <a:off x="578644" y="1358652"/>
            <a:ext cx="2328863" cy="10716"/>
          </a:xfrm>
          <a:prstGeom prst="rect">
            <a:avLst/>
          </a:prstGeom>
          <a:solidFill>
            <a:srgbClr val="1A1A1A"/>
          </a:solidFill>
          <a:ln/>
        </p:spPr>
        <p:txBody>
          <a:bodyPr wrap="square" rtlCol="0" anchor="ctr"/>
          <a:lstStyle/>
          <a:p>
            <a:pPr indent="0" marL="0">
              <a:buNone/>
            </a:pPr>
            <a:endParaRPr lang="en-US" dirty="0"/>
          </a:p>
        </p:txBody>
      </p:sp>
      <p:sp>
        <p:nvSpPr>
          <p:cNvPr id="6" name="Text 4"/>
          <p:cNvSpPr/>
          <p:nvPr/>
        </p:nvSpPr>
        <p:spPr>
          <a:xfrm>
            <a:off x="578644" y="1694908"/>
            <a:ext cx="563017"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7" name="Text 5"/>
          <p:cNvSpPr/>
          <p:nvPr/>
        </p:nvSpPr>
        <p:spPr>
          <a:xfrm>
            <a:off x="578644" y="1706910"/>
            <a:ext cx="563017" cy="200025"/>
          </a:xfrm>
          <a:prstGeom prst="rect">
            <a:avLst/>
          </a:prstGeom>
          <a:noFill/>
          <a:ln/>
        </p:spPr>
        <p:txBody>
          <a:bodyPr wrap="none" lIns="0" tIns="0" rIns="0" bIns="0" rtlCol="0" anchor="ctr"/>
          <a:lstStyle/>
          <a:p>
            <a:pPr algn="ctr"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React 18</a:t>
            </a:r>
            <a:endParaRPr lang="en-US" sz="800" dirty="0"/>
          </a:p>
        </p:txBody>
      </p:sp>
      <p:sp>
        <p:nvSpPr>
          <p:cNvPr id="8" name="Text 6"/>
          <p:cNvSpPr/>
          <p:nvPr/>
        </p:nvSpPr>
        <p:spPr>
          <a:xfrm>
            <a:off x="1220242" y="1694908"/>
            <a:ext cx="657337"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9" name="Text 7"/>
          <p:cNvSpPr/>
          <p:nvPr/>
        </p:nvSpPr>
        <p:spPr>
          <a:xfrm>
            <a:off x="1207433" y="1706910"/>
            <a:ext cx="682955"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TypeScript</a:t>
            </a:r>
            <a:endParaRPr lang="en-US" sz="800" dirty="0"/>
          </a:p>
        </p:txBody>
      </p:sp>
      <p:sp>
        <p:nvSpPr>
          <p:cNvPr id="10" name="Text 8"/>
          <p:cNvSpPr/>
          <p:nvPr/>
        </p:nvSpPr>
        <p:spPr>
          <a:xfrm>
            <a:off x="1956160" y="1694908"/>
            <a:ext cx="374377"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1" name="Text 9"/>
          <p:cNvSpPr/>
          <p:nvPr/>
        </p:nvSpPr>
        <p:spPr>
          <a:xfrm>
            <a:off x="1956160" y="1706910"/>
            <a:ext cx="374377"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Vite</a:t>
            </a:r>
            <a:endParaRPr lang="en-US" sz="800" dirty="0"/>
          </a:p>
        </p:txBody>
      </p:sp>
      <p:sp>
        <p:nvSpPr>
          <p:cNvPr id="12" name="Text 10"/>
          <p:cNvSpPr/>
          <p:nvPr/>
        </p:nvSpPr>
        <p:spPr>
          <a:xfrm>
            <a:off x="578644" y="1973515"/>
            <a:ext cx="751656"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3" name="Text 11"/>
          <p:cNvSpPr/>
          <p:nvPr/>
        </p:nvSpPr>
        <p:spPr>
          <a:xfrm>
            <a:off x="553050" y="1985516"/>
            <a:ext cx="802843"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Tailwind CSS</a:t>
            </a:r>
            <a:endParaRPr lang="en-US" sz="800" dirty="0"/>
          </a:p>
        </p:txBody>
      </p:sp>
      <p:sp>
        <p:nvSpPr>
          <p:cNvPr id="14" name="Text 12"/>
          <p:cNvSpPr/>
          <p:nvPr/>
        </p:nvSpPr>
        <p:spPr>
          <a:xfrm>
            <a:off x="1408881" y="1973515"/>
            <a:ext cx="657337"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5" name="Text 13"/>
          <p:cNvSpPr/>
          <p:nvPr/>
        </p:nvSpPr>
        <p:spPr>
          <a:xfrm>
            <a:off x="1408881" y="1985516"/>
            <a:ext cx="657337"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React Flow</a:t>
            </a:r>
            <a:endParaRPr lang="en-US" sz="800" dirty="0"/>
          </a:p>
        </p:txBody>
      </p:sp>
      <p:sp>
        <p:nvSpPr>
          <p:cNvPr id="16" name="Text 14"/>
          <p:cNvSpPr/>
          <p:nvPr/>
        </p:nvSpPr>
        <p:spPr>
          <a:xfrm>
            <a:off x="3232547" y="1012180"/>
            <a:ext cx="2678906" cy="1600200"/>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17" name="Text 15"/>
          <p:cNvSpPr/>
          <p:nvPr/>
        </p:nvSpPr>
        <p:spPr>
          <a:xfrm>
            <a:off x="3407569" y="1187202"/>
            <a:ext cx="2328862" cy="125403"/>
          </a:xfrm>
          <a:prstGeom prst="rect">
            <a:avLst/>
          </a:prstGeom>
          <a:noFill/>
          <a:ln/>
        </p:spPr>
        <p:txBody>
          <a:bodyPr wrap="none" lIns="0" tIns="0" rIns="0" bIns="0" rtlCol="0" anchor="t"/>
          <a:lstStyle/>
          <a:p>
            <a:pPr algn="l" indent="0" marL="0">
              <a:buNone/>
            </a:pPr>
            <a:r>
              <a:rPr lang="en-US" sz="800" b="1" spc="83" kern="0" dirty="0">
                <a:solidFill>
                  <a:srgbClr val="10B981"/>
                </a:solidFill>
                <a:latin typeface="Courier New" pitchFamily="34" charset="0"/>
                <a:ea typeface="Courier New" pitchFamily="34" charset="-122"/>
                <a:cs typeface="Courier New" pitchFamily="34" charset="-120"/>
              </a:rPr>
              <a:t>BACKEND</a:t>
            </a:r>
            <a:endParaRPr lang="en-US" sz="800" dirty="0"/>
          </a:p>
        </p:txBody>
      </p:sp>
      <p:sp>
        <p:nvSpPr>
          <p:cNvPr id="18" name="Text 16"/>
          <p:cNvSpPr/>
          <p:nvPr/>
        </p:nvSpPr>
        <p:spPr>
          <a:xfrm>
            <a:off x="3407569" y="1358652"/>
            <a:ext cx="2328863" cy="10716"/>
          </a:xfrm>
          <a:prstGeom prst="rect">
            <a:avLst/>
          </a:prstGeom>
          <a:solidFill>
            <a:srgbClr val="1A1A1A"/>
          </a:solidFill>
          <a:ln/>
        </p:spPr>
        <p:txBody>
          <a:bodyPr wrap="square" rtlCol="0" anchor="ctr"/>
          <a:lstStyle/>
          <a:p>
            <a:pPr indent="0" marL="0">
              <a:buNone/>
            </a:pPr>
            <a:endParaRPr lang="en-US" dirty="0"/>
          </a:p>
        </p:txBody>
      </p:sp>
      <p:sp>
        <p:nvSpPr>
          <p:cNvPr id="19" name="Text 17"/>
          <p:cNvSpPr/>
          <p:nvPr/>
        </p:nvSpPr>
        <p:spPr>
          <a:xfrm>
            <a:off x="3407569" y="1694908"/>
            <a:ext cx="704552"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0" name="Text 18"/>
          <p:cNvSpPr/>
          <p:nvPr/>
        </p:nvSpPr>
        <p:spPr>
          <a:xfrm>
            <a:off x="3393790" y="1706910"/>
            <a:ext cx="732109" cy="200025"/>
          </a:xfrm>
          <a:prstGeom prst="rect">
            <a:avLst/>
          </a:prstGeom>
          <a:noFill/>
          <a:ln/>
        </p:spPr>
        <p:txBody>
          <a:bodyPr wrap="none" lIns="0" tIns="0" rIns="0" bIns="0" rtlCol="0" anchor="ctr"/>
          <a:lstStyle/>
          <a:p>
            <a:pPr algn="ctr"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Python 3.11</a:t>
            </a:r>
            <a:endParaRPr lang="en-US" sz="800" dirty="0"/>
          </a:p>
        </p:txBody>
      </p:sp>
      <p:sp>
        <p:nvSpPr>
          <p:cNvPr id="21" name="Text 19"/>
          <p:cNvSpPr/>
          <p:nvPr/>
        </p:nvSpPr>
        <p:spPr>
          <a:xfrm>
            <a:off x="4190702" y="1694908"/>
            <a:ext cx="515913"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2" name="Text 20"/>
          <p:cNvSpPr/>
          <p:nvPr/>
        </p:nvSpPr>
        <p:spPr>
          <a:xfrm>
            <a:off x="4188705" y="1706910"/>
            <a:ext cx="519908"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FastAPI</a:t>
            </a:r>
            <a:endParaRPr lang="en-US" sz="800" dirty="0"/>
          </a:p>
        </p:txBody>
      </p:sp>
      <p:sp>
        <p:nvSpPr>
          <p:cNvPr id="23" name="Text 21"/>
          <p:cNvSpPr/>
          <p:nvPr/>
        </p:nvSpPr>
        <p:spPr>
          <a:xfrm>
            <a:off x="4785196" y="1694908"/>
            <a:ext cx="798872"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4" name="Text 22"/>
          <p:cNvSpPr/>
          <p:nvPr/>
        </p:nvSpPr>
        <p:spPr>
          <a:xfrm>
            <a:off x="4758034" y="1706910"/>
            <a:ext cx="853196"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SSE streaming</a:t>
            </a:r>
            <a:endParaRPr lang="en-US" sz="800" dirty="0"/>
          </a:p>
        </p:txBody>
      </p:sp>
      <p:sp>
        <p:nvSpPr>
          <p:cNvPr id="25" name="Text 23"/>
          <p:cNvSpPr/>
          <p:nvPr/>
        </p:nvSpPr>
        <p:spPr>
          <a:xfrm>
            <a:off x="3388821" y="1973515"/>
            <a:ext cx="506193"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6" name="Text 24"/>
          <p:cNvSpPr/>
          <p:nvPr/>
        </p:nvSpPr>
        <p:spPr>
          <a:xfrm>
            <a:off x="3407569" y="1985516"/>
            <a:ext cx="468697"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pytest</a:t>
            </a:r>
            <a:endParaRPr lang="en-US" sz="800" dirty="0"/>
          </a:p>
        </p:txBody>
      </p:sp>
      <p:sp>
        <p:nvSpPr>
          <p:cNvPr id="27" name="Text 25"/>
          <p:cNvSpPr/>
          <p:nvPr/>
        </p:nvSpPr>
        <p:spPr>
          <a:xfrm>
            <a:off x="6061472" y="1012180"/>
            <a:ext cx="2678906" cy="1600200"/>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28" name="Text 26"/>
          <p:cNvSpPr/>
          <p:nvPr/>
        </p:nvSpPr>
        <p:spPr>
          <a:xfrm>
            <a:off x="6236494" y="1187202"/>
            <a:ext cx="2328863" cy="125403"/>
          </a:xfrm>
          <a:prstGeom prst="rect">
            <a:avLst/>
          </a:prstGeom>
          <a:noFill/>
          <a:ln/>
        </p:spPr>
        <p:txBody>
          <a:bodyPr wrap="none" lIns="0" tIns="0" rIns="0" bIns="0" rtlCol="0" anchor="t"/>
          <a:lstStyle/>
          <a:p>
            <a:pPr algn="l" indent="0" marL="0">
              <a:buNone/>
            </a:pPr>
            <a:r>
              <a:rPr lang="en-US" sz="800" b="1" spc="83" kern="0" dirty="0">
                <a:solidFill>
                  <a:srgbClr val="10B981"/>
                </a:solidFill>
                <a:latin typeface="Courier New" pitchFamily="34" charset="0"/>
                <a:ea typeface="Courier New" pitchFamily="34" charset="-122"/>
                <a:cs typeface="Courier New" pitchFamily="34" charset="-120"/>
              </a:rPr>
              <a:t>GRAPH ENGINE</a:t>
            </a:r>
            <a:endParaRPr lang="en-US" sz="800" dirty="0"/>
          </a:p>
        </p:txBody>
      </p:sp>
      <p:sp>
        <p:nvSpPr>
          <p:cNvPr id="29" name="Text 27"/>
          <p:cNvSpPr/>
          <p:nvPr/>
        </p:nvSpPr>
        <p:spPr>
          <a:xfrm>
            <a:off x="6236494" y="1358652"/>
            <a:ext cx="2328863" cy="10716"/>
          </a:xfrm>
          <a:prstGeom prst="rect">
            <a:avLst/>
          </a:prstGeom>
          <a:solidFill>
            <a:srgbClr val="1A1A1A"/>
          </a:solidFill>
          <a:ln/>
        </p:spPr>
        <p:txBody>
          <a:bodyPr wrap="square" rtlCol="0" anchor="ctr"/>
          <a:lstStyle/>
          <a:p>
            <a:pPr indent="0" marL="0">
              <a:buNone/>
            </a:pPr>
            <a:endParaRPr lang="en-US" dirty="0"/>
          </a:p>
        </p:txBody>
      </p:sp>
      <p:sp>
        <p:nvSpPr>
          <p:cNvPr id="30" name="Text 28"/>
          <p:cNvSpPr/>
          <p:nvPr/>
        </p:nvSpPr>
        <p:spPr>
          <a:xfrm>
            <a:off x="6236494" y="1694908"/>
            <a:ext cx="798872"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31" name="Text 29"/>
          <p:cNvSpPr/>
          <p:nvPr/>
        </p:nvSpPr>
        <p:spPr>
          <a:xfrm>
            <a:off x="6236494" y="1706910"/>
            <a:ext cx="798872"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graph_builder</a:t>
            </a:r>
            <a:endParaRPr lang="en-US" sz="800" dirty="0"/>
          </a:p>
        </p:txBody>
      </p:sp>
      <p:sp>
        <p:nvSpPr>
          <p:cNvPr id="32" name="Text 30"/>
          <p:cNvSpPr/>
          <p:nvPr/>
        </p:nvSpPr>
        <p:spPr>
          <a:xfrm>
            <a:off x="7113947" y="1694908"/>
            <a:ext cx="893192"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33" name="Text 31"/>
          <p:cNvSpPr/>
          <p:nvPr/>
        </p:nvSpPr>
        <p:spPr>
          <a:xfrm>
            <a:off x="7113947" y="1706910"/>
            <a:ext cx="893192"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impact_analyzer</a:t>
            </a:r>
            <a:endParaRPr lang="en-US" sz="800" dirty="0"/>
          </a:p>
        </p:txBody>
      </p:sp>
      <p:sp>
        <p:nvSpPr>
          <p:cNvPr id="34" name="Text 32"/>
          <p:cNvSpPr/>
          <p:nvPr/>
        </p:nvSpPr>
        <p:spPr>
          <a:xfrm>
            <a:off x="6236494" y="1973515"/>
            <a:ext cx="893192"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35" name="Text 33"/>
          <p:cNvSpPr/>
          <p:nvPr/>
        </p:nvSpPr>
        <p:spPr>
          <a:xfrm>
            <a:off x="6236494" y="1985516"/>
            <a:ext cx="893192"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knowledge graph</a:t>
            </a:r>
            <a:endParaRPr lang="en-US" sz="800" dirty="0"/>
          </a:p>
        </p:txBody>
      </p:sp>
      <p:sp>
        <p:nvSpPr>
          <p:cNvPr id="36" name="Text 34"/>
          <p:cNvSpPr/>
          <p:nvPr/>
        </p:nvSpPr>
        <p:spPr>
          <a:xfrm>
            <a:off x="7208267" y="1973515"/>
            <a:ext cx="704552"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37" name="Text 35"/>
          <p:cNvSpPr/>
          <p:nvPr/>
        </p:nvSpPr>
        <p:spPr>
          <a:xfrm>
            <a:off x="7196287" y="1985516"/>
            <a:ext cx="728513"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AST parsing</a:t>
            </a:r>
            <a:endParaRPr lang="en-US" sz="800" dirty="0"/>
          </a:p>
        </p:txBody>
      </p:sp>
      <p:sp>
        <p:nvSpPr>
          <p:cNvPr id="38" name="Text 36"/>
          <p:cNvSpPr/>
          <p:nvPr/>
        </p:nvSpPr>
        <p:spPr>
          <a:xfrm>
            <a:off x="403622" y="2762399"/>
            <a:ext cx="2678906" cy="1600200"/>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39" name="Text 37"/>
          <p:cNvSpPr/>
          <p:nvPr/>
        </p:nvSpPr>
        <p:spPr>
          <a:xfrm>
            <a:off x="578644" y="2937421"/>
            <a:ext cx="2328862" cy="125403"/>
          </a:xfrm>
          <a:prstGeom prst="rect">
            <a:avLst/>
          </a:prstGeom>
          <a:noFill/>
          <a:ln/>
        </p:spPr>
        <p:txBody>
          <a:bodyPr wrap="none" lIns="0" tIns="0" rIns="0" bIns="0" rtlCol="0" anchor="t"/>
          <a:lstStyle/>
          <a:p>
            <a:pPr algn="l" indent="0" marL="0">
              <a:buNone/>
            </a:pPr>
            <a:r>
              <a:rPr lang="en-US" sz="800" b="1" spc="83" kern="0" dirty="0">
                <a:solidFill>
                  <a:srgbClr val="A16207"/>
                </a:solidFill>
                <a:latin typeface="Courier New" pitchFamily="34" charset="0"/>
                <a:ea typeface="Courier New" pitchFamily="34" charset="-122"/>
                <a:cs typeface="Courier New" pitchFamily="34" charset="-120"/>
              </a:rPr>
              <a:t>AI / LLM</a:t>
            </a:r>
            <a:endParaRPr lang="en-US" sz="800" dirty="0"/>
          </a:p>
        </p:txBody>
      </p:sp>
      <p:sp>
        <p:nvSpPr>
          <p:cNvPr id="40" name="Text 38"/>
          <p:cNvSpPr/>
          <p:nvPr/>
        </p:nvSpPr>
        <p:spPr>
          <a:xfrm>
            <a:off x="578644" y="3108871"/>
            <a:ext cx="2328863" cy="10716"/>
          </a:xfrm>
          <a:prstGeom prst="rect">
            <a:avLst/>
          </a:prstGeom>
          <a:solidFill>
            <a:srgbClr val="1A1A1A"/>
          </a:solidFill>
          <a:ln/>
        </p:spPr>
        <p:txBody>
          <a:bodyPr wrap="square" rtlCol="0" anchor="ctr"/>
          <a:lstStyle/>
          <a:p>
            <a:pPr indent="0" marL="0">
              <a:buNone/>
            </a:pPr>
            <a:endParaRPr lang="en-US" dirty="0"/>
          </a:p>
        </p:txBody>
      </p:sp>
      <p:sp>
        <p:nvSpPr>
          <p:cNvPr id="41" name="Text 39"/>
          <p:cNvSpPr/>
          <p:nvPr/>
        </p:nvSpPr>
        <p:spPr>
          <a:xfrm>
            <a:off x="578644" y="3445127"/>
            <a:ext cx="845976"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42" name="Text 40"/>
          <p:cNvSpPr/>
          <p:nvPr/>
        </p:nvSpPr>
        <p:spPr>
          <a:xfrm>
            <a:off x="574434" y="3457129"/>
            <a:ext cx="854395"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Groq — primary</a:t>
            </a:r>
            <a:endParaRPr lang="en-US" sz="800" dirty="0"/>
          </a:p>
        </p:txBody>
      </p:sp>
      <p:sp>
        <p:nvSpPr>
          <p:cNvPr id="43" name="Text 41"/>
          <p:cNvSpPr/>
          <p:nvPr/>
        </p:nvSpPr>
        <p:spPr>
          <a:xfrm>
            <a:off x="1503201" y="3445127"/>
            <a:ext cx="1176040"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44" name="Text 42"/>
          <p:cNvSpPr/>
          <p:nvPr/>
        </p:nvSpPr>
        <p:spPr>
          <a:xfrm>
            <a:off x="1503201" y="3457129"/>
            <a:ext cx="1176040"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NVIDIA NIM — fallback</a:t>
            </a:r>
            <a:endParaRPr lang="en-US" sz="800" dirty="0"/>
          </a:p>
        </p:txBody>
      </p:sp>
      <p:sp>
        <p:nvSpPr>
          <p:cNvPr id="45" name="Text 43"/>
          <p:cNvSpPr/>
          <p:nvPr/>
        </p:nvSpPr>
        <p:spPr>
          <a:xfrm>
            <a:off x="578644" y="3723733"/>
            <a:ext cx="704552"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46" name="Text 44"/>
          <p:cNvSpPr/>
          <p:nvPr/>
        </p:nvSpPr>
        <p:spPr>
          <a:xfrm>
            <a:off x="574456" y="3735735"/>
            <a:ext cx="712927"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key_rotator</a:t>
            </a:r>
            <a:endParaRPr lang="en-US" sz="800" dirty="0"/>
          </a:p>
        </p:txBody>
      </p:sp>
      <p:sp>
        <p:nvSpPr>
          <p:cNvPr id="47" name="Text 45"/>
          <p:cNvSpPr/>
          <p:nvPr/>
        </p:nvSpPr>
        <p:spPr>
          <a:xfrm>
            <a:off x="1361777" y="3723733"/>
            <a:ext cx="987400"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48" name="Text 46"/>
          <p:cNvSpPr/>
          <p:nvPr/>
        </p:nvSpPr>
        <p:spPr>
          <a:xfrm>
            <a:off x="1361777" y="3735735"/>
            <a:ext cx="987400"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OpenAI-compatible</a:t>
            </a:r>
            <a:endParaRPr lang="en-US" sz="800" dirty="0"/>
          </a:p>
        </p:txBody>
      </p:sp>
      <p:sp>
        <p:nvSpPr>
          <p:cNvPr id="49" name="Text 47"/>
          <p:cNvSpPr/>
          <p:nvPr/>
        </p:nvSpPr>
        <p:spPr>
          <a:xfrm>
            <a:off x="3232547" y="2762399"/>
            <a:ext cx="2678906" cy="1600200"/>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50" name="Text 48"/>
          <p:cNvSpPr/>
          <p:nvPr/>
        </p:nvSpPr>
        <p:spPr>
          <a:xfrm>
            <a:off x="3407569" y="2937421"/>
            <a:ext cx="2328863" cy="125403"/>
          </a:xfrm>
          <a:prstGeom prst="rect">
            <a:avLst/>
          </a:prstGeom>
          <a:noFill/>
          <a:ln/>
        </p:spPr>
        <p:txBody>
          <a:bodyPr wrap="none" lIns="0" tIns="0" rIns="0" bIns="0" rtlCol="0" anchor="t"/>
          <a:lstStyle/>
          <a:p>
            <a:pPr algn="l" indent="0" marL="0">
              <a:buNone/>
            </a:pPr>
            <a:r>
              <a:rPr lang="en-US" sz="800" b="1" spc="83" kern="0" dirty="0">
                <a:solidFill>
                  <a:srgbClr val="A16207"/>
                </a:solidFill>
                <a:latin typeface="Courier New" pitchFamily="34" charset="0"/>
                <a:ea typeface="Courier New" pitchFamily="34" charset="-122"/>
                <a:cs typeface="Courier New" pitchFamily="34" charset="-120"/>
              </a:rPr>
              <a:t>INTEGRATIONS</a:t>
            </a:r>
            <a:endParaRPr lang="en-US" sz="800" dirty="0"/>
          </a:p>
        </p:txBody>
      </p:sp>
      <p:sp>
        <p:nvSpPr>
          <p:cNvPr id="51" name="Text 49"/>
          <p:cNvSpPr/>
          <p:nvPr/>
        </p:nvSpPr>
        <p:spPr>
          <a:xfrm>
            <a:off x="3407569" y="3108871"/>
            <a:ext cx="2328863" cy="10716"/>
          </a:xfrm>
          <a:prstGeom prst="rect">
            <a:avLst/>
          </a:prstGeom>
          <a:solidFill>
            <a:srgbClr val="1A1A1A"/>
          </a:solidFill>
          <a:ln/>
        </p:spPr>
        <p:txBody>
          <a:bodyPr wrap="square" rtlCol="0" anchor="ctr"/>
          <a:lstStyle/>
          <a:p>
            <a:pPr indent="0" marL="0">
              <a:buNone/>
            </a:pPr>
            <a:endParaRPr lang="en-US" dirty="0"/>
          </a:p>
        </p:txBody>
      </p:sp>
      <p:sp>
        <p:nvSpPr>
          <p:cNvPr id="52" name="Text 50"/>
          <p:cNvSpPr/>
          <p:nvPr/>
        </p:nvSpPr>
        <p:spPr>
          <a:xfrm>
            <a:off x="3407569" y="3445127"/>
            <a:ext cx="1034616"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3" name="Text 51"/>
          <p:cNvSpPr/>
          <p:nvPr/>
        </p:nvSpPr>
        <p:spPr>
          <a:xfrm>
            <a:off x="3407569" y="3457129"/>
            <a:ext cx="1034616" cy="200025"/>
          </a:xfrm>
          <a:prstGeom prst="rect">
            <a:avLst/>
          </a:prstGeom>
          <a:noFill/>
          <a:ln/>
        </p:spPr>
        <p:txBody>
          <a:bodyPr wrap="none" lIns="0" tIns="0" rIns="0" bIns="0" rtlCol="0" anchor="ctr"/>
          <a:lstStyle/>
          <a:p>
            <a:pPr algn="ctr" indent="0" marL="0">
              <a:buNone/>
            </a:pPr>
            <a:r>
              <a:rPr lang="en-US" sz="800" dirty="0">
                <a:solidFill>
                  <a:srgbClr val="1A1A1A"/>
                </a:solidFill>
                <a:latin typeface="Liberation Sans Narrow" pitchFamily="34" charset="0"/>
                <a:ea typeface="Liberation Sans Narrow" pitchFamily="34" charset="-122"/>
                <a:cs typeface="Liberation Sans Narrow" pitchFamily="34" charset="-120"/>
              </a:rPr>
              <a:t>GitHub REST API v3</a:t>
            </a:r>
            <a:endParaRPr lang="en-US" sz="800" dirty="0"/>
          </a:p>
        </p:txBody>
      </p:sp>
      <p:sp>
        <p:nvSpPr>
          <p:cNvPr id="54" name="Text 52"/>
          <p:cNvSpPr/>
          <p:nvPr/>
        </p:nvSpPr>
        <p:spPr>
          <a:xfrm>
            <a:off x="4520766" y="3445127"/>
            <a:ext cx="845976"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5" name="Text 53"/>
          <p:cNvSpPr/>
          <p:nvPr/>
        </p:nvSpPr>
        <p:spPr>
          <a:xfrm>
            <a:off x="4520766" y="3457129"/>
            <a:ext cx="845976"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GitHub Actions</a:t>
            </a:r>
            <a:endParaRPr lang="en-US" sz="800" dirty="0"/>
          </a:p>
        </p:txBody>
      </p:sp>
      <p:sp>
        <p:nvSpPr>
          <p:cNvPr id="56" name="Text 54"/>
          <p:cNvSpPr/>
          <p:nvPr/>
        </p:nvSpPr>
        <p:spPr>
          <a:xfrm>
            <a:off x="3407569" y="3723733"/>
            <a:ext cx="845976"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7" name="Text 55"/>
          <p:cNvSpPr/>
          <p:nvPr/>
        </p:nvSpPr>
        <p:spPr>
          <a:xfrm>
            <a:off x="3375186" y="3735735"/>
            <a:ext cx="910742"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Web Speech API</a:t>
            </a:r>
            <a:endParaRPr lang="en-US" sz="800" dirty="0"/>
          </a:p>
        </p:txBody>
      </p:sp>
      <p:sp>
        <p:nvSpPr>
          <p:cNvPr id="58" name="Text 56"/>
          <p:cNvSpPr/>
          <p:nvPr/>
        </p:nvSpPr>
        <p:spPr>
          <a:xfrm>
            <a:off x="4332126" y="3723733"/>
            <a:ext cx="657337"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59" name="Text 57"/>
          <p:cNvSpPr/>
          <p:nvPr/>
        </p:nvSpPr>
        <p:spPr>
          <a:xfrm>
            <a:off x="4319317" y="3735735"/>
            <a:ext cx="682955"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StackBlitz</a:t>
            </a:r>
            <a:endParaRPr lang="en-US" sz="800" dirty="0"/>
          </a:p>
        </p:txBody>
      </p:sp>
      <p:sp>
        <p:nvSpPr>
          <p:cNvPr id="60" name="Text 58"/>
          <p:cNvSpPr/>
          <p:nvPr/>
        </p:nvSpPr>
        <p:spPr>
          <a:xfrm>
            <a:off x="6061472" y="2762399"/>
            <a:ext cx="2678906" cy="1600200"/>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61" name="Text 59"/>
          <p:cNvSpPr/>
          <p:nvPr/>
        </p:nvSpPr>
        <p:spPr>
          <a:xfrm>
            <a:off x="6236494" y="2937421"/>
            <a:ext cx="2328862" cy="125403"/>
          </a:xfrm>
          <a:prstGeom prst="rect">
            <a:avLst/>
          </a:prstGeom>
          <a:noFill/>
          <a:ln/>
        </p:spPr>
        <p:txBody>
          <a:bodyPr wrap="none" lIns="0" tIns="0" rIns="0" bIns="0" rtlCol="0" anchor="t"/>
          <a:lstStyle/>
          <a:p>
            <a:pPr algn="l" indent="0" marL="0">
              <a:buNone/>
            </a:pPr>
            <a:r>
              <a:rPr lang="en-US" sz="800" b="1" spc="83" kern="0" dirty="0">
                <a:solidFill>
                  <a:srgbClr val="6B6B6B"/>
                </a:solidFill>
                <a:latin typeface="Courier New" pitchFamily="34" charset="0"/>
                <a:ea typeface="Courier New" pitchFamily="34" charset="-122"/>
                <a:cs typeface="Courier New" pitchFamily="34" charset="-120"/>
              </a:rPr>
              <a:t>DEPLOY</a:t>
            </a:r>
            <a:endParaRPr lang="en-US" sz="800" dirty="0"/>
          </a:p>
        </p:txBody>
      </p:sp>
      <p:sp>
        <p:nvSpPr>
          <p:cNvPr id="62" name="Text 60"/>
          <p:cNvSpPr/>
          <p:nvPr/>
        </p:nvSpPr>
        <p:spPr>
          <a:xfrm>
            <a:off x="6236494" y="3108871"/>
            <a:ext cx="2328863" cy="10716"/>
          </a:xfrm>
          <a:prstGeom prst="rect">
            <a:avLst/>
          </a:prstGeom>
          <a:solidFill>
            <a:srgbClr val="1A1A1A"/>
          </a:solidFill>
          <a:ln/>
        </p:spPr>
        <p:txBody>
          <a:bodyPr wrap="square" rtlCol="0" anchor="ctr"/>
          <a:lstStyle/>
          <a:p>
            <a:pPr indent="0" marL="0">
              <a:buNone/>
            </a:pPr>
            <a:endParaRPr lang="en-US" dirty="0"/>
          </a:p>
        </p:txBody>
      </p:sp>
      <p:sp>
        <p:nvSpPr>
          <p:cNvPr id="63" name="Text 61"/>
          <p:cNvSpPr/>
          <p:nvPr/>
        </p:nvSpPr>
        <p:spPr>
          <a:xfrm>
            <a:off x="6236494" y="3445127"/>
            <a:ext cx="751656"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64" name="Text 62"/>
          <p:cNvSpPr/>
          <p:nvPr/>
        </p:nvSpPr>
        <p:spPr>
          <a:xfrm>
            <a:off x="6236494" y="3457129"/>
            <a:ext cx="751656"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Vercel — app</a:t>
            </a:r>
            <a:endParaRPr lang="en-US" sz="800" dirty="0"/>
          </a:p>
        </p:txBody>
      </p:sp>
      <p:sp>
        <p:nvSpPr>
          <p:cNvPr id="65" name="Text 63"/>
          <p:cNvSpPr/>
          <p:nvPr/>
        </p:nvSpPr>
        <p:spPr>
          <a:xfrm>
            <a:off x="7066731" y="3445127"/>
            <a:ext cx="751656"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66" name="Text 64"/>
          <p:cNvSpPr/>
          <p:nvPr/>
        </p:nvSpPr>
        <p:spPr>
          <a:xfrm>
            <a:off x="7059721" y="3457129"/>
            <a:ext cx="765678"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Render — API</a:t>
            </a:r>
            <a:endParaRPr lang="en-US" sz="800" dirty="0"/>
          </a:p>
        </p:txBody>
      </p:sp>
      <p:sp>
        <p:nvSpPr>
          <p:cNvPr id="67" name="Text 65"/>
          <p:cNvSpPr/>
          <p:nvPr/>
        </p:nvSpPr>
        <p:spPr>
          <a:xfrm>
            <a:off x="6213634" y="3723733"/>
            <a:ext cx="797376" cy="224028"/>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68" name="Text 66"/>
          <p:cNvSpPr/>
          <p:nvPr/>
        </p:nvSpPr>
        <p:spPr>
          <a:xfrm>
            <a:off x="6216895" y="3735735"/>
            <a:ext cx="790854" cy="200025"/>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MIT licensed</a:t>
            </a:r>
            <a:endParaRPr lang="en-US" sz="800" dirty="0"/>
          </a:p>
        </p:txBody>
      </p:sp>
      <p:sp>
        <p:nvSpPr>
          <p:cNvPr id="69" name="Text 67"/>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00050" y="385763"/>
            <a:ext cx="8636000" cy="249902"/>
          </a:xfrm>
          <a:prstGeom prst="rect">
            <a:avLst/>
          </a:prstGeom>
          <a:noFill/>
          <a:ln/>
        </p:spPr>
        <p:txBody>
          <a:bodyPr wrap="none" lIns="0" tIns="0" rIns="0" bIns="0" rtlCol="0" anchor="t"/>
          <a:lstStyle/>
          <a:p>
            <a:pPr algn="l" indent="0" marL="0">
              <a:lnSpc>
                <a:spcPts val="1822"/>
              </a:lnSpc>
              <a:buNone/>
            </a:pPr>
            <a:r>
              <a:rPr lang="en-US" sz="1519" b="1" spc="-46" kern="0" dirty="0">
                <a:solidFill>
                  <a:srgbClr val="1A1A1A"/>
                </a:solidFill>
                <a:latin typeface="Carlito" pitchFamily="34" charset="0"/>
                <a:ea typeface="Carlito" pitchFamily="34" charset="-122"/>
                <a:cs typeface="Carlito" pitchFamily="34" charset="-120"/>
              </a:rPr>
              <a:t>Open source. MIT.</a:t>
            </a:r>
            <a:endParaRPr lang="en-US" sz="1519" dirty="0"/>
          </a:p>
        </p:txBody>
      </p:sp>
      <p:sp>
        <p:nvSpPr>
          <p:cNvPr id="3" name="Text 1"/>
          <p:cNvSpPr/>
          <p:nvPr/>
        </p:nvSpPr>
        <p:spPr>
          <a:xfrm>
            <a:off x="400050" y="667159"/>
            <a:ext cx="8636000" cy="164592"/>
          </a:xfrm>
          <a:prstGeom prst="rect">
            <a:avLst/>
          </a:prstGeom>
          <a:noFill/>
          <a:ln/>
        </p:spPr>
        <p:txBody>
          <a:bodyPr wrap="none" lIns="0" tIns="0" rIns="0" bIns="0" rtlCol="0" anchor="t"/>
          <a:lstStyle/>
          <a:p>
            <a:pPr algn="l" indent="0" marL="0">
              <a:lnSpc>
                <a:spcPts val="1097"/>
              </a:lnSpc>
              <a:buNone/>
            </a:pPr>
            <a:r>
              <a:rPr lang="en-US" sz="800" dirty="0">
                <a:solidFill>
                  <a:srgbClr val="6B6B6B"/>
                </a:solidFill>
                <a:latin typeface="Carlito" pitchFamily="34" charset="0"/>
                <a:ea typeface="Carlito" pitchFamily="34" charset="-122"/>
                <a:cs typeface="Carlito" pitchFamily="34" charset="-120"/>
              </a:rPr>
              <a:t>fork it, ship it, extend it</a:t>
            </a:r>
            <a:endParaRPr lang="en-US" sz="800" dirty="0"/>
          </a:p>
        </p:txBody>
      </p:sp>
      <p:sp>
        <p:nvSpPr>
          <p:cNvPr id="4" name="Text 2"/>
          <p:cNvSpPr/>
          <p:nvPr/>
        </p:nvSpPr>
        <p:spPr>
          <a:xfrm>
            <a:off x="832247" y="1385441"/>
            <a:ext cx="4421981" cy="279320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5" name="Image 0" descr="/tmp/h2p-svg-1790773508769-vx046f.png">    </p:cNvPr>
          <p:cNvPicPr>
            <a:picLocks noChangeAspect="1"/>
          </p:cNvPicPr>
          <p:nvPr/>
        </p:nvPicPr>
        <p:blipFill>
          <a:blip r:embed="rId1"/>
          <a:stretch>
            <a:fillRect/>
          </a:stretch>
        </p:blipFill>
        <p:spPr>
          <a:xfrm>
            <a:off x="1007269" y="1564035"/>
            <a:ext cx="142875" cy="142875"/>
          </a:xfrm>
          <a:prstGeom prst="rect">
            <a:avLst/>
          </a:prstGeom>
        </p:spPr>
      </p:pic>
      <p:sp>
        <p:nvSpPr>
          <p:cNvPr id="6" name="Text 3"/>
          <p:cNvSpPr/>
          <p:nvPr/>
        </p:nvSpPr>
        <p:spPr>
          <a:xfrm>
            <a:off x="1221581" y="1581894"/>
            <a:ext cx="3518967" cy="126609"/>
          </a:xfrm>
          <a:prstGeom prst="rect">
            <a:avLst/>
          </a:prstGeom>
          <a:noFill/>
          <a:ln/>
        </p:spPr>
        <p:txBody>
          <a:bodyPr wrap="none" lIns="0" tIns="0" rIns="0" bIns="0" rtlCol="0" anchor="t"/>
          <a:lstStyle/>
          <a:p>
            <a:pPr algn="l" indent="0" marL="0">
              <a:buNone/>
            </a:pPr>
            <a:r>
              <a:rPr lang="en-US" sz="800" b="1" spc="59" kern="0" dirty="0">
                <a:solidFill>
                  <a:srgbClr val="1A1A1A"/>
                </a:solidFill>
                <a:latin typeface="Courier New" pitchFamily="34" charset="0"/>
                <a:ea typeface="Courier New" pitchFamily="34" charset="-122"/>
                <a:cs typeface="Courier New" pitchFamily="34" charset="-120"/>
              </a:rPr>
              <a:t>LICENSE</a:t>
            </a:r>
            <a:endParaRPr lang="en-US" sz="800" dirty="0"/>
          </a:p>
        </p:txBody>
      </p:sp>
      <p:sp>
        <p:nvSpPr>
          <p:cNvPr id="7" name="Text 4"/>
          <p:cNvSpPr/>
          <p:nvPr/>
        </p:nvSpPr>
        <p:spPr>
          <a:xfrm>
            <a:off x="4764149" y="1551462"/>
            <a:ext cx="327175" cy="168021"/>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8" name="Text 5"/>
          <p:cNvSpPr/>
          <p:nvPr/>
        </p:nvSpPr>
        <p:spPr>
          <a:xfrm>
            <a:off x="4776267" y="1560463"/>
            <a:ext cx="302940" cy="230429"/>
          </a:xfrm>
          <a:prstGeom prst="rect">
            <a:avLst/>
          </a:prstGeom>
          <a:noFill/>
          <a:ln/>
        </p:spPr>
        <p:txBody>
          <a:bodyPr wrap="none" lIns="71438" tIns="28575" rIns="71438" bIns="28575" rtlCol="0" anchor="t"/>
          <a:lstStyle/>
          <a:p>
            <a:pPr algn="l" indent="0" marL="0">
              <a:buNone/>
            </a:pPr>
            <a:r>
              <a:rPr lang="en-US" sz="800" b="1" spc="45" kern="0" dirty="0">
                <a:solidFill>
                  <a:srgbClr val="10B981"/>
                </a:solidFill>
                <a:latin typeface="Courier New" pitchFamily="34" charset="0"/>
                <a:ea typeface="Courier New" pitchFamily="34" charset="-122"/>
                <a:cs typeface="Courier New" pitchFamily="34" charset="-120"/>
              </a:rPr>
              <a:t>MIT</a:t>
            </a:r>
            <a:endParaRPr lang="en-US" sz="800" dirty="0"/>
          </a:p>
        </p:txBody>
      </p:sp>
      <p:sp>
        <p:nvSpPr>
          <p:cNvPr id="9" name="Text 6"/>
          <p:cNvSpPr/>
          <p:nvPr/>
        </p:nvSpPr>
        <p:spPr>
          <a:xfrm>
            <a:off x="1010841" y="1828354"/>
            <a:ext cx="4064794" cy="2171700"/>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sp>
        <p:nvSpPr>
          <p:cNvPr id="10" name="Text 7"/>
          <p:cNvSpPr/>
          <p:nvPr/>
        </p:nvSpPr>
        <p:spPr>
          <a:xfrm>
            <a:off x="1185863" y="2107629"/>
            <a:ext cx="648519" cy="119703"/>
          </a:xfrm>
          <a:prstGeom prst="rect">
            <a:avLst/>
          </a:prstGeom>
          <a:noFill/>
          <a:ln/>
        </p:spPr>
        <p:txBody>
          <a:bodyPr wrap="none" lIns="0" tIns="0" rIns="0" bIns="0" rtlCol="0" anchor="t"/>
          <a:lstStyle/>
          <a:p>
            <a:pPr algn="l" indent="0" marL="0">
              <a:lnSpc>
                <a:spcPts val="1176"/>
              </a:lnSpc>
              <a:buNone/>
            </a:pPr>
            <a:r>
              <a:rPr lang="en-US" sz="619" b="1" dirty="0">
                <a:solidFill>
                  <a:srgbClr val="1A1A1A"/>
                </a:solidFill>
                <a:latin typeface="Courier New" pitchFamily="34" charset="0"/>
                <a:ea typeface="Courier New" pitchFamily="34" charset="-122"/>
                <a:cs typeface="Courier New" pitchFamily="34" charset="-120"/>
              </a:rPr>
              <a:t>MIT License</a:t>
            </a:r>
            <a:endParaRPr lang="en-US" sz="619" dirty="0"/>
          </a:p>
        </p:txBody>
      </p:sp>
      <p:sp>
        <p:nvSpPr>
          <p:cNvPr id="11" name="Text 8"/>
          <p:cNvSpPr/>
          <p:nvPr/>
        </p:nvSpPr>
        <p:spPr>
          <a:xfrm>
            <a:off x="1185863" y="2332546"/>
            <a:ext cx="3824478" cy="208390"/>
          </a:xfrm>
          <a:prstGeom prst="rect">
            <a:avLst/>
          </a:prstGeom>
          <a:noFill/>
          <a:ln/>
        </p:spPr>
        <p:txBody>
          <a:bodyPr wrap="none" lIns="0" tIns="0" rIns="0" bIns="0" rtlCol="0" anchor="t"/>
          <a:lstStyle/>
          <a:p>
            <a:pPr algn="l" indent="0" marL="0">
              <a:lnSpc>
                <a:spcPts val="1176"/>
              </a:lnSpc>
              <a:buNone/>
            </a:pPr>
            <a:r>
              <a:rPr lang="en-US" sz="800" dirty="0">
                <a:solidFill>
                  <a:srgbClr val="6B6B6B"/>
                </a:solidFill>
                <a:latin typeface="Liberation Sans Narrow" pitchFamily="34" charset="0"/>
                <a:ea typeface="Liberation Sans Narrow" pitchFamily="34" charset="-122"/>
                <a:cs typeface="Liberation Sans Narrow" pitchFamily="34" charset="-120"/>
              </a:rPr>
              <a:t>Copyright (c) 2026 </a:t>
            </a:r>
            <a:pPr algn="l" indent="0" marL="0">
              <a:lnSpc>
                <a:spcPts val="1176"/>
              </a:lnSpc>
              <a:buNone/>
            </a:pPr>
            <a:r>
              <a:rPr lang="en-US" sz="800" dirty="0">
                <a:solidFill>
                  <a:srgbClr val="1A1A1A"/>
                </a:solidFill>
                <a:latin typeface="Courier New" pitchFamily="34" charset="0"/>
                <a:ea typeface="Courier New" pitchFamily="34" charset="-122"/>
                <a:cs typeface="Courier New" pitchFamily="34" charset="-120"/>
              </a:rPr>
              <a:t>RepoScope contributors</a:t>
            </a:r>
            <a:endParaRPr lang="en-US" sz="800" dirty="0"/>
          </a:p>
        </p:txBody>
      </p:sp>
      <p:sp>
        <p:nvSpPr>
          <p:cNvPr id="12" name="Text 9"/>
          <p:cNvSpPr/>
          <p:nvPr/>
        </p:nvSpPr>
        <p:spPr>
          <a:xfrm>
            <a:off x="1185863" y="2839529"/>
            <a:ext cx="3824478" cy="208390"/>
          </a:xfrm>
          <a:prstGeom prst="rect">
            <a:avLst/>
          </a:prstGeom>
          <a:noFill/>
          <a:ln/>
        </p:spPr>
        <p:txBody>
          <a:bodyPr wrap="none" lIns="0" tIns="0" rIns="0" bIns="0" rtlCol="0" anchor="t"/>
          <a:lstStyle/>
          <a:p>
            <a:pPr algn="l" indent="0" marL="0">
              <a:lnSpc>
                <a:spcPts val="1176"/>
              </a:lnSpc>
              <a:buNone/>
            </a:pPr>
            <a:r>
              <a:rPr lang="en-US" sz="800" dirty="0">
                <a:solidFill>
                  <a:srgbClr val="6B6B6B"/>
                </a:solidFill>
                <a:latin typeface="Courier New" pitchFamily="34" charset="0"/>
                <a:ea typeface="Courier New" pitchFamily="34" charset="-122"/>
                <a:cs typeface="Courier New" pitchFamily="34" charset="-120"/>
              </a:rPr>
              <a:t>Permission is hereby granted, </a:t>
            </a:r>
            <a:pPr algn="l" indent="0" marL="0">
              <a:lnSpc>
                <a:spcPts val="1176"/>
              </a:lnSpc>
              <a:buNone/>
            </a:pPr>
            <a:r>
              <a:rPr lang="en-US" sz="800" dirty="0">
                <a:solidFill>
                  <a:srgbClr val="1A1A1A"/>
                </a:solidFill>
                <a:latin typeface="Courier New" pitchFamily="34" charset="0"/>
                <a:ea typeface="Courier New" pitchFamily="34" charset="-122"/>
                <a:cs typeface="Courier New" pitchFamily="34" charset="-120"/>
              </a:rPr>
              <a:t>free of charge,</a:t>
            </a:r>
            <a:endParaRPr lang="en-US" sz="800" dirty="0"/>
          </a:p>
        </p:txBody>
      </p:sp>
      <p:sp>
        <p:nvSpPr>
          <p:cNvPr id="13" name="Text 10"/>
          <p:cNvSpPr/>
          <p:nvPr/>
        </p:nvSpPr>
        <p:spPr>
          <a:xfrm>
            <a:off x="1185863" y="3093132"/>
            <a:ext cx="3824478" cy="208390"/>
          </a:xfrm>
          <a:prstGeom prst="rect">
            <a:avLst/>
          </a:prstGeom>
          <a:noFill/>
          <a:ln/>
        </p:spPr>
        <p:txBody>
          <a:bodyPr wrap="none" lIns="0" tIns="0" rIns="0" bIns="0" rtlCol="0" anchor="t"/>
          <a:lstStyle/>
          <a:p>
            <a:pPr algn="l" indent="0" marL="0">
              <a:lnSpc>
                <a:spcPts val="1176"/>
              </a:lnSpc>
              <a:buNone/>
            </a:pPr>
            <a:r>
              <a:rPr lang="en-US" sz="800" dirty="0">
                <a:solidFill>
                  <a:srgbClr val="6B6B6B"/>
                </a:solidFill>
                <a:latin typeface="Courier New" pitchFamily="34" charset="0"/>
                <a:ea typeface="Courier New" pitchFamily="34" charset="-122"/>
                <a:cs typeface="Courier New" pitchFamily="34" charset="-120"/>
              </a:rPr>
              <a:t>to any person obtaining a copy of this software…</a:t>
            </a:r>
            <a:endParaRPr lang="en-US" sz="800" dirty="0"/>
          </a:p>
        </p:txBody>
      </p:sp>
      <p:sp>
        <p:nvSpPr>
          <p:cNvPr id="14" name="Text 11"/>
          <p:cNvSpPr/>
          <p:nvPr/>
        </p:nvSpPr>
        <p:spPr>
          <a:xfrm>
            <a:off x="1185863" y="3346624"/>
            <a:ext cx="3824478" cy="208390"/>
          </a:xfrm>
          <a:prstGeom prst="rect">
            <a:avLst/>
          </a:prstGeom>
          <a:noFill/>
          <a:ln/>
        </p:spPr>
        <p:txBody>
          <a:bodyPr wrap="none" lIns="0" tIns="0" rIns="0" bIns="0" rtlCol="0" anchor="t"/>
          <a:lstStyle/>
          <a:p>
            <a:pPr algn="l" indent="0" marL="0">
              <a:lnSpc>
                <a:spcPts val="1176"/>
              </a:lnSpc>
              <a:buNone/>
            </a:pPr>
            <a:r>
              <a:rPr lang="en-US" sz="800" dirty="0">
                <a:solidFill>
                  <a:srgbClr val="6B6B6B"/>
                </a:solidFill>
                <a:latin typeface="Courier New" pitchFamily="34" charset="0"/>
                <a:ea typeface="Courier New" pitchFamily="34" charset="-122"/>
                <a:cs typeface="Courier New" pitchFamily="34" charset="-120"/>
              </a:rPr>
              <a:t>…</a:t>
            </a:r>
            <a:pPr algn="l" indent="0" marL="0">
              <a:lnSpc>
                <a:spcPts val="1176"/>
              </a:lnSpc>
              <a:buNone/>
            </a:pPr>
            <a:r>
              <a:rPr lang="en-US" sz="800" dirty="0">
                <a:solidFill>
                  <a:srgbClr val="1A1A1A"/>
                </a:solidFill>
                <a:latin typeface="Courier New" pitchFamily="34" charset="0"/>
                <a:ea typeface="Courier New" pitchFamily="34" charset="-122"/>
                <a:cs typeface="Courier New" pitchFamily="34" charset="-120"/>
              </a:rPr>
              <a:t>use, copy, modify, merge, publish, distribute,</a:t>
            </a:r>
            <a:endParaRPr lang="en-US" sz="800" dirty="0"/>
          </a:p>
        </p:txBody>
      </p:sp>
      <p:sp>
        <p:nvSpPr>
          <p:cNvPr id="15" name="Text 12"/>
          <p:cNvSpPr/>
          <p:nvPr/>
        </p:nvSpPr>
        <p:spPr>
          <a:xfrm>
            <a:off x="1185863" y="3628690"/>
            <a:ext cx="1578854" cy="119703"/>
          </a:xfrm>
          <a:prstGeom prst="rect">
            <a:avLst/>
          </a:prstGeom>
          <a:noFill/>
          <a:ln/>
        </p:spPr>
        <p:txBody>
          <a:bodyPr wrap="none" lIns="0" tIns="0" rIns="0" bIns="0" rtlCol="0" anchor="t"/>
          <a:lstStyle/>
          <a:p>
            <a:pPr algn="l" indent="0" marL="0">
              <a:lnSpc>
                <a:spcPts val="1176"/>
              </a:lnSpc>
              <a:buNone/>
            </a:pPr>
            <a:r>
              <a:rPr lang="en-US" sz="619" dirty="0">
                <a:solidFill>
                  <a:srgbClr val="1A1A1A"/>
                </a:solidFill>
                <a:latin typeface="Courier New" pitchFamily="34" charset="0"/>
                <a:ea typeface="Courier New" pitchFamily="34" charset="-122"/>
                <a:cs typeface="Courier New" pitchFamily="34" charset="-120"/>
              </a:rPr>
              <a:t>sublicense, and/or sell copies…</a:t>
            </a:r>
            <a:endParaRPr lang="en-US" sz="619" dirty="0"/>
          </a:p>
        </p:txBody>
      </p:sp>
      <p:sp>
        <p:nvSpPr>
          <p:cNvPr id="16" name="Text 13"/>
          <p:cNvSpPr/>
          <p:nvPr/>
        </p:nvSpPr>
        <p:spPr>
          <a:xfrm>
            <a:off x="5577840" y="2158452"/>
            <a:ext cx="1064597" cy="275634"/>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7" name="Text 14"/>
          <p:cNvSpPr/>
          <p:nvPr/>
        </p:nvSpPr>
        <p:spPr>
          <a:xfrm>
            <a:off x="5722144" y="2274838"/>
            <a:ext cx="42863" cy="42863"/>
          </a:xfrm>
          <a:prstGeom prst="roundRect">
            <a:avLst>
              <a:gd name="adj" fmla="val 66666"/>
            </a:avLst>
          </a:prstGeom>
          <a:solidFill>
            <a:srgbClr val="10B981"/>
          </a:solidFill>
          <a:ln/>
        </p:spPr>
        <p:txBody>
          <a:bodyPr wrap="square" rtlCol="0" anchor="ctr"/>
          <a:lstStyle/>
          <a:p>
            <a:pPr indent="0" marL="0">
              <a:buNone/>
            </a:pPr>
            <a:endParaRPr lang="en-US" dirty="0"/>
          </a:p>
        </p:txBody>
      </p:sp>
      <p:sp>
        <p:nvSpPr>
          <p:cNvPr id="18" name="Text 15"/>
          <p:cNvSpPr/>
          <p:nvPr/>
        </p:nvSpPr>
        <p:spPr>
          <a:xfrm>
            <a:off x="5600700" y="2171254"/>
            <a:ext cx="1018877" cy="250031"/>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free to fork</a:t>
            </a:r>
            <a:endParaRPr lang="en-US" sz="800" dirty="0"/>
          </a:p>
        </p:txBody>
      </p:sp>
      <p:sp>
        <p:nvSpPr>
          <p:cNvPr id="19" name="Text 16"/>
          <p:cNvSpPr/>
          <p:nvPr/>
        </p:nvSpPr>
        <p:spPr>
          <a:xfrm>
            <a:off x="5577840" y="2508496"/>
            <a:ext cx="1064597" cy="275634"/>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0" name="Text 17"/>
          <p:cNvSpPr/>
          <p:nvPr/>
        </p:nvSpPr>
        <p:spPr>
          <a:xfrm>
            <a:off x="5722144" y="2624882"/>
            <a:ext cx="42863" cy="42863"/>
          </a:xfrm>
          <a:prstGeom prst="roundRect">
            <a:avLst>
              <a:gd name="adj" fmla="val 66666"/>
            </a:avLst>
          </a:prstGeom>
          <a:solidFill>
            <a:srgbClr val="10B981"/>
          </a:solidFill>
          <a:ln/>
        </p:spPr>
        <p:txBody>
          <a:bodyPr wrap="square" rtlCol="0" anchor="ctr"/>
          <a:lstStyle/>
          <a:p>
            <a:pPr indent="0" marL="0">
              <a:buNone/>
            </a:pPr>
            <a:endParaRPr lang="en-US" dirty="0"/>
          </a:p>
        </p:txBody>
      </p:sp>
      <p:sp>
        <p:nvSpPr>
          <p:cNvPr id="21" name="Text 18"/>
          <p:cNvSpPr/>
          <p:nvPr/>
        </p:nvSpPr>
        <p:spPr>
          <a:xfrm>
            <a:off x="5600700" y="2521297"/>
            <a:ext cx="1018877" cy="250031"/>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free to ship</a:t>
            </a:r>
            <a:endParaRPr lang="en-US" sz="800" dirty="0"/>
          </a:p>
        </p:txBody>
      </p:sp>
      <p:sp>
        <p:nvSpPr>
          <p:cNvPr id="22" name="Text 19"/>
          <p:cNvSpPr/>
          <p:nvPr/>
        </p:nvSpPr>
        <p:spPr>
          <a:xfrm>
            <a:off x="5577840" y="2858539"/>
            <a:ext cx="1064597" cy="275634"/>
          </a:xfrm>
          <a:prstGeom prst="rect">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3" name="Text 20"/>
          <p:cNvSpPr/>
          <p:nvPr/>
        </p:nvSpPr>
        <p:spPr>
          <a:xfrm>
            <a:off x="5722144" y="2974925"/>
            <a:ext cx="42863" cy="42863"/>
          </a:xfrm>
          <a:prstGeom prst="roundRect">
            <a:avLst>
              <a:gd name="adj" fmla="val 66666"/>
            </a:avLst>
          </a:prstGeom>
          <a:solidFill>
            <a:srgbClr val="10B981"/>
          </a:solidFill>
          <a:ln/>
        </p:spPr>
        <p:txBody>
          <a:bodyPr wrap="square" rtlCol="0" anchor="ctr"/>
          <a:lstStyle/>
          <a:p>
            <a:pPr indent="0" marL="0">
              <a:buNone/>
            </a:pPr>
            <a:endParaRPr lang="en-US" dirty="0"/>
          </a:p>
        </p:txBody>
      </p:sp>
      <p:sp>
        <p:nvSpPr>
          <p:cNvPr id="24" name="Text 21"/>
          <p:cNvSpPr/>
          <p:nvPr/>
        </p:nvSpPr>
        <p:spPr>
          <a:xfrm>
            <a:off x="5600700" y="2871341"/>
            <a:ext cx="1018877" cy="250031"/>
          </a:xfrm>
          <a:prstGeom prst="rect">
            <a:avLst/>
          </a:prstGeom>
          <a:noFill/>
          <a:ln/>
        </p:spPr>
        <p:txBody>
          <a:bodyPr wrap="none" lIns="0" tIns="0" rIns="0" bIns="0" rtlCol="0" anchor="ctr"/>
          <a:lstStyle/>
          <a:p>
            <a:pPr algn="ctr" indent="0" marL="0">
              <a:buNone/>
            </a:pPr>
            <a:r>
              <a:rPr lang="en-US" sz="800" dirty="0">
                <a:solidFill>
                  <a:srgbClr val="1A1A1A"/>
                </a:solidFill>
                <a:latin typeface="Courier New" pitchFamily="34" charset="0"/>
                <a:ea typeface="Courier New" pitchFamily="34" charset="-122"/>
                <a:cs typeface="Courier New" pitchFamily="34" charset="-120"/>
              </a:rPr>
              <a:t>free to extend</a:t>
            </a:r>
            <a:endParaRPr lang="en-US" sz="800" dirty="0"/>
          </a:p>
        </p:txBody>
      </p:sp>
      <p:sp>
        <p:nvSpPr>
          <p:cNvPr id="25" name="Text 22"/>
          <p:cNvSpPr/>
          <p:nvPr/>
        </p:nvSpPr>
        <p:spPr>
          <a:xfrm>
            <a:off x="5600700" y="3307110"/>
            <a:ext cx="2452204" cy="119703"/>
          </a:xfrm>
          <a:prstGeom prst="rect">
            <a:avLst/>
          </a:prstGeom>
          <a:noFill/>
          <a:ln/>
        </p:spPr>
        <p:txBody>
          <a:bodyPr wrap="square" lIns="0" tIns="0" rIns="0" bIns="0" rtlCol="0" anchor="t"/>
          <a:lstStyle/>
          <a:p>
            <a:pPr algn="l" indent="0" marL="0">
              <a:buNone/>
            </a:pPr>
            <a:r>
              <a:rPr lang="en-US" sz="619" b="1" dirty="0">
                <a:solidFill>
                  <a:srgbClr val="10B981"/>
                </a:solidFill>
                <a:latin typeface="Courier New" pitchFamily="34" charset="0"/>
                <a:ea typeface="Courier New" pitchFamily="34" charset="-122"/>
                <a:cs typeface="Courier New" pitchFamily="34" charset="-120"/>
              </a:rPr>
              <a:t>github.com/&lt;your-handle&gt;/reposcope/blob/main/LICENSE</a:t>
            </a:r>
            <a:endParaRPr lang="en-US" sz="619" dirty="0"/>
          </a:p>
        </p:txBody>
      </p:sp>
      <p:sp>
        <p:nvSpPr>
          <p:cNvPr id="26" name="Text 23"/>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4346972" y="965522"/>
            <a:ext cx="450056" cy="450056"/>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3" name="Image 0" descr="/tmp/h2p-svg-1790773509363-7ff04m.png">    </p:cNvPr>
          <p:cNvPicPr>
            <a:picLocks noChangeAspect="1"/>
          </p:cNvPicPr>
          <p:nvPr/>
        </p:nvPicPr>
        <p:blipFill>
          <a:blip r:embed="rId1"/>
          <a:stretch>
            <a:fillRect/>
          </a:stretch>
        </p:blipFill>
        <p:spPr>
          <a:xfrm>
            <a:off x="4350544" y="969094"/>
            <a:ext cx="457200" cy="457200"/>
          </a:xfrm>
          <a:prstGeom prst="rect">
            <a:avLst/>
          </a:prstGeom>
        </p:spPr>
      </p:pic>
      <p:sp>
        <p:nvSpPr>
          <p:cNvPr id="4" name="Text 1"/>
          <p:cNvSpPr/>
          <p:nvPr/>
        </p:nvSpPr>
        <p:spPr>
          <a:xfrm>
            <a:off x="4386263" y="997312"/>
            <a:ext cx="135843" cy="140018"/>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5" name="Text 2"/>
          <p:cNvSpPr/>
          <p:nvPr/>
        </p:nvSpPr>
        <p:spPr>
          <a:xfrm>
            <a:off x="4386263" y="1004813"/>
            <a:ext cx="135843" cy="125016"/>
          </a:xfrm>
          <a:prstGeom prst="rect">
            <a:avLst/>
          </a:prstGeom>
          <a:noFill/>
          <a:ln/>
        </p:spPr>
        <p:txBody>
          <a:bodyPr wrap="none" lIns="0" tIns="0" rIns="0" bIns="0" rtlCol="0" anchor="ctr"/>
          <a:lstStyle/>
          <a:p>
            <a:pPr algn="ctr" indent="0" marL="0">
              <a:lnSpc>
                <a:spcPts val="422"/>
              </a:lnSpc>
              <a:buNone/>
            </a:pPr>
            <a:r>
              <a:rPr lang="en-US" sz="800" b="1" dirty="0">
                <a:solidFill>
                  <a:srgbClr val="1A1A1A"/>
                </a:solidFill>
                <a:latin typeface="Courier New" pitchFamily="34" charset="0"/>
                <a:ea typeface="Courier New" pitchFamily="34" charset="-122"/>
                <a:cs typeface="Courier New" pitchFamily="34" charset="-120"/>
              </a:rPr>
              <a:t>ui</a:t>
            </a:r>
            <a:endParaRPr lang="en-US" sz="800" dirty="0"/>
          </a:p>
        </p:txBody>
      </p:sp>
      <p:sp>
        <p:nvSpPr>
          <p:cNvPr id="6" name="Text 3"/>
          <p:cNvSpPr/>
          <p:nvPr/>
        </p:nvSpPr>
        <p:spPr>
          <a:xfrm>
            <a:off x="4586288" y="997312"/>
            <a:ext cx="200137" cy="140018"/>
          </a:xfrm>
          <a:prstGeom prst="rect">
            <a:avLst/>
          </a:prstGeom>
          <a:solidFill>
            <a:srgbClr val="D4AF37">
              <a:alpha val="16000"/>
            </a:srgbClr>
          </a:solidFill>
          <a:ln w="7144">
            <a:solidFill>
              <a:srgbClr val="A16207"/>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7" name="Text 4"/>
          <p:cNvSpPr/>
          <p:nvPr/>
        </p:nvSpPr>
        <p:spPr>
          <a:xfrm>
            <a:off x="4586288" y="1004813"/>
            <a:ext cx="200137" cy="125016"/>
          </a:xfrm>
          <a:prstGeom prst="rect">
            <a:avLst/>
          </a:prstGeom>
          <a:noFill/>
          <a:ln/>
        </p:spPr>
        <p:txBody>
          <a:bodyPr wrap="none" lIns="0" tIns="0" rIns="0" bIns="0" rtlCol="0" anchor="ctr"/>
          <a:lstStyle/>
          <a:p>
            <a:pPr algn="ctr" indent="0" marL="0">
              <a:lnSpc>
                <a:spcPts val="422"/>
              </a:lnSpc>
              <a:buNone/>
            </a:pPr>
            <a:r>
              <a:rPr lang="en-US" sz="800" b="1" dirty="0">
                <a:solidFill>
                  <a:srgbClr val="A16207"/>
                </a:solidFill>
                <a:latin typeface="Courier New" pitchFamily="34" charset="0"/>
                <a:ea typeface="Courier New" pitchFamily="34" charset="-122"/>
                <a:cs typeface="Courier New" pitchFamily="34" charset="-120"/>
              </a:rPr>
              <a:t>auth</a:t>
            </a:r>
            <a:endParaRPr lang="en-US" sz="800" dirty="0"/>
          </a:p>
        </p:txBody>
      </p:sp>
      <p:sp>
        <p:nvSpPr>
          <p:cNvPr id="8" name="Text 5"/>
          <p:cNvSpPr/>
          <p:nvPr/>
        </p:nvSpPr>
        <p:spPr>
          <a:xfrm>
            <a:off x="4475302" y="1140187"/>
            <a:ext cx="189935" cy="140018"/>
          </a:xfrm>
          <a:prstGeom prst="rect">
            <a:avLst/>
          </a:prstGeom>
          <a:solidFill>
            <a:srgbClr val="10B981">
              <a:alpha val="10000"/>
            </a:srgbClr>
          </a:solidFill>
          <a:ln w="7144">
            <a:solidFill>
              <a:srgbClr val="10B981"/>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9" name="Text 6"/>
          <p:cNvSpPr/>
          <p:nvPr/>
        </p:nvSpPr>
        <p:spPr>
          <a:xfrm>
            <a:off x="4486275" y="1147688"/>
            <a:ext cx="167990" cy="125016"/>
          </a:xfrm>
          <a:prstGeom prst="rect">
            <a:avLst/>
          </a:prstGeom>
          <a:noFill/>
          <a:ln/>
        </p:spPr>
        <p:txBody>
          <a:bodyPr wrap="none" lIns="0" tIns="0" rIns="0" bIns="0" rtlCol="0" anchor="ctr"/>
          <a:lstStyle/>
          <a:p>
            <a:pPr algn="ctr" indent="0" marL="0">
              <a:lnSpc>
                <a:spcPts val="422"/>
              </a:lnSpc>
              <a:buNone/>
            </a:pPr>
            <a:r>
              <a:rPr lang="en-US" sz="800" b="1" dirty="0">
                <a:solidFill>
                  <a:srgbClr val="10B981"/>
                </a:solidFill>
                <a:latin typeface="Courier New" pitchFamily="34" charset="0"/>
                <a:ea typeface="Courier New" pitchFamily="34" charset="-122"/>
                <a:cs typeface="Courier New" pitchFamily="34" charset="-120"/>
              </a:rPr>
              <a:t>api</a:t>
            </a:r>
            <a:endParaRPr lang="en-US" sz="800" dirty="0"/>
          </a:p>
        </p:txBody>
      </p:sp>
      <p:sp>
        <p:nvSpPr>
          <p:cNvPr id="10" name="Text 7"/>
          <p:cNvSpPr/>
          <p:nvPr/>
        </p:nvSpPr>
        <p:spPr>
          <a:xfrm>
            <a:off x="4386263" y="1290206"/>
            <a:ext cx="135843" cy="140018"/>
          </a:xfrm>
          <a:prstGeom prst="rect">
            <a:avLst/>
          </a:prstGeom>
          <a:solidFill>
            <a:srgbClr val="10B981">
              <a:alpha val="10000"/>
            </a:srgbClr>
          </a:solidFill>
          <a:ln w="7144">
            <a:solidFill>
              <a:srgbClr val="10B981"/>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11" name="Text 8"/>
          <p:cNvSpPr/>
          <p:nvPr/>
        </p:nvSpPr>
        <p:spPr>
          <a:xfrm>
            <a:off x="4386263" y="1297707"/>
            <a:ext cx="135843" cy="114300"/>
          </a:xfrm>
          <a:prstGeom prst="rect">
            <a:avLst/>
          </a:prstGeom>
          <a:noFill/>
          <a:ln/>
        </p:spPr>
        <p:txBody>
          <a:bodyPr wrap="none" lIns="0" tIns="0" rIns="0" bIns="0" rtlCol="0" anchor="ctr"/>
          <a:lstStyle/>
          <a:p>
            <a:pPr algn="ctr" indent="0" marL="0">
              <a:lnSpc>
                <a:spcPts val="422"/>
              </a:lnSpc>
              <a:buNone/>
            </a:pPr>
            <a:r>
              <a:rPr lang="en-US" sz="800" b="1" dirty="0">
                <a:solidFill>
                  <a:srgbClr val="10B981"/>
                </a:solidFill>
                <a:latin typeface="Courier New" pitchFamily="34" charset="0"/>
                <a:ea typeface="Courier New" pitchFamily="34" charset="-122"/>
                <a:cs typeface="Courier New" pitchFamily="34" charset="-120"/>
              </a:rPr>
              <a:t>db</a:t>
            </a:r>
            <a:endParaRPr lang="en-US" sz="800" dirty="0"/>
          </a:p>
        </p:txBody>
      </p:sp>
      <p:sp>
        <p:nvSpPr>
          <p:cNvPr id="12" name="Text 9"/>
          <p:cNvSpPr/>
          <p:nvPr/>
        </p:nvSpPr>
        <p:spPr>
          <a:xfrm>
            <a:off x="4622006" y="1290206"/>
            <a:ext cx="167990" cy="140018"/>
          </a:xfrm>
          <a:prstGeom prst="rect">
            <a:avLst/>
          </a:prstGeom>
          <a:solidFill>
            <a:srgbClr val="FFFFFF"/>
          </a:solidFill>
          <a:ln w="7144">
            <a:solidFill>
              <a:srgbClr val="1A1A1A"/>
            </a:solidFill>
            <a:prstDash val="solid"/>
          </a:ln>
          <a:effectLst>
            <a:outerShdw sx="100000" sy="100000" kx="0" ky="0" algn="bl" rotWithShape="0" blurRad="101600" dist="26941" dir="2700000">
              <a:srgbClr val="1A1A1A">
                <a:alpha val="50000"/>
              </a:srgbClr>
            </a:outerShdw>
          </a:effectLst>
        </p:spPr>
        <p:txBody>
          <a:bodyPr wrap="square" rtlCol="0" anchor="ctr"/>
          <a:lstStyle/>
          <a:p>
            <a:pPr indent="0" marL="0">
              <a:buNone/>
            </a:pPr>
            <a:endParaRPr lang="en-US" dirty="0"/>
          </a:p>
        </p:txBody>
      </p:sp>
      <p:sp>
        <p:nvSpPr>
          <p:cNvPr id="13" name="Text 10"/>
          <p:cNvSpPr/>
          <p:nvPr/>
        </p:nvSpPr>
        <p:spPr>
          <a:xfrm>
            <a:off x="4622006" y="1297707"/>
            <a:ext cx="167990" cy="114300"/>
          </a:xfrm>
          <a:prstGeom prst="rect">
            <a:avLst/>
          </a:prstGeom>
          <a:noFill/>
          <a:ln/>
        </p:spPr>
        <p:txBody>
          <a:bodyPr wrap="none" lIns="0" tIns="0" rIns="0" bIns="0" rtlCol="0" anchor="ctr"/>
          <a:lstStyle/>
          <a:p>
            <a:pPr algn="ctr" indent="0" marL="0">
              <a:lnSpc>
                <a:spcPts val="422"/>
              </a:lnSpc>
              <a:buNone/>
            </a:pPr>
            <a:r>
              <a:rPr lang="en-US" sz="800" b="1" dirty="0">
                <a:solidFill>
                  <a:srgbClr val="1A1A1A"/>
                </a:solidFill>
                <a:latin typeface="Courier New" pitchFamily="34" charset="0"/>
                <a:ea typeface="Courier New" pitchFamily="34" charset="-122"/>
                <a:cs typeface="Courier New" pitchFamily="34" charset="-120"/>
              </a:rPr>
              <a:t>llm</a:t>
            </a:r>
            <a:endParaRPr lang="en-US" sz="800" dirty="0"/>
          </a:p>
        </p:txBody>
      </p:sp>
      <p:sp>
        <p:nvSpPr>
          <p:cNvPr id="14" name="Text 11"/>
          <p:cNvSpPr/>
          <p:nvPr/>
        </p:nvSpPr>
        <p:spPr>
          <a:xfrm>
            <a:off x="274320" y="1604888"/>
            <a:ext cx="8595248" cy="337060"/>
          </a:xfrm>
          <a:prstGeom prst="rect">
            <a:avLst/>
          </a:prstGeom>
          <a:noFill/>
          <a:ln/>
        </p:spPr>
        <p:txBody>
          <a:bodyPr wrap="none" lIns="0" tIns="0" rIns="0" bIns="0" rtlCol="0" anchor="t"/>
          <a:lstStyle/>
          <a:p>
            <a:pPr algn="ctr"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Try RepoScope</a:t>
            </a:r>
            <a:endParaRPr lang="en-US" sz="2138" dirty="0"/>
          </a:p>
        </p:txBody>
      </p:sp>
      <p:sp>
        <p:nvSpPr>
          <p:cNvPr id="15" name="Text 12"/>
          <p:cNvSpPr/>
          <p:nvPr/>
        </p:nvSpPr>
        <p:spPr>
          <a:xfrm>
            <a:off x="3662444" y="2016993"/>
            <a:ext cx="1819111" cy="164592"/>
          </a:xfrm>
          <a:prstGeom prst="rect">
            <a:avLst/>
          </a:prstGeom>
          <a:noFill/>
          <a:ln/>
        </p:spPr>
        <p:txBody>
          <a:bodyPr wrap="square" lIns="0" tIns="0" rIns="0" bIns="0" rtlCol="0" anchor="t"/>
          <a:lstStyle/>
          <a:p>
            <a:pPr algn="ctr" indent="0" marL="0">
              <a:lnSpc>
                <a:spcPts val="1181"/>
              </a:lnSpc>
              <a:buNone/>
            </a:pPr>
            <a:r>
              <a:rPr lang="en-US" sz="788" dirty="0">
                <a:solidFill>
                  <a:srgbClr val="6B6B6B"/>
                </a:solidFill>
                <a:latin typeface="Carlito" pitchFamily="34" charset="0"/>
                <a:ea typeface="Carlito" pitchFamily="34" charset="-122"/>
                <a:cs typeface="Carlito" pitchFamily="34" charset="-120"/>
              </a:rPr>
              <a:t>See your repo. Understand it. Track it.</a:t>
            </a:r>
            <a:endParaRPr lang="en-US" sz="788" dirty="0"/>
          </a:p>
        </p:txBody>
      </p:sp>
      <p:sp>
        <p:nvSpPr>
          <p:cNvPr id="16" name="Text 13"/>
          <p:cNvSpPr/>
          <p:nvPr/>
        </p:nvSpPr>
        <p:spPr>
          <a:xfrm>
            <a:off x="760809" y="2470621"/>
            <a:ext cx="2421731" cy="105013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17" name="Image 1" descr="/tmp/h2p-svg-1790773509363-9t0jn9.png">    </p:cNvPr>
          <p:cNvPicPr>
            <a:picLocks noChangeAspect="1"/>
          </p:cNvPicPr>
          <p:nvPr/>
        </p:nvPicPr>
        <p:blipFill>
          <a:blip r:embed="rId2"/>
          <a:stretch>
            <a:fillRect/>
          </a:stretch>
        </p:blipFill>
        <p:spPr>
          <a:xfrm>
            <a:off x="1885950" y="2734940"/>
            <a:ext cx="171450" cy="171450"/>
          </a:xfrm>
          <a:prstGeom prst="rect">
            <a:avLst/>
          </a:prstGeom>
        </p:spPr>
      </p:pic>
      <p:sp>
        <p:nvSpPr>
          <p:cNvPr id="18" name="Text 14"/>
          <p:cNvSpPr/>
          <p:nvPr/>
        </p:nvSpPr>
        <p:spPr>
          <a:xfrm>
            <a:off x="1754881" y="2992115"/>
            <a:ext cx="433588" cy="125403"/>
          </a:xfrm>
          <a:prstGeom prst="rect">
            <a:avLst/>
          </a:prstGeom>
          <a:noFill/>
          <a:ln/>
        </p:spPr>
        <p:txBody>
          <a:bodyPr wrap="none" lIns="0" tIns="0" rIns="0" bIns="0" rtlCol="0" anchor="t"/>
          <a:lstStyle/>
          <a:p>
            <a:pPr algn="ctr" indent="0" marL="0">
              <a:buNone/>
            </a:pPr>
            <a:r>
              <a:rPr lang="en-US" sz="800" b="1" dirty="0">
                <a:solidFill>
                  <a:srgbClr val="1A1A1A"/>
                </a:solidFill>
                <a:latin typeface="Carlito" pitchFamily="34" charset="0"/>
                <a:ea typeface="Carlito" pitchFamily="34" charset="-122"/>
                <a:cs typeface="Carlito" pitchFamily="34" charset="-120"/>
              </a:rPr>
              <a:t>GitHub</a:t>
            </a:r>
            <a:endParaRPr lang="en-US" sz="800" dirty="0"/>
          </a:p>
        </p:txBody>
      </p:sp>
      <p:sp>
        <p:nvSpPr>
          <p:cNvPr id="19" name="Text 15"/>
          <p:cNvSpPr/>
          <p:nvPr/>
        </p:nvSpPr>
        <p:spPr>
          <a:xfrm>
            <a:off x="929880" y="3156421"/>
            <a:ext cx="2083479" cy="122895"/>
          </a:xfrm>
          <a:prstGeom prst="rect">
            <a:avLst/>
          </a:prstGeom>
          <a:noFill/>
          <a:ln/>
        </p:spPr>
        <p:txBody>
          <a:bodyPr wrap="none" lIns="0" tIns="0" rIns="0" bIns="0" rtlCol="0" anchor="t"/>
          <a:lstStyle/>
          <a:p>
            <a:pPr algn="ctr" indent="0" marL="0">
              <a:buNone/>
            </a:pPr>
            <a:r>
              <a:rPr lang="en-US" sz="703" b="1" dirty="0">
                <a:solidFill>
                  <a:srgbClr val="10B981"/>
                </a:solidFill>
                <a:latin typeface="Liberation Sans Narrow" pitchFamily="34" charset="0"/>
                <a:ea typeface="Liberation Sans Narrow" pitchFamily="34" charset="-122"/>
                <a:cs typeface="Liberation Sans Narrow" pitchFamily="34" charset="-120"/>
              </a:rPr>
              <a:t>github.com/adityapatel5912/RepoScope</a:t>
            </a:r>
            <a:endParaRPr lang="en-US" sz="703" dirty="0"/>
          </a:p>
        </p:txBody>
      </p:sp>
      <p:sp>
        <p:nvSpPr>
          <p:cNvPr id="20" name="Text 16"/>
          <p:cNvSpPr/>
          <p:nvPr/>
        </p:nvSpPr>
        <p:spPr>
          <a:xfrm>
            <a:off x="3361134" y="2470621"/>
            <a:ext cx="2421731" cy="105013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21" name="Image 2" descr="/tmp/h2p-svg-1790773509363-71y0g8.png">    </p:cNvPr>
          <p:cNvPicPr>
            <a:picLocks noChangeAspect="1"/>
          </p:cNvPicPr>
          <p:nvPr/>
        </p:nvPicPr>
        <p:blipFill>
          <a:blip r:embed="rId3"/>
          <a:stretch>
            <a:fillRect/>
          </a:stretch>
        </p:blipFill>
        <p:spPr>
          <a:xfrm>
            <a:off x="4486275" y="2734940"/>
            <a:ext cx="171450" cy="171450"/>
          </a:xfrm>
          <a:prstGeom prst="rect">
            <a:avLst/>
          </a:prstGeom>
        </p:spPr>
      </p:pic>
      <p:sp>
        <p:nvSpPr>
          <p:cNvPr id="22" name="Text 17"/>
          <p:cNvSpPr/>
          <p:nvPr/>
        </p:nvSpPr>
        <p:spPr>
          <a:xfrm>
            <a:off x="4312269" y="2992115"/>
            <a:ext cx="519351" cy="125403"/>
          </a:xfrm>
          <a:prstGeom prst="rect">
            <a:avLst/>
          </a:prstGeom>
          <a:noFill/>
          <a:ln/>
        </p:spPr>
        <p:txBody>
          <a:bodyPr wrap="none" lIns="0" tIns="0" rIns="0" bIns="0" rtlCol="0" anchor="t"/>
          <a:lstStyle/>
          <a:p>
            <a:pPr algn="ctr" indent="0" marL="0">
              <a:buNone/>
            </a:pPr>
            <a:r>
              <a:rPr lang="en-US" sz="800" b="1" dirty="0">
                <a:solidFill>
                  <a:srgbClr val="1A1A1A"/>
                </a:solidFill>
                <a:latin typeface="Carlito" pitchFamily="34" charset="0"/>
                <a:ea typeface="Carlito" pitchFamily="34" charset="-122"/>
                <a:cs typeface="Carlito" pitchFamily="34" charset="-120"/>
              </a:rPr>
              <a:t>Live app</a:t>
            </a:r>
            <a:endParaRPr lang="en-US" sz="800" dirty="0"/>
          </a:p>
        </p:txBody>
      </p:sp>
      <p:sp>
        <p:nvSpPr>
          <p:cNvPr id="23" name="Text 18"/>
          <p:cNvSpPr/>
          <p:nvPr/>
        </p:nvSpPr>
        <p:spPr>
          <a:xfrm>
            <a:off x="3877507" y="3156421"/>
            <a:ext cx="1388986" cy="122895"/>
          </a:xfrm>
          <a:prstGeom prst="rect">
            <a:avLst/>
          </a:prstGeom>
          <a:noFill/>
          <a:ln/>
        </p:spPr>
        <p:txBody>
          <a:bodyPr wrap="none" lIns="0" tIns="0" rIns="0" bIns="0" rtlCol="0" anchor="t"/>
          <a:lstStyle/>
          <a:p>
            <a:pPr algn="ctr" indent="0" marL="0">
              <a:buNone/>
            </a:pPr>
            <a:r>
              <a:rPr lang="en-US" sz="800" b="1" dirty="0">
                <a:solidFill>
                  <a:srgbClr val="10B981"/>
                </a:solidFill>
                <a:latin typeface="Courier New" pitchFamily="34" charset="0"/>
                <a:ea typeface="Courier New" pitchFamily="34" charset="-122"/>
                <a:cs typeface="Courier New" pitchFamily="34" charset="-120"/>
              </a:rPr>
              <a:t>repo-scope-nu.vercel.app</a:t>
            </a:r>
            <a:endParaRPr lang="en-US" sz="800" dirty="0"/>
          </a:p>
        </p:txBody>
      </p:sp>
      <p:sp>
        <p:nvSpPr>
          <p:cNvPr id="24" name="Text 19"/>
          <p:cNvSpPr/>
          <p:nvPr/>
        </p:nvSpPr>
        <p:spPr>
          <a:xfrm>
            <a:off x="5961459" y="2470621"/>
            <a:ext cx="2421731" cy="1050131"/>
          </a:xfrm>
          <a:prstGeom prst="rect">
            <a:avLst/>
          </a:prstGeom>
          <a:solidFill>
            <a:srgbClr val="FFFFFF"/>
          </a:solidFill>
          <a:ln w="7144">
            <a:solidFill>
              <a:srgbClr val="1A1A1A"/>
            </a:solidFill>
            <a:prstDash val="solid"/>
          </a:ln>
          <a:effectLst>
            <a:outerShdw sx="100000" sy="100000" kx="0" ky="0" algn="bl" rotWithShape="0" blurRad="101600" dist="53882" dir="2700000">
              <a:srgbClr val="1A1A1A">
                <a:alpha val="50000"/>
              </a:srgbClr>
            </a:outerShdw>
          </a:effectLst>
        </p:spPr>
        <p:txBody>
          <a:bodyPr wrap="square" rtlCol="0" anchor="ctr"/>
          <a:lstStyle/>
          <a:p>
            <a:pPr indent="0" marL="0">
              <a:buNone/>
            </a:pPr>
            <a:endParaRPr lang="en-US" dirty="0"/>
          </a:p>
        </p:txBody>
      </p:sp>
      <p:pic>
        <p:nvPicPr>
          <p:cNvPr id="25" name="Image 3" descr="/tmp/h2p-svg-1790773509363-6i432w.png">    </p:cNvPr>
          <p:cNvPicPr>
            <a:picLocks noChangeAspect="1"/>
          </p:cNvPicPr>
          <p:nvPr/>
        </p:nvPicPr>
        <p:blipFill>
          <a:blip r:embed="rId4"/>
          <a:stretch>
            <a:fillRect/>
          </a:stretch>
        </p:blipFill>
        <p:spPr>
          <a:xfrm>
            <a:off x="7086600" y="2734940"/>
            <a:ext cx="171450" cy="171450"/>
          </a:xfrm>
          <a:prstGeom prst="rect">
            <a:avLst/>
          </a:prstGeom>
        </p:spPr>
      </p:pic>
      <p:sp>
        <p:nvSpPr>
          <p:cNvPr id="26" name="Text 20"/>
          <p:cNvSpPr/>
          <p:nvPr/>
        </p:nvSpPr>
        <p:spPr>
          <a:xfrm>
            <a:off x="6958575" y="2992115"/>
            <a:ext cx="427500" cy="125403"/>
          </a:xfrm>
          <a:prstGeom prst="rect">
            <a:avLst/>
          </a:prstGeom>
          <a:noFill/>
          <a:ln/>
        </p:spPr>
        <p:txBody>
          <a:bodyPr wrap="none" lIns="0" tIns="0" rIns="0" bIns="0" rtlCol="0" anchor="t"/>
          <a:lstStyle/>
          <a:p>
            <a:pPr algn="ctr" indent="0" marL="0">
              <a:buNone/>
            </a:pPr>
            <a:r>
              <a:rPr lang="en-US" sz="800" b="1" dirty="0">
                <a:solidFill>
                  <a:srgbClr val="1A1A1A"/>
                </a:solidFill>
                <a:latin typeface="Carlito" pitchFamily="34" charset="0"/>
                <a:ea typeface="Carlito" pitchFamily="34" charset="-122"/>
                <a:cs typeface="Carlito" pitchFamily="34" charset="-120"/>
              </a:rPr>
              <a:t>Video</a:t>
            </a:r>
            <a:endParaRPr lang="en-US" sz="800" dirty="0"/>
          </a:p>
        </p:txBody>
      </p:sp>
      <p:sp>
        <p:nvSpPr>
          <p:cNvPr id="27" name="Text 21"/>
          <p:cNvSpPr/>
          <p:nvPr/>
        </p:nvSpPr>
        <p:spPr>
          <a:xfrm>
            <a:off x="6502459" y="3156421"/>
            <a:ext cx="1339732" cy="122895"/>
          </a:xfrm>
          <a:prstGeom prst="rect">
            <a:avLst/>
          </a:prstGeom>
          <a:noFill/>
          <a:ln/>
        </p:spPr>
        <p:txBody>
          <a:bodyPr wrap="none" lIns="0" tIns="0" rIns="0" bIns="0" rtlCol="0" anchor="t"/>
          <a:lstStyle/>
          <a:p>
            <a:pPr algn="ctr" indent="0" marL="0">
              <a:buNone/>
            </a:pPr>
            <a:r>
              <a:rPr lang="en-US" sz="800" b="1" dirty="0">
                <a:solidFill>
                  <a:srgbClr val="10B981"/>
                </a:solidFill>
                <a:latin typeface="Liberation Sans Narrow" pitchFamily="34" charset="0"/>
                <a:ea typeface="Liberation Sans Narrow" pitchFamily="34" charset="-122"/>
                <a:cs typeface="Liberation Sans Narrow" pitchFamily="34" charset="-120"/>
              </a:rPr>
              <a:t>youtu.be/W82roIETJJ8</a:t>
            </a:r>
            <a:endParaRPr lang="en-US" sz="800" dirty="0"/>
          </a:p>
        </p:txBody>
      </p:sp>
      <p:sp>
        <p:nvSpPr>
          <p:cNvPr id="28" name="Text 22"/>
          <p:cNvSpPr/>
          <p:nvPr/>
        </p:nvSpPr>
        <p:spPr>
          <a:xfrm>
            <a:off x="0" y="4657725"/>
            <a:ext cx="8636000" cy="125403"/>
          </a:xfrm>
          <a:prstGeom prst="rect">
            <a:avLst/>
          </a:prstGeom>
          <a:noFill/>
          <a:ln/>
        </p:spPr>
        <p:txBody>
          <a:bodyPr wrap="square" lIns="0" tIns="0" rIns="0" bIns="0" rtlCol="0" anchor="t"/>
          <a:lstStyle/>
          <a:p>
            <a:pPr algn="ctr" indent="0" marL="0">
              <a:buNone/>
            </a:pPr>
            <a:r>
              <a:rPr lang="en-US" sz="800" dirty="0">
                <a:solidFill>
                  <a:srgbClr val="6B6B6B"/>
                </a:solidFill>
                <a:latin typeface="Courier New" pitchFamily="34" charset="0"/>
                <a:ea typeface="Courier New" pitchFamily="34" charset="-122"/>
                <a:cs typeface="Courier New" pitchFamily="34" charset="-120"/>
              </a:rPr>
              <a:t>Built with IBM Bob + Z Code · lablab.ai · Devpost</a:t>
            </a:r>
            <a:endParaRPr lang="en-US" sz="800" dirty="0"/>
          </a:p>
        </p:txBody>
      </p:sp>
      <p:sp>
        <p:nvSpPr>
          <p:cNvPr id="29" name="Text 23"/>
          <p:cNvSpPr/>
          <p:nvPr/>
        </p:nvSpPr>
        <p:spPr>
          <a:xfrm>
            <a:off x="8830589" y="4886325"/>
            <a:ext cx="184221" cy="128016"/>
          </a:xfrm>
          <a:prstGeom prst="rect">
            <a:avLst/>
          </a:prstGeom>
          <a:noFill/>
          <a:ln/>
        </p:spPr>
        <p:txBody>
          <a:bodyPr wrap="square" lIns="0" tIns="0" rIns="0" bIns="0" rtlCol="0" anchor="t"/>
          <a:lstStyle/>
          <a:p>
            <a:pPr algn="l" indent="0" marL="0">
              <a:buNone/>
            </a:pPr>
            <a:r>
              <a:rPr lang="en-US" sz="800" spc="14" kern="0" dirty="0">
                <a:solidFill>
                  <a:srgbClr val="6B6B6B"/>
                </a:solidFill>
                <a:latin typeface="Liberation Sans Narrow" pitchFamily="34" charset="0"/>
                <a:ea typeface="Liberation Sans Narrow" pitchFamily="34" charset="-122"/>
                <a:cs typeface="Liberation Sans Narrow" pitchFamily="34" charset="-120"/>
              </a:rPr>
              <a:t>17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2026-09-30T13:05:09Z</dcterms:created>
  <dcterms:modified xsi:type="dcterms:W3CDTF">2026-09-30T13:05:09Z</dcterms:modified>
</cp:coreProperties>
</file>