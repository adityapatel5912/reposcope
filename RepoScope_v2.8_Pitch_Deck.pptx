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Cover &amp; Strategic Vision:</a:t>
            </a:r>
          </a:p>
          <a:p>
            <a:r>
              <a:t>RepoScope (v2.8) is the Graph Operating System for AI Coding Agents and Human Engineers.</a:t>
            </a:r>
          </a:p>
          <a:p>
            <a:r>
              <a:t>It replaces flat directory file scans with an in-place, typed AST code graph (.reposcope/graph.json) computed on localhost with 100% zero-upload privacy, synchronizing four ingress surfaces: the Interactive Web Canvas, the Headless CLI, the Native VS Code Extension, and the 9-Agent Universal MCP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The Core Problem:</a:t>
            </a:r>
          </a:p>
          <a:p>
            <a:r>
              <a:t>1. The Agent Context Tax (92% Waste): LLMs waste tokens scanning flat directories, hallucinate broken APIs without AST coordinates, and drift from module boundaries.</a:t>
            </a:r>
          </a:p>
          <a:p>
            <a:r>
              <a:t>2. Invisible Multi-Hop Blast Radius: Developers rely on grep guesswork; renaming a parameter silently breaks callers 3 hops away while downstream consumers remain untested.</a:t>
            </a:r>
          </a:p>
          <a:p>
            <a:r>
              <a:t>3. Tribal Onboarding &amp; Knowledge Loss: New engineers take months to orient, architecture lives only in senior heads, and IDEs, CLIs, and agents lack a shared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Unified System Architecture:</a:t>
            </a:r>
          </a:p>
          <a:p>
            <a:r>
              <a:t>Pillar 1 (Multi-Language AST Parser): In-process Tree-sitter grammars for Python, TypeScript, TSX, JS, Go, and Rust extract exact line coordinates and directed edges (imports, calls, inheritance, containment, taint).</a:t>
            </a:r>
          </a:p>
          <a:p>
            <a:r>
              <a:t>Pillar 2 (Zero-Upload Local Engine): `reposcope run .` indexes on localhost (127.0.0.1:4100) into `.reposcope/graph.json` and SQLite with zero telemetry, plus an in-browser Tree-sitter WASM engine.</a:t>
            </a:r>
          </a:p>
          <a:p>
            <a:r>
              <a:t>Pillar 3 (Four Synchronized Surfaces): Interactive Web Canvas, Headless CLI, Native VS Code Extension, and 9-Agent MCP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Visual Navigation &amp; Hierarchies:</a:t>
            </a:r>
          </a:p>
          <a:p>
            <a:r>
              <a:t>1. Connectivity Pyramid &amp; Layers: Deterministic 7-layer hierarchy (Root -&gt; Backbone -&gt; Core -&gt; Services -&gt; UI -&gt; Config -&gt; Docs) with color-coded role badges and directory boundary grouping.</a:t>
            </a:r>
          </a:p>
          <a:p>
            <a:r>
              <a:t>2. D3 Semantic MindMap V2: One-click toggle between Left-to-Right (LR) and Top-to-Bottom (TB) hierarchy with subtree folding and pure SVG rendering.</a:t>
            </a:r>
          </a:p>
          <a:p>
            <a:r>
              <a:t>3. Real-Time Node Inspector: Displays PageRank centrality, coupling degree, upstream dependents, exported symbols, and `reposcope://open` IDE deep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The 9-Agent Universal MCP Harness:</a:t>
            </a:r>
          </a:p>
          <a:p>
            <a:r>
              <a:t>1. Supported Agent Ecosystems: Claude Code, Cursor, Codex, OpenCode, Windsurf, Gemini CLI, Roo Code, GitHub Copilot, and Cline.</a:t>
            </a:r>
          </a:p>
          <a:p>
            <a:r>
              <a:t>2. 8 High-Performance MCP Tools: `get_architecture_overview`, `calculate_blast_radius`, `get_dependency_lineage`, `explain_architectural_rule`, `get_repo_map`, `find_dependency_cycles`, `get_hotspots`, and `find_unreachable_symbols`.</a:t>
            </a:r>
          </a:p>
          <a:p>
            <a:r>
              <a:t>3. Dual Protocol &amp; Safe Configurator: Supports local stdio and persistent Streamable HTTP (port 8000), eliminating SSE dropouts, with a one-click config dialog and `reposcope mcp . --apply-all`.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Change Safety &amp; PR Contract Analyzer:</a:t>
            </a:r>
          </a:p>
          <a:p>
            <a:r>
              <a:t>1. Multi-Hop Blast Simulator: Traces 3 hops (direct callers, indirect dependents, API bounds) with a 15-point mathematical risk score and Critical (8/10), High (7/10), and Moderate risk badges.</a:t>
            </a:r>
          </a:p>
          <a:p>
            <a:r>
              <a:t>2. Symbol-Level PR Analyzer: Analyzes complete git diffs with zero file caps to pinpoint renamed parameters, modified return types, altered routes, and exact downstream call-sites needing updates.</a:t>
            </a:r>
          </a:p>
          <a:p>
            <a:r>
              <a:t>3. Test Coverage Gap Alerts: Cross-references impacted downstream nodes against the test graph, generates Markdown + Mermaid PR impact diagrams, and provides local pre-commit defense via `reposcope blast &lt;file&gt;`.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6-Engine Contextual Security Suite:</a:t>
            </a:r>
          </a:p>
          <a:p>
            <a:r>
              <a:t>1. AST Taint Flow &amp; Injections: Traces untrusted inputs (`request.args`) across functions directly into dangerous sinks (`cursor.execute`, command injection, `eval`) with a visual trace tree.</a:t>
            </a:r>
          </a:p>
          <a:p>
            <a:r>
              <a:t>2. Secrets, CVEs &amp; Config Drift: Zero false-positive secret detection (API keys, JWTs, `.env`), graph-aware CVE mapping to reachable AST call-sites, and auth bypass / permissive CORS checks.</a:t>
            </a:r>
          </a:p>
          <a:p>
            <a:r>
              <a:t>3. Automated AST Patching: Generates syntactically verified AST replacement patches (such as parameterized SQL queries) applied via `reposcope security --fix`.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Topological Onboarding &amp; CodeTours:</a:t>
            </a:r>
          </a:p>
          <a:p>
            <a:r>
              <a:t>1. Topological Curriculum (Kahn DAG): Automatically sorts modules into Tier L1 (Core Foundations), Tier L2 (Domain Services), Tier L3 (APIs &amp; Routes), and Tier L4 (Integrations &amp; UI).</a:t>
            </a:r>
          </a:p>
          <a:p>
            <a:r>
              <a:t>2. Interactive Architectural Katas: Provides 'Why It Matters' summaries, interactive checkpoint quizzes, and live canvas path highlighting.</a:t>
            </a:r>
          </a:p>
          <a:p>
            <a:r>
              <a:t>3. 4 Deterministic CodeTours: Includes System Overview (7 steps), Security &amp; Auth Track, Request Lifecycle, and native `.tour` export for VS Code playback.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Four-Mode Reverse-Prompt Compiler:</a:t>
            </a:r>
          </a:p>
          <a:p>
            <a:r>
              <a:t>1. Context &amp; Feature Slice Modes: Synthesizes architectural overviews or extracts a target feature plus its exact 2-hop interface closure, cutting 50k dumps down to ~3k tokens (85–92% token savings).</a:t>
            </a:r>
          </a:p>
          <a:p>
            <a:r>
              <a:t>2. Rebuild Spec &amp; Test Suite Modes: Generates contract-first module rebuild specs and targeted test suites with AST type assertions.</a:t>
            </a:r>
          </a:p>
          <a:p>
            <a:r>
              <a:t>3. Interactive Compiler UI &amp; CLI: Real-time Markdown preview, one-click clipboard copy, and headless CLI via `reposcope prompt --mode feature --target &lt;symbol&gt;`.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Universal Assistant &amp; Verified Citations:</a:t>
            </a:r>
          </a:p>
          <a:p>
            <a:r>
              <a:t>1. AST-Verified Citation Engine: Cross-references every code quote against `.reposcope/graph.json`, rendering green pill badges with exact line coordinates that snap the canvas and open VS Code.</a:t>
            </a:r>
          </a:p>
          <a:p>
            <a:r>
              <a:t>2. Universal Action Cards: Embeds interactive `[Launch Tour]`, `[Run Security Audit]`, and `[Simulate Blast Radius]` action buttons directly inside the SSE chat stream.</a:t>
            </a:r>
          </a:p>
          <a:p>
            <a:r>
              <a:t>3. BYOK Multi-Model Flexibility: Supports Google Gemini, Anthropic Claude, OpenAI, DeepSeek, and 100% local Ollama / LM Studio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Clean Scaffolder &amp; Git Hotspots:</a:t>
            </a:r>
          </a:p>
          <a:p>
            <a:r>
              <a:t>1. Clean Architecture Scaffolder: Generates multi-file hexagonal starter kits for FastAPI, React, and Go with interactive UI preview and one-line CLI execution.</a:t>
            </a:r>
          </a:p>
          <a:p>
            <a:r>
              <a:t>2. Git Churn &amp; Co-Change Hotspots: Analyzes `HEAD~10..HEAD` commit history against AST complexity to uncover temporal co-change coupling and dependency drift.</a:t>
            </a:r>
          </a:p>
          <a:p>
            <a:r>
              <a:t>3. Engineering Health Metrics: Computes module bus factor, Tarjan SCC dependency cycles, unreachable dead code, and top-10 PageRank backbone hubs.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VS Code Extension &amp; Local-First Privacy:</a:t>
            </a:r>
          </a:p>
          <a:p>
            <a:r>
              <a:t>1. Native VS Code Extension: Displays live dependent counts and risk level in the status bar, 'View Callers (6)' CodeLens above exported symbols, and a 2-hop Activity Bar mini-graph; published on Open VSX (`adityapatel5912.reposcope`).</a:t>
            </a:r>
          </a:p>
          <a:p>
            <a:r>
              <a:t>2. Zero-Upload Local Privacy: `reposcope run .` runs 100% on localhost (`127.0.0.1:4100`) with in-memory AST caching and air-gapped enterprise compliance.</a:t>
            </a:r>
          </a:p>
          <a:p>
            <a:r>
              <a:t>3. Browser-Local WASM Engine: Uses `showDirectoryPicker` and Tree-sitter WASM to parse 75+ files in under 2 seconds directly inside Chrome/Edge.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Measured Evidence &amp; Empirical Benchmarks:</a:t>
            </a:r>
          </a:p>
          <a:p>
            <a:r>
              <a:t>1. 92% Agent Token Savings: Feature Slice reverse-prompts reduce 45,000-token dumps to 3,600 tokens, saving $1,400+ in API spend and eliminating context drift.</a:t>
            </a:r>
          </a:p>
          <a:p>
            <a:r>
              <a:t>2. 4.3x Faster Task Completion: Multi-file bug resolution drops from 54.2s to 12.8s with `calculate_blast_radius` and `get_repo_map`, with zero broken PR merges.</a:t>
            </a:r>
          </a:p>
          <a:p>
            <a:r>
              <a:t>3. 335+ Verified Automated Tests: 335 passing Pytest backend/security tests plus Playwright E2E tests at 2x Retina DPI, released under Source-Available License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Conclusion &amp; 30-Second Quickstart:</a:t>
            </a:r>
          </a:p>
          <a:p>
            <a:r>
              <a:t>1. Quickstart Install: `pip install reposcope` and `reposcope run .` (or `npx @reposcope/cli run .`), serving on `127.0.0.1:4100` with zero cloud configuration.</a:t>
            </a:r>
          </a:p>
          <a:p>
            <a:r>
              <a:t>2. Connect Your Agents: `reposcope mcp . --apply-all` writes verified MCP configs for Claude Code, Cursor, OpenCode, Codex, and Windsurf.</a:t>
            </a:r>
          </a:p>
          <a:p>
            <a:r>
              <a:t>3. Join the Community: `github.com/adityapatel5912/RepoScope`, Open VSX `adityapatel5912.reposcope`, Source-Available License 1.0.</a:t>
            </a:r>
          </a:p>
          <a:p>
            <a:r>
              <a:t>RepoScope • One Code Graph. Shared Across Humans and AI Coding Agents. Zero Context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ull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197864" cy="13533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057400" y="438912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1A1A1A"/>
                </a:solidFill>
                <a:latin typeface="Inter"/>
              </a:rPr>
              <a:t>RepoScope</a:t>
            </a:r>
          </a:p>
          <a:p>
            <a:r>
              <a:rPr sz="1850" b="1">
                <a:solidFill>
                  <a:srgbClr val="10B981"/>
                </a:solidFill>
                <a:latin typeface="Inter"/>
              </a:rPr>
              <a:t>The Graph Operating System for AI Coding Agents &amp; Engineering Teams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029968"/>
          <a:ext cx="1100297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30"/>
                <a:gridCol w="5501944"/>
              </a:tblGrid>
              <a:tr h="123444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Inter"/>
                        </a:rPr>
                        <a:t>CORE VALUE PROPOSITION (v2.8)
Replaces flat directory file scans with an in-place, typed AST code graph (.reposcope/graph.json) computed on localhost with 100% zero-upload privacy.</a:t>
                      </a:r>
                    </a:p>
                  </a:txBody>
                  <a:tcPr anchor="ctr"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Inter"/>
                        </a:rPr>
                        <a:t>FOUR SYNCHRONIZED INGRESS SURFACES
1. Interactive Web Canvas (React Flow + D3 MindMap V2)
2. Headless Terminal CLI (index, run, mcp, security, blast)
3. Native VS Code / Cursor Extension + 4. 9-Agent MCP Harness</a:t>
                      </a:r>
                    </a:p>
                  </a:txBody>
                  <a:tcPr anchor="ctr" marL="164592" marR="164592" marT="109728" marB="109728">
                    <a:solidFill>
                      <a:srgbClr val="F2EDE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00" b="1">
                          <a:solidFill>
                            <a:srgbClr val="10B981"/>
                          </a:solidFill>
                          <a:latin typeface="JetBrains Mono"/>
                        </a:rPr>
                        <a:t>[ v2.8.0 Unified Production Release ]
  •  [ 100% Zero-Upload Local Privacy ]</a:t>
                      </a:r>
                    </a:p>
                  </a:txBody>
                  <a:tcPr anchor="ctr" marL="164592" marR="164592" marT="109728" marB="109728">
                    <a:solidFill>
                      <a:srgbClr val="1E22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200" b="1">
                          <a:solidFill>
                            <a:srgbClr val="89DDFF"/>
                          </a:solidFill>
                          <a:latin typeface="JetBrains Mono"/>
                        </a:rPr>
                        <a:t>[ 9-Agent MCP Configurator ]
Claude Code • Cursor • Codex • OpenCode • Windsurf • Gemini • Roo • Copilot • Cline</a:t>
                      </a:r>
                    </a:p>
                  </a:txBody>
                  <a:tcPr anchor="ctr" marL="164592" marR="164592" marT="109728" marB="109728">
                    <a:solidFill>
                      <a:srgbClr val="1E22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200" b="1">
                          <a:solidFill>
                            <a:srgbClr val="F0503C"/>
                          </a:solidFill>
                          <a:latin typeface="JetBrains Mono"/>
                        </a:rPr>
                        <a:t>[ 6-Engine Contextual Security ]
AST Taint Flow • Secrets • CVEs • Config Drift • 1-Click AST Patching</a:t>
                      </a:r>
                    </a:p>
                  </a:txBody>
                  <a:tcPr anchor="ctr"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200" b="1">
                          <a:solidFill>
                            <a:srgbClr val="9A7B1C"/>
                          </a:solidFill>
                          <a:latin typeface="JetBrains Mono"/>
                        </a:rPr>
                        <a:t>[ Symbol-Level PR Safety ]
15-Point Multi-Hop Blast Simulator • Zero File Caps • Exact Contract Breaks</a:t>
                      </a:r>
                    </a:p>
                  </a:txBody>
                  <a:tcPr anchor="ctr" marL="164592" marR="164592" marT="109728" marB="109728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00" b="1">
                          <a:solidFill>
                            <a:srgbClr val="1A1A1A"/>
                          </a:solidFill>
                          <a:latin typeface="JetBrains Mono"/>
                        </a:rPr>
                        <a:t>GITHUB REPOSITORY
github.com/adityapatel5912/RepoScope</a:t>
                      </a:r>
                    </a:p>
                  </a:txBody>
                  <a:tcPr anchor="ctr" marL="164592" marR="164592" marT="109728" marB="109728">
                    <a:solidFill>
                      <a:srgbClr val="F2ED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00" b="1">
                          <a:solidFill>
                            <a:srgbClr val="10B981"/>
                          </a:solidFill>
                          <a:latin typeface="JetBrains Mono"/>
                        </a:rPr>
                        <a:t>OPEN VSX EXTENSION REGISTRY
open-vsx.org/extension/adityapatel5912/reposcope</a:t>
                      </a:r>
                    </a:p>
                  </a:txBody>
                  <a:tcPr anchor="ctr" marL="164592" marR="164592" marT="109728" marB="109728">
                    <a:solidFill>
                      <a:srgbClr val="F2EDE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01 • THE PROBLEM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Every Repository is a Living Graph. We Still Read It as a Pile of Files.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Both human engineers and AI coding agents suffer when architectural truth lives in scattered, flat directories.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8575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F0503C"/>
                </a:solidFill>
                <a:latin typeface="Inter"/>
              </a:rPr>
              <a:t>The Agent Context Tax (92% Waste)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Blind Directory Scanning:</a:t>
            </a:r>
            <a:r>
              <a:rPr sz="1250" b="0">
                <a:solidFill>
                  <a:srgbClr val="57534A"/>
                </a:solidFill>
                <a:latin typeface="Inter"/>
              </a:rPr>
              <a:t> LLMs waste precious context tokens reading irrelevant files.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Severe Hallucination Rate:</a:t>
            </a:r>
            <a:r>
              <a:rPr sz="1250" b="0">
                <a:solidFill>
                  <a:srgbClr val="57534A"/>
                </a:solidFill>
                <a:latin typeface="Inter"/>
              </a:rPr>
              <a:t> Without verified AST coordinates, agents invent broken APIs and imports.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Divergent Mental Models:</a:t>
            </a:r>
            <a:r>
              <a:rPr sz="1250" b="0">
                <a:solidFill>
                  <a:srgbClr val="57534A"/>
                </a:solidFill>
                <a:latin typeface="Inter"/>
              </a:rPr>
              <a:t> Agents miss module boundaries, causing monolithic architectural drift.</a:t>
            </a:r>
          </a:p>
          <a:p>
            <a:pPr algn="l"/>
            <a:r>
              <a:rPr sz="1200" b="1">
                <a:solidFill>
                  <a:srgbClr val="F0503C"/>
                </a:solidFill>
                <a:latin typeface="JetBrains Mono"/>
              </a:rPr>
              <a:t>[ ALERT: 92% Context Window Waste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85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9A7B1C"/>
                </a:solidFill>
                <a:latin typeface="Inter"/>
              </a:rPr>
              <a:t>Invisible Multi-Hop Blast Radius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Human Grep Guesswork:</a:t>
            </a:r>
            <a:r>
              <a:rPr sz="1250" b="0">
                <a:solidFill>
                  <a:srgbClr val="57534A"/>
                </a:solidFill>
                <a:latin typeface="Inter"/>
              </a:rPr>
              <a:t> Developers guess downstream impact before merging PRs.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Silent Contract Breaks:</a:t>
            </a:r>
            <a:r>
              <a:rPr sz="1250" b="0">
                <a:solidFill>
                  <a:srgbClr val="57534A"/>
                </a:solidFill>
                <a:latin typeface="Inter"/>
              </a:rPr>
              <a:t> Renaming a parameter breaks callers 3 hops away with zero compiler warning.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Missing Test Coverage:</a:t>
            </a:r>
            <a:r>
              <a:rPr sz="1250" b="0">
                <a:solidFill>
                  <a:srgbClr val="57534A"/>
                </a:solidFill>
                <a:latin typeface="Inter"/>
              </a:rPr>
              <a:t> PRs modify high-centrality files while leaving downstream consumers untested.</a:t>
            </a:r>
          </a:p>
          <a:p>
            <a:pPr algn="l"/>
            <a:r>
              <a:rPr sz="1200" b="1">
                <a:solidFill>
                  <a:srgbClr val="9A7B1C"/>
                </a:solidFill>
                <a:latin typeface="JetBrains Mono"/>
              </a:rPr>
              <a:t>[ WARN: Invisible 3-Hop Regressions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8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0B981"/>
                </a:solidFill>
                <a:latin typeface="Inter"/>
              </a:rPr>
              <a:t>Tribal Onboarding &amp; Knowledge Loss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Months to Full Productivity:</a:t>
            </a:r>
            <a:r>
              <a:rPr sz="1250" b="0">
                <a:solidFill>
                  <a:srgbClr val="57534A"/>
                </a:solidFill>
                <a:latin typeface="Inter"/>
              </a:rPr>
              <a:t> New hires spend weeks orienting without a topological map.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Architectural Drift:</a:t>
            </a:r>
            <a:r>
              <a:rPr sz="1250" b="0">
                <a:solidFill>
                  <a:srgbClr val="57534A"/>
                </a:solidFill>
                <a:latin typeface="Inter"/>
              </a:rPr>
              <a:t> System structure lives only in senior heads; documentation rots quickly.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Zero Shared Truth:</a:t>
            </a:r>
            <a:r>
              <a:rPr sz="1250" b="0">
                <a:solidFill>
                  <a:srgbClr val="57534A"/>
                </a:solidFill>
                <a:latin typeface="Inter"/>
              </a:rPr>
              <a:t> No single foundation unifies IDEs, CLI pipelines, and AI agents.</a:t>
            </a:r>
          </a:p>
          <a:p>
            <a:pPr algn="l"/>
            <a:r>
              <a:rPr sz="1200" b="1">
                <a:solidFill>
                  <a:srgbClr val="10B981"/>
                </a:solidFill>
                <a:latin typeface="JetBrains Mono"/>
              </a:rPr>
              <a:t>[ LAG: Months to Orient New Engineers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02 • ARCHITECTURE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One In-Place Code Graph. Four Synchronized Ingress Surfaces.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Every surface reads .reposcope/graph.json so human developers and AI coding agents quote identical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1002975" cy="658368"/>
          </a:xfrm>
          <a:prstGeom prst="roundRect">
            <a:avLst>
              <a:gd name="adj" fmla="val 3500"/>
            </a:avLst>
          </a:prstGeom>
          <a:solidFill>
            <a:srgbClr val="1E222B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  <a:r>
              <a:rPr sz="1300" b="1">
                <a:solidFill>
                  <a:srgbClr val="89DDFF"/>
                </a:solidFill>
                <a:latin typeface="JetBrains Mono"/>
              </a:rPr>
              <a:t>SHARED GRAPH OPERATING SYSTEM SPINE:  Source ASTs  ──►  .reposcope/graph.json  ──►  Canvas • CLI • VS Code • 9-Agent 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34640"/>
            <a:ext cx="3483864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Pillar 1: Multi-Language AST Parser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Tree-sitter Grammars:</a:t>
            </a:r>
            <a:r>
              <a:rPr sz="1200" b="0">
                <a:solidFill>
                  <a:srgbClr val="57534A"/>
                </a:solidFill>
                <a:latin typeface="Inter"/>
              </a:rPr>
              <a:t> In-process AST parsing for Python, TypeScript, TSX, JS, Go, and Rust.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Typed Entity Extraction:</a:t>
            </a:r>
            <a:r>
              <a:rPr sz="1200" b="0">
                <a:solidFill>
                  <a:srgbClr val="57534A"/>
                </a:solidFill>
                <a:latin typeface="Inter"/>
              </a:rPr>
              <a:t> Exact line coordinates for classes, functions, and routes.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Directed Graph:</a:t>
            </a:r>
            <a:r>
              <a:rPr sz="1200" b="0">
                <a:solidFill>
                  <a:srgbClr val="57534A"/>
                </a:solidFill>
                <a:latin typeface="Inter"/>
              </a:rPr>
              <a:t> Computes imports, calls, inheritance, containment, and taint propagation edges.</a:t>
            </a:r>
          </a:p>
          <a:p>
            <a:pPr algn="l"/>
            <a:r>
              <a:rPr sz="1150" b="1">
                <a:solidFill>
                  <a:srgbClr val="9A7B1C"/>
                </a:solidFill>
                <a:latin typeface="JetBrains Mono"/>
              </a:rPr>
              <a:t>[ 6 Tree-sitter Grammars Supported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834640"/>
            <a:ext cx="3483864" cy="324612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Pillar 2: Zero-Upload Local Engine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Localhost Privacy:</a:t>
            </a:r>
            <a:r>
              <a:rPr sz="1200" b="0">
                <a:solidFill>
                  <a:srgbClr val="57534A"/>
                </a:solidFill>
                <a:latin typeface="Inter"/>
              </a:rPr>
              <a:t> reposcope run . indexes directly in place (127.0.0.1:4100) with zero telemetry.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SQLite &amp; JSON Store:</a:t>
            </a:r>
            <a:r>
              <a:rPr sz="1200" b="0">
                <a:solidFill>
                  <a:srgbClr val="57534A"/>
                </a:solidFill>
                <a:latin typeface="Inter"/>
              </a:rPr>
              <a:t> Sub-second warm restarts with persistent graph store in .reposcope/graph.json.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Browser WASM Engine:</a:t>
            </a:r>
            <a:r>
              <a:rPr sz="1200" b="0">
                <a:solidFill>
                  <a:srgbClr val="57534A"/>
                </a:solidFill>
                <a:latin typeface="Inter"/>
              </a:rPr>
              <a:t> Tree-sitter WASM via File System Access API without installing a backend.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[ 100% Localhost Zero-Upload Privacy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8" y="2834640"/>
            <a:ext cx="3483864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Pillar 3: Four Synchronized Surfaces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Interactive Web Canvas:</a:t>
            </a:r>
            <a:r>
              <a:rPr sz="1200" b="0">
                <a:solidFill>
                  <a:srgbClr val="57534A"/>
                </a:solidFill>
                <a:latin typeface="Inter"/>
              </a:rPr>
              <a:t> React Flow + D3 graph with layer badges and inspection drawers.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Headless CLI Tooling:</a:t>
            </a:r>
            <a:r>
              <a:rPr sz="1200" b="0">
                <a:solidFill>
                  <a:srgbClr val="57534A"/>
                </a:solidFill>
                <a:latin typeface="Inter"/>
              </a:rPr>
              <a:t> Terminal CLI with CI/CD exit codes and JSON output.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Universal MCP &amp; VS Code:</a:t>
            </a:r>
            <a:r>
              <a:rPr sz="1200" b="0">
                <a:solidFill>
                  <a:srgbClr val="57534A"/>
                </a:solidFill>
                <a:latin typeface="Inter"/>
              </a:rPr>
              <a:t> 8-tool MCP server for agents + live status bar risk in the IDE.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Canvas • CLI • VS Code • MCP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03 • VISUAL NAVIGATION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Read the Macro Architecture Before Reading Individual Files.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Switch seamlessly between React Flow architectural layers and D3 hierarchical semantic mindmaps.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38528"/>
            <a:ext cx="4251960" cy="4133087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1A1A1A"/>
                </a:solidFill>
                <a:latin typeface="Inter"/>
              </a:rPr>
              <a:t>1. Connectivity Pyramid &amp; Layers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Deterministic Layering:</a:t>
            </a:r>
            <a:r>
              <a:rPr sz="1250" b="0">
                <a:solidFill>
                  <a:srgbClr val="57534A"/>
                </a:solidFill>
                <a:latin typeface="Inter"/>
              </a:rPr>
              <a:t> Root → Backbone → Core → Services → UI → Config → Docs.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Color-Coded Layer Badges:</a:t>
            </a:r>
            <a:r>
              <a:rPr sz="1250" b="0">
                <a:solidFill>
                  <a:srgbClr val="57534A"/>
                </a:solidFill>
                <a:latin typeface="Inter"/>
              </a:rPr>
              <a:t> Nodes display visual role badges (Entrypoint, Core, Route, Utility).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Directory Grouping:</a:t>
            </a:r>
            <a:r>
              <a:rPr sz="1250" b="0">
                <a:solidFill>
                  <a:srgbClr val="57534A"/>
                </a:solidFill>
                <a:latin typeface="Inter"/>
              </a:rPr>
              <a:t> Toggle boundary boxes to inspect cross-module coupling.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Hierarchy Flow:</a:t>
            </a:r>
            <a:r>
              <a:rPr sz="1250" b="0">
                <a:solidFill>
                  <a:srgbClr val="57534A"/>
                </a:solidFill>
                <a:latin typeface="Inter"/>
              </a:rPr>
              <a:t> L1 Root ▸ L2 Backbone ▸ L3 Core ▸ L4 Services ▸ L5 UI ▸ L6 Config ▸ L7 Docs.</a:t>
            </a:r>
          </a:p>
          <a:p>
            <a:pPr algn="l"/>
            <a:r>
              <a:rPr sz="1200" b="1">
                <a:solidFill>
                  <a:srgbClr val="9A7B1C"/>
                </a:solidFill>
                <a:latin typeface="JetBrains Mono"/>
              </a:rPr>
              <a:t>[ 7 Hierarchical Layer Badges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938528"/>
            <a:ext cx="6473952" cy="1938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0B981"/>
                </a:solidFill>
                <a:latin typeface="Inter"/>
              </a:rPr>
              <a:t>2. D3 Semantic MindMap V2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Dual Layouts:</a:t>
            </a:r>
            <a:r>
              <a:rPr sz="1100" b="0">
                <a:solidFill>
                  <a:srgbClr val="57534A"/>
                </a:solidFill>
                <a:latin typeface="Inter"/>
              </a:rPr>
              <a:t> One-click toggle between Left-to-Right (LR) tree flow and Top-to-Bottom (TB) hierarchy.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Interactive Folding:</a:t>
            </a:r>
            <a:r>
              <a:rPr sz="1100" b="0">
                <a:solidFill>
                  <a:srgbClr val="57534A"/>
                </a:solidFill>
                <a:latin typeface="Inter"/>
              </a:rPr>
              <a:t> Collapse or expand subtrees smoothly with fluid SVG camera animations.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Pure SVG Rendering:</a:t>
            </a:r>
            <a:r>
              <a:rPr sz="1100" b="0">
                <a:solidFill>
                  <a:srgbClr val="57534A"/>
                </a:solidFill>
                <a:latin typeface="Inter"/>
              </a:rPr>
              <a:t> Accessible, lightweight rendering ensures instant responsiveness on large repos.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Left-to-Right &amp; Top-to-Bottom Flow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133087"/>
            <a:ext cx="6473952" cy="1938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Inter"/>
              </a:rPr>
              <a:t>3. Real-Time Node Inspector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PageRank Hubs:</a:t>
            </a:r>
            <a:r>
              <a:rPr sz="1100" b="0">
                <a:solidFill>
                  <a:srgbClr val="57534A"/>
                </a:solidFill>
                <a:latin typeface="Inter"/>
              </a:rPr>
              <a:t> Mathematical importance and coupling degree of every module.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Direct Callers:</a:t>
            </a:r>
            <a:r>
              <a:rPr sz="1100" b="0">
                <a:solidFill>
                  <a:srgbClr val="57534A"/>
                </a:solidFill>
                <a:latin typeface="Inter"/>
              </a:rPr>
              <a:t> Side drawer displaying upstream dependents and exported symbols.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IDE Deep-Linking:</a:t>
            </a:r>
            <a:r>
              <a:rPr sz="1100" b="0">
                <a:solidFill>
                  <a:srgbClr val="57534A"/>
                </a:solidFill>
                <a:latin typeface="Inter"/>
              </a:rPr>
              <a:t> Click any symbol to trigger reposcope://open directly into VS Code / Cursor.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PageRank Centrality &amp; Symbol Links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04 • AI AGENT ORCHESTRATION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The Same Graph, Available to 9 Major Coding Agent Ecosystems.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Standardizing agent repository intelligence across Claude Code, Cursor, Codex, OpenCode, and Windsurf.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1002975" cy="15727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0B981"/>
                </a:solidFill>
                <a:latin typeface="Inter"/>
              </a:rPr>
              <a:t>1. Supported Agent Ecosystems (9 Universal Agent Harnesses)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Claude Code &amp; OpenCode:</a:t>
            </a:r>
            <a:r>
              <a:rPr sz="1100" b="0">
                <a:solidFill>
                  <a:srgbClr val="57534A"/>
                </a:solidFill>
                <a:latin typeface="Inter"/>
              </a:rPr>
              <a:t> Full stdio and Streamable HTTP support for Anthropic's official CLI.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Cursor &amp; Codex / Windsurf:</a:t>
            </a:r>
            <a:r>
              <a:rPr sz="1100" b="0">
                <a:solidFill>
                  <a:srgbClr val="57534A"/>
                </a:solidFill>
                <a:latin typeface="Inter"/>
              </a:rPr>
              <a:t> Seamless integration via .cursor/mcp.json and .codecompanion.json.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Gemini CLI, Copilot, Roo Code, Cline:</a:t>
            </a:r>
            <a:r>
              <a:rPr sz="1100" b="0">
                <a:solidFill>
                  <a:srgbClr val="57534A"/>
                </a:solidFill>
                <a:latin typeface="Inter"/>
              </a:rPr>
              <a:t> Universal generator applies tailored JSON to all 9 agent setups.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[ 9 Universal Agent Harnesses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49039"/>
            <a:ext cx="5623560" cy="2331720"/>
          </a:xfrm>
          <a:prstGeom prst="roundRect">
            <a:avLst>
              <a:gd name="adj" fmla="val 3500"/>
            </a:avLst>
          </a:prstGeom>
          <a:solidFill>
            <a:srgbClr val="1E222B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89DDFF"/>
                </a:solidFill>
                <a:latin typeface="Inter"/>
              </a:rPr>
              <a:t>2. 8 High-Performance MCP Tools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• get_architecture_overview:</a:t>
            </a:r>
            <a:r>
              <a:rPr sz="1100" b="0">
                <a:solidFill>
                  <a:srgbClr val="FFFFFF"/>
                </a:solidFill>
                <a:latin typeface="JetBrains Mono"/>
              </a:rPr>
              <a:t> Module boundaries, rules, entry points &amp; stack.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• calculate_blast_radius &amp; get_dependency_lineage:</a:t>
            </a:r>
            <a:r>
              <a:rPr sz="1100" b="0">
                <a:solidFill>
                  <a:srgbClr val="FFFFFF"/>
                </a:solidFill>
                <a:latin typeface="JetBrains Mono"/>
              </a:rPr>
              <a:t> 3-hop impact &amp; call chains.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JetBrains Mono"/>
              </a:rPr>
              <a:t>• get_repo_map &amp; get_hotspots:</a:t>
            </a:r>
            <a:r>
              <a:rPr sz="1100" b="0">
                <a:solidFill>
                  <a:srgbClr val="FFFFFF"/>
                </a:solidFill>
                <a:latin typeface="JetBrains Mono"/>
              </a:rPr>
              <a:t> PageRank hierarchy and Git churn heatmaps.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JetBrains Mono"/>
              </a:rPr>
              <a:t>• find_dependency_cycles, find_unreachable_symbols &amp; explain_architectural_rule.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[ 8 Query &amp; Diagnostic Tools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749039"/>
            <a:ext cx="5102352" cy="233172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Inter"/>
              </a:rPr>
              <a:t>3. Dual Protocol &amp; Safe Configurator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Dual Transport Support:</a:t>
            </a:r>
            <a:r>
              <a:rPr sz="1100" b="0">
                <a:solidFill>
                  <a:srgbClr val="57534A"/>
                </a:solidFill>
                <a:latin typeface="Inter"/>
              </a:rPr>
              <a:t> Runs over local stdio pipe or persistent Streamable HTTP (port 8000).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Eliminates SSE Dropouts:</a:t>
            </a:r>
            <a:r>
              <a:rPr sz="1100" b="0">
                <a:solidFill>
                  <a:srgbClr val="57534A"/>
                </a:solidFill>
                <a:latin typeface="Inter"/>
              </a:rPr>
              <a:t> Streamable HTTP avoids Server-Sent Event timeouts during heavy load.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One-Click Dialog:</a:t>
            </a:r>
            <a:r>
              <a:rPr sz="1100" b="0">
                <a:solidFill>
                  <a:srgbClr val="57534A"/>
                </a:solidFill>
                <a:latin typeface="Inter"/>
              </a:rPr>
              <a:t> Interactive modal allows developers to preview, copy, or write agent configs.</a:t>
            </a:r>
          </a:p>
          <a:p>
            <a:pPr algn="l"/>
            <a:r>
              <a:rPr sz="1080" b="1">
                <a:solidFill>
                  <a:srgbClr val="9A7B1C"/>
                </a:solidFill>
                <a:latin typeface="JetBrains Mono"/>
              </a:rPr>
              <a:t>[ Stdio &amp; Streamable HTTP Protocol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05 • CHANGE SAFETY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Predict Change Blast Radius and Catch PR Contract Breaks.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Stop guessing if a refactor breaks downstream callers. Simulate multi-hop impact before opening a PR.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0503C"/>
                </a:solidFill>
                <a:latin typeface="Inter"/>
              </a:rPr>
              <a:t>1. Multi-Hop Blast Simulator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3-Hop Tracing:</a:t>
            </a:r>
            <a:r>
              <a:rPr sz="1250" b="0">
                <a:solidFill>
                  <a:srgbClr val="57534A"/>
                </a:solidFill>
                <a:latin typeface="Inter"/>
              </a:rPr>
              <a:t> Direct callers (Hop 1), indirect dependents (Hop 2), API bounds (Hop 3).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15-Point Risk Scoring:</a:t>
            </a:r>
            <a:r>
              <a:rPr sz="1250" b="0">
                <a:solidFill>
                  <a:srgbClr val="57534A"/>
                </a:solidFill>
                <a:latin typeface="Inter"/>
              </a:rPr>
              <a:t> Mathematical risk calculation weighing centrality and critical paths.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Visual Risk Badges:</a:t>
            </a:r>
            <a:r>
              <a:rPr sz="1250" b="0">
                <a:solidFill>
                  <a:srgbClr val="57534A"/>
                </a:solidFill>
                <a:latin typeface="Inter"/>
              </a:rPr>
              <a:t> Critical (8/10), High (7/10), and Moderate badges warn of breaks.</a:t>
            </a:r>
          </a:p>
          <a:p>
            <a:pPr algn="l"/>
            <a:r>
              <a:rPr sz="1150" b="1">
                <a:solidFill>
                  <a:srgbClr val="F0503C"/>
                </a:solidFill>
                <a:latin typeface="JetBrains Mono"/>
              </a:rPr>
              <a:t>[ 15-Point Multi-Hop Risk Scoring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2. Symbol-Level PR Analyzer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Zero File Caps:</a:t>
            </a:r>
            <a:r>
              <a:rPr sz="1250" b="0">
                <a:solidFill>
                  <a:srgbClr val="57534A"/>
                </a:solidFill>
                <a:latin typeface="Inter"/>
              </a:rPr>
              <a:t> Analyzes complete git diffs across any number of changed files.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Exact Contract Breaks:</a:t>
            </a:r>
            <a:r>
              <a:rPr sz="1250" b="0">
                <a:solidFill>
                  <a:srgbClr val="57534A"/>
                </a:solidFill>
                <a:latin typeface="Inter"/>
              </a:rPr>
              <a:t> Pinpoints renamed parameters, modified returns, and altered routes.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Remediation Hints:</a:t>
            </a:r>
            <a:r>
              <a:rPr sz="1250" b="0">
                <a:solidFill>
                  <a:srgbClr val="57534A"/>
                </a:solidFill>
                <a:latin typeface="Inter"/>
              </a:rPr>
              <a:t> Suggests exact downstream call-sites that require updates.</a:t>
            </a:r>
          </a:p>
          <a:p>
            <a:pPr algn="l"/>
            <a:r>
              <a:rPr sz="1150" b="1">
                <a:solidFill>
                  <a:srgbClr val="9A7B1C"/>
                </a:solidFill>
                <a:latin typeface="JetBrains Mono"/>
              </a:rPr>
              <a:t>[ Zero File Limits • Exact Contracts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8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Inter"/>
              </a:rPr>
              <a:t>3. Test Coverage Gap Alerts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Uncovered Dependent Alerts:</a:t>
            </a:r>
            <a:r>
              <a:rPr sz="1250" b="0">
                <a:solidFill>
                  <a:srgbClr val="57534A"/>
                </a:solidFill>
                <a:latin typeface="Inter"/>
              </a:rPr>
              <a:t> Cross-references affected downstream nodes against test graph.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GitHub CI/CD Bot:</a:t>
            </a:r>
            <a:r>
              <a:rPr sz="1250" b="0">
                <a:solidFill>
                  <a:srgbClr val="57534A"/>
                </a:solidFill>
                <a:latin typeface="Inter"/>
              </a:rPr>
              <a:t> CLI generates rich Markdown and Mermaid impact diagrams on PR comments.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Pre-Commit Defense:</a:t>
            </a:r>
            <a:r>
              <a:rPr sz="1250" b="0">
                <a:solidFill>
                  <a:srgbClr val="57534A"/>
                </a:solidFill>
                <a:latin typeface="Inter"/>
              </a:rPr>
              <a:t> Run reposcope blast &lt;file&gt; locally before pushing to CI.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GitHub CI/CD Action Comments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06 • SECURITY INTELLIGENCE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Graph-Contextual Security: From Input Taint to Dangerous Sinks.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Six specialized vulnerability engines paired with automated AST syntax patch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38528"/>
            <a:ext cx="5349240" cy="1938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0503C"/>
                </a:solidFill>
                <a:latin typeface="Inter"/>
              </a:rPr>
              <a:t>1. AST Taint Flow &amp; Injections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Source-to-Sink Tracing:</a:t>
            </a:r>
            <a:r>
              <a:rPr sz="1100" b="0">
                <a:solidFill>
                  <a:srgbClr val="57534A"/>
                </a:solidFill>
                <a:latin typeface="Inter"/>
              </a:rPr>
              <a:t> Traces request.args through functions directly into sinks.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Dangerous Sinks:</a:t>
            </a:r>
            <a:r>
              <a:rPr sz="1100" b="0">
                <a:solidFill>
                  <a:srgbClr val="57534A"/>
                </a:solidFill>
                <a:latin typeface="Inter"/>
              </a:rPr>
              <a:t> Flags raw SQL execution (cursor.execute), command injection, and eval.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Contextual Trace Tree:</a:t>
            </a:r>
            <a:r>
              <a:rPr sz="1100" b="0">
                <a:solidFill>
                  <a:srgbClr val="57534A"/>
                </a:solidFill>
                <a:latin typeface="Inter"/>
              </a:rPr>
              <a:t> Visual path from HTTP entry to database execution.</a:t>
            </a:r>
          </a:p>
          <a:p>
            <a:pPr algn="l"/>
            <a:r>
              <a:rPr sz="1080" b="1">
                <a:solidFill>
                  <a:srgbClr val="F0503C"/>
                </a:solidFill>
                <a:latin typeface="JetBrains Mono"/>
              </a:rPr>
              <a:t>[ Source-to-Sink Taint Propagation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133087"/>
            <a:ext cx="5349240" cy="1938528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Inter"/>
              </a:rPr>
              <a:t>2. Secrets, CVEs &amp; Config Drift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Zero False-Positive Secrets:</a:t>
            </a:r>
            <a:r>
              <a:rPr sz="1100" b="0">
                <a:solidFill>
                  <a:srgbClr val="57534A"/>
                </a:solidFill>
                <a:latin typeface="Inter"/>
              </a:rPr>
              <a:t> Detects API keys, JWT tokens, and leaked .env files.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Graph-Aware CVEs:</a:t>
            </a:r>
            <a:r>
              <a:rPr sz="1100" b="0">
                <a:solidFill>
                  <a:srgbClr val="57534A"/>
                </a:solidFill>
                <a:latin typeface="Inter"/>
              </a:rPr>
              <a:t> Maps dependency advisories to actual AST call-sites.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Auth Bypass &amp; Config Drift:</a:t>
            </a:r>
            <a:r>
              <a:rPr sz="1100" b="0">
                <a:solidFill>
                  <a:srgbClr val="57534A"/>
                </a:solidFill>
                <a:latin typeface="Inter"/>
              </a:rPr>
              <a:t> Flags unauthenticated administrative routes and permissive CORS.</a:t>
            </a:r>
          </a:p>
          <a:p>
            <a:pPr algn="l"/>
            <a:r>
              <a:rPr sz="1080" b="1">
                <a:solidFill>
                  <a:srgbClr val="9A7B1C"/>
                </a:solidFill>
                <a:latin typeface="JetBrains Mono"/>
              </a:rPr>
              <a:t>[ 0 False-Positive Redaction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38528"/>
            <a:ext cx="5376672" cy="2423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Inter"/>
              </a:rPr>
              <a:t>3. Automated AST Patching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Syntax Patch Viewer:</a:t>
            </a:r>
            <a:r>
              <a:rPr sz="1250" b="0">
                <a:solidFill>
                  <a:srgbClr val="57534A"/>
                </a:solidFill>
                <a:latin typeface="Inter"/>
              </a:rPr>
              <a:t> Generates verified, syntactically correct AST replacement patches.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Parameterized Queries:</a:t>
            </a:r>
            <a:r>
              <a:rPr sz="1250" b="0">
                <a:solidFill>
                  <a:srgbClr val="57534A"/>
                </a:solidFill>
                <a:latin typeface="Inter"/>
              </a:rPr>
              <a:t> Transforms concatenated SQL into safe parameterized calls.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Inter"/>
              </a:rPr>
              <a:t>• One-Click CLI Fix:</a:t>
            </a:r>
            <a:r>
              <a:rPr sz="1250" b="0">
                <a:solidFill>
                  <a:srgbClr val="57534A"/>
                </a:solidFill>
                <a:latin typeface="Inter"/>
              </a:rPr>
              <a:t> Run reposcope security --fix to apply patches to the working tree.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[ 1-Click Syntactic Code Patches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617720"/>
            <a:ext cx="5376672" cy="1453896"/>
          </a:xfrm>
          <a:prstGeom prst="roundRect">
            <a:avLst>
              <a:gd name="adj" fmla="val 3500"/>
            </a:avLst>
          </a:prstGeom>
          <a:solidFill>
            <a:srgbClr val="1E222B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0B981"/>
                </a:solidFill>
                <a:latin typeface="JetBrains Mono"/>
              </a:rPr>
              <a:t>AST SYNTACTIC PATCH &amp; CLI REMEDIATION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89DDFF"/>
                </a:solidFill>
                <a:latin typeface="JetBrains Mono"/>
              </a:rPr>
              <a:t>- cursor.execute(f"SELECT * FROM users WHERE id = {uid}")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89DDFF"/>
                </a:solidFill>
                <a:latin typeface="JetBrains Mono"/>
              </a:rPr>
              <a:t>+ cursor.execute("SELECT * FROM users WHERE id = ?", (uid,))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89DDFF"/>
                </a:solidFill>
                <a:latin typeface="JetBrains Mono"/>
              </a:rPr>
              <a:t>$ reposcope security --fix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07 • DEVELOPER ONBOARDING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Turn Complex Codebases into Structured, Topological Learning Paths.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Kahn DAG curriculum tiers and interactive guided tours replace scattered wiki pages and tribal meetings.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1. Topological Curriculum (Kahn DAG)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Tier L1 (Core Foundations):</a:t>
            </a:r>
            <a:r>
              <a:rPr sz="1200" b="0">
                <a:solidFill>
                  <a:srgbClr val="57534A"/>
                </a:solidFill>
                <a:latin typeface="Inter"/>
              </a:rPr>
              <a:t> Zero-dependency base utilities, data models, and schemas.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Tier L2 (Domain Services):</a:t>
            </a:r>
            <a:r>
              <a:rPr sz="1200" b="0">
                <a:solidFill>
                  <a:srgbClr val="57534A"/>
                </a:solidFill>
                <a:latin typeface="Inter"/>
              </a:rPr>
              <a:t> Business logic engines and repository data pipelines.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Tier L3 (APIs &amp; Routes):</a:t>
            </a:r>
            <a:r>
              <a:rPr sz="1200" b="0">
                <a:solidFill>
                  <a:srgbClr val="57534A"/>
                </a:solidFill>
                <a:latin typeface="Inter"/>
              </a:rPr>
              <a:t> HTTP controllers, REST routes, and auth middleware.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Tier L4 (Integrations &amp; UI):</a:t>
            </a:r>
            <a:r>
              <a:rPr sz="1200" b="0">
                <a:solidFill>
                  <a:srgbClr val="57534A"/>
                </a:solidFill>
                <a:latin typeface="Inter"/>
              </a:rPr>
              <a:t> Frontend views, external APIs, and CLI commands.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L1–L4 Kahn DAG Topological Sort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22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2. Interactive Architectural Katas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'Why It Matters' Notes:</a:t>
            </a:r>
            <a:r>
              <a:rPr sz="1200" b="0">
                <a:solidFill>
                  <a:srgbClr val="57534A"/>
                </a:solidFill>
                <a:latin typeface="Inter"/>
              </a:rPr>
              <a:t> Human-readable architectural role summaries for every module.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Checkpoint Quizzes:</a:t>
            </a:r>
            <a:r>
              <a:rPr sz="1200" b="0">
                <a:solidFill>
                  <a:srgbClr val="57534A"/>
                </a:solidFill>
                <a:latin typeface="Inter"/>
              </a:rPr>
              <a:t> Interactive challenges test understanding of data flows.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Canvas Highlighting:</a:t>
            </a:r>
            <a:r>
              <a:rPr sz="1200" b="0">
                <a:solidFill>
                  <a:srgbClr val="57534A"/>
                </a:solidFill>
                <a:latin typeface="Inter"/>
              </a:rPr>
              <a:t> Selecting tiers illuminates the exact path on the graph.</a:t>
            </a:r>
          </a:p>
          <a:p>
            <a:pPr algn="l"/>
            <a:r>
              <a:rPr sz="1150" b="1">
                <a:solidFill>
                  <a:srgbClr val="9A7B1C"/>
                </a:solidFill>
                <a:latin typeface="JetBrains Mono"/>
              </a:rPr>
              <a:t>[ 'Why It Matters' Knowledge Quizzes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8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3. 4 Deterministic CodeTours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System Overview Tour:</a:t>
            </a:r>
            <a:r>
              <a:rPr sz="1200" b="0">
                <a:solidFill>
                  <a:srgbClr val="57534A"/>
                </a:solidFill>
                <a:latin typeface="Inter"/>
              </a:rPr>
              <a:t> 7-step orientation guiding developers through entry points.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Security &amp; Auth Track:</a:t>
            </a:r>
            <a:r>
              <a:rPr sz="1200" b="0">
                <a:solidFill>
                  <a:srgbClr val="57534A"/>
                </a:solidFill>
                <a:latin typeface="Inter"/>
              </a:rPr>
              <a:t> Follows request authentication to permission checks.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Request Lifecycle:</a:t>
            </a:r>
            <a:r>
              <a:rPr sz="1200" b="0">
                <a:solidFill>
                  <a:srgbClr val="57534A"/>
                </a:solidFill>
                <a:latin typeface="Inter"/>
              </a:rPr>
              <a:t> Traces HTTP requests from routing to database commit.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VS Code .tour Export:</a:t>
            </a:r>
            <a:r>
              <a:rPr sz="1200" b="0">
                <a:solidFill>
                  <a:srgbClr val="57534A"/>
                </a:solidFill>
                <a:latin typeface="Inter"/>
              </a:rPr>
              <a:t> Exports guided tracks to standard .tour files for IDE playback.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Native VS Code .tour Playback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08 • PROMPT ENGINEERING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Compile Real Repository Architecture into Structured LLM Prompts.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Deliver pristine, token-optimized context packs directly into Claude, ChatGPT, Cursor, and Gemini.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11002975" cy="658368"/>
          </a:xfrm>
          <a:prstGeom prst="roundRect">
            <a:avLst>
              <a:gd name="adj" fmla="val 3500"/>
            </a:avLst>
          </a:prstGeom>
          <a:solidFill>
            <a:srgbClr val="1E222B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  <a:r>
              <a:rPr sz="1300" b="1">
                <a:solidFill>
                  <a:srgbClr val="89DDFF"/>
                </a:solidFill>
                <a:latin typeface="JetBrains Mono"/>
              </a:rPr>
              <a:t>TOKEN OPTIMIZATION ENGINE:  50,000-Token Raw Dump  ──►  3,000-Token 2-Hop Closure Blueprint  (85–92% Token Savings)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16352"/>
            <a:ext cx="3483864" cy="32735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Inter"/>
              </a:rPr>
              <a:t>1. Context &amp; Feature Slice Modes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Context Mode:</a:t>
            </a:r>
            <a:r>
              <a:rPr sz="1200" b="0">
                <a:solidFill>
                  <a:srgbClr val="57534A"/>
                </a:solidFill>
                <a:latin typeface="Inter"/>
              </a:rPr>
              <a:t> Synthesizes overview, module boundaries, and conventions into an executive prompt.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Feature Slice Mode:</a:t>
            </a:r>
            <a:r>
              <a:rPr sz="1200" b="0">
                <a:solidFill>
                  <a:srgbClr val="57534A"/>
                </a:solidFill>
                <a:latin typeface="Inter"/>
              </a:rPr>
              <a:t> Extracts target feature plus its exact 2-hop interface closure.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85–92% Token Savings:</a:t>
            </a:r>
            <a:r>
              <a:rPr sz="1200" b="0">
                <a:solidFill>
                  <a:srgbClr val="57534A"/>
                </a:solidFill>
                <a:latin typeface="Inter"/>
              </a:rPr>
              <a:t> Replaces massive 50k dumps with 3k-token context blueprints.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[ 2-Hop Closure • 85–92% Token Savings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816352"/>
            <a:ext cx="3483864" cy="32735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2. Rebuild Spec &amp; Test Suite Modes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Rebuild Spec Mode:</a:t>
            </a:r>
            <a:r>
              <a:rPr sz="1200" b="0">
                <a:solidFill>
                  <a:srgbClr val="57534A"/>
                </a:solidFill>
                <a:latin typeface="Inter"/>
              </a:rPr>
              <a:t> Generates specifications, schemas, and API contracts to re-implement modules.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Test Suite Mode:</a:t>
            </a:r>
            <a:r>
              <a:rPr sz="1200" b="0">
                <a:solidFill>
                  <a:srgbClr val="57534A"/>
                </a:solidFill>
                <a:latin typeface="Inter"/>
              </a:rPr>
              <a:t> Analyzes call hierarchies to construct targeted test suites.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Contract Assertions:</a:t>
            </a:r>
            <a:r>
              <a:rPr sz="1200" b="0">
                <a:solidFill>
                  <a:srgbClr val="57534A"/>
                </a:solidFill>
                <a:latin typeface="Inter"/>
              </a:rPr>
              <a:t> Prompts include AST assertions enforcing strict types.</a:t>
            </a:r>
          </a:p>
          <a:p>
            <a:pPr algn="l"/>
            <a:r>
              <a:rPr sz="1150" b="1">
                <a:solidFill>
                  <a:srgbClr val="9A7B1C"/>
                </a:solidFill>
                <a:latin typeface="JetBrains Mono"/>
              </a:rPr>
              <a:t>[ Contract-First Rebuild &amp; Test Specs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8" y="2816352"/>
            <a:ext cx="3483864" cy="327355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3. Interactive Compiler UI &amp; CLI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Modal Selector:</a:t>
            </a:r>
            <a:r>
              <a:rPr sz="1200" b="0">
                <a:solidFill>
                  <a:srgbClr val="57534A"/>
                </a:solidFill>
                <a:latin typeface="Inter"/>
              </a:rPr>
              <a:t> Select target nodes, toggle mode, and preview markdown in real-time.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Clipboard Copy:</a:t>
            </a:r>
            <a:r>
              <a:rPr sz="1200" b="0">
                <a:solidFill>
                  <a:srgbClr val="57534A"/>
                </a:solidFill>
                <a:latin typeface="Inter"/>
              </a:rPr>
              <a:t> One click copies token-counted blueprint directly to clipboard.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Headless CLI:</a:t>
            </a:r>
            <a:r>
              <a:rPr sz="1200" b="0">
                <a:solidFill>
                  <a:srgbClr val="57534A"/>
                </a:solidFill>
                <a:latin typeface="Inter"/>
              </a:rPr>
              <a:t> Run reposcope prompt --mode feature --target &lt;symbol&gt;.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Instant Clipboard Copy &amp; CLI Engine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09 • REPOSITORY INTELLIGENCE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Universal Assistant: Zero-Hallucination Q&amp;A with AST Citations.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Ask questions about your codebase. Get streaming answers backed by clickable, verified AST citations.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38528"/>
            <a:ext cx="5358384" cy="1938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0B981"/>
                </a:solidFill>
                <a:latin typeface="Inter"/>
              </a:rPr>
              <a:t>1. AST-Verified Citation Engine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Zero-Hallucination Guarantee:</a:t>
            </a:r>
            <a:r>
              <a:rPr sz="1100" b="0">
                <a:solidFill>
                  <a:srgbClr val="57534A"/>
                </a:solidFill>
                <a:latin typeface="Inter"/>
              </a:rPr>
              <a:t> Code quotes are cross-referenced with .reposcope/graph.json.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Green Pill Badges:</a:t>
            </a:r>
            <a:r>
              <a:rPr sz="1100" b="0">
                <a:solidFill>
                  <a:srgbClr val="57534A"/>
                </a:solidFill>
                <a:latin typeface="Inter"/>
              </a:rPr>
              <a:t> Verified references render with a green badge and exact coordinates.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Interactive Snapping:</a:t>
            </a:r>
            <a:r>
              <a:rPr sz="1100" b="0">
                <a:solidFill>
                  <a:srgbClr val="57534A"/>
                </a:solidFill>
                <a:latin typeface="Inter"/>
              </a:rPr>
              <a:t> Clicking citations focuses the node and opens the file in VS Code.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[ 0% Hallucination Guarantee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938528"/>
            <a:ext cx="5358384" cy="19385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Inter"/>
              </a:rPr>
              <a:t>2. Universal Action Cards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Embedded UI Cards:</a:t>
            </a:r>
            <a:r>
              <a:rPr sz="1100" b="0">
                <a:solidFill>
                  <a:srgbClr val="57534A"/>
                </a:solidFill>
                <a:latin typeface="Inter"/>
              </a:rPr>
              <a:t> Assistant responses include actionable UI buttons in the stream.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[Launch Tour] &amp; [Run Security Audit]:</a:t>
            </a:r>
            <a:r>
              <a:rPr sz="1100" b="0">
                <a:solidFill>
                  <a:srgbClr val="57534A"/>
                </a:solidFill>
                <a:latin typeface="Inter"/>
              </a:rPr>
              <a:t> Begin guided walkthroughs or trigger scans instantly.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[Simulate Blast Radius]:</a:t>
            </a:r>
            <a:r>
              <a:rPr sz="1100" b="0">
                <a:solidFill>
                  <a:srgbClr val="57534A"/>
                </a:solidFill>
                <a:latin typeface="Inter"/>
              </a:rPr>
              <a:t> Simulates impact of suggested refactorings directly from chat.</a:t>
            </a:r>
          </a:p>
          <a:p>
            <a:pPr algn="l"/>
            <a:r>
              <a:rPr sz="1080" b="1">
                <a:solidFill>
                  <a:srgbClr val="9A7B1C"/>
                </a:solidFill>
                <a:latin typeface="JetBrains Mono"/>
              </a:rPr>
              <a:t>[ Contextual Action Cards in Stream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133087"/>
            <a:ext cx="5358384" cy="1938528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Inter"/>
              </a:rPr>
              <a:t>3. BYOK Multi-Model Flexibility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Bring Your Own Key:</a:t>
            </a:r>
            <a:r>
              <a:rPr sz="1100" b="0">
                <a:solidFill>
                  <a:srgbClr val="57534A"/>
                </a:solidFill>
                <a:latin typeface="Inter"/>
              </a:rPr>
              <a:t> Connect Google Gemini, Anthropic Claude, OpenAI, or DeepSeek.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100% Local LLM:</a:t>
            </a:r>
            <a:r>
              <a:rPr sz="1100" b="0">
                <a:solidFill>
                  <a:srgbClr val="57534A"/>
                </a:solidFill>
                <a:latin typeface="Inter"/>
              </a:rPr>
              <a:t> Route queries to local Ollama / LM Studio endpoints.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Streaming SSE:</a:t>
            </a:r>
            <a:r>
              <a:rPr sz="1100" b="0">
                <a:solidFill>
                  <a:srgbClr val="57534A"/>
                </a:solidFill>
                <a:latin typeface="Inter"/>
              </a:rPr>
              <a:t> Fluid token-by-token delivery with low latency.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Gemini • Claude • OpenAI • Ollama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4133087"/>
            <a:ext cx="5358384" cy="1938528"/>
          </a:xfrm>
          <a:prstGeom prst="roundRect">
            <a:avLst>
              <a:gd name="adj" fmla="val 3500"/>
            </a:avLst>
          </a:prstGeom>
          <a:solidFill>
            <a:srgbClr val="1E222B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0B981"/>
                </a:solidFill>
                <a:latin typeface="JetBrains Mono"/>
              </a:rPr>
              <a:t>VERIFIED CITATION &amp; ACTION STREAM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89DDFF"/>
                </a:solidFill>
                <a:latin typeface="JetBrains Mono"/>
              </a:rPr>
              <a:t>Citation: [✓ backend/graph_builder.py:142 (build_graph)]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89DDFF"/>
                </a:solidFill>
                <a:latin typeface="JetBrains Mono"/>
              </a:rPr>
              <a:t>Citation: [✓ backend/security.py:88 (trace_taint_flow)]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9DDFF"/>
                </a:solidFill>
                <a:latin typeface="JetBrains Mono"/>
              </a:rPr>
              <a:t>Actions:  [Launch Tour]  [Run Security Audit]  [Simulate Blast Radius]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reposcope://open?file=backend/graph_builder.py&amp;line=142 ]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10 • PRODUCTIVITY &amp; HEALTH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Executable Scaffolding and Deep Repository Health Telemetry.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Spin up clean architectural starter kits in seconds and identify high-risk co-change hotspots.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1. Clean Architecture Scaffolder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Executable Starter Kits:</a:t>
            </a:r>
            <a:r>
              <a:rPr sz="1200" b="0">
                <a:solidFill>
                  <a:srgbClr val="57534A"/>
                </a:solidFill>
                <a:latin typeface="Inter"/>
              </a:rPr>
              <a:t> Multi-file scaffolds for FastAPI, React, and Go.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Hexagonal Clean Patterns:</a:t>
            </a:r>
            <a:r>
              <a:rPr sz="1200" b="0">
                <a:solidFill>
                  <a:srgbClr val="57534A"/>
                </a:solidFill>
                <a:latin typeface="Inter"/>
              </a:rPr>
              <a:t> Enforces domain isolation, repository interfaces, and test mocks.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Interactive Preview:</a:t>
            </a:r>
            <a:r>
              <a:rPr sz="1200" b="0">
                <a:solidFill>
                  <a:srgbClr val="57534A"/>
                </a:solidFill>
                <a:latin typeface="Inter"/>
              </a:rPr>
              <a:t> Inspect generated file hierarchies and code in the UI.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CLI Execution:</a:t>
            </a:r>
            <a:r>
              <a:rPr sz="1200" b="0">
                <a:solidFill>
                  <a:srgbClr val="57534A"/>
                </a:solidFill>
                <a:latin typeface="Inter"/>
              </a:rPr>
              <a:t> Copy-paste one-line CLI command to scaffold new modules.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Executable Multi-File Scaffolds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22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A7B1C"/>
                </a:solidFill>
                <a:latin typeface="Inter"/>
              </a:rPr>
              <a:t>2. Git Churn &amp; Co-Change Hotspots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Commit Churn:</a:t>
            </a:r>
            <a:r>
              <a:rPr sz="1200" b="0">
                <a:solidFill>
                  <a:srgbClr val="57534A"/>
                </a:solidFill>
                <a:latin typeface="Inter"/>
              </a:rPr>
              <a:t> Analyzes git history (HEAD~10..HEAD) against AST complexity.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Co-Change Coupling:</a:t>
            </a:r>
            <a:r>
              <a:rPr sz="1200" b="0">
                <a:solidFill>
                  <a:srgbClr val="57534A"/>
                </a:solidFill>
                <a:latin typeface="Inter"/>
              </a:rPr>
              <a:t> Discovers hidden temporal dependencies between files.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Drift Warnings:</a:t>
            </a:r>
            <a:r>
              <a:rPr sz="1200" b="0">
                <a:solidFill>
                  <a:srgbClr val="57534A"/>
                </a:solidFill>
                <a:latin typeface="Inter"/>
              </a:rPr>
              <a:t> Warns when frequently changed files gain excessive dependencies.</a:t>
            </a:r>
          </a:p>
          <a:p>
            <a:pPr algn="l"/>
            <a:r>
              <a:rPr sz="1150" b="1">
                <a:solidFill>
                  <a:srgbClr val="9A7B1C"/>
                </a:solidFill>
                <a:latin typeface="JetBrains Mono"/>
              </a:rPr>
              <a:t>[ Git Diff Churn &amp; Coupling Matrix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0728" y="1965960"/>
            <a:ext cx="3483864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3. Engineering Health Metrics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Bus Factor:</a:t>
            </a:r>
            <a:r>
              <a:rPr sz="1200" b="0">
                <a:solidFill>
                  <a:srgbClr val="57534A"/>
                </a:solidFill>
                <a:latin typeface="Inter"/>
              </a:rPr>
              <a:t> Identifies critical modules maintained by single contributors.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Cycle &amp; Dead Code:</a:t>
            </a:r>
            <a:r>
              <a:rPr sz="1200" b="0">
                <a:solidFill>
                  <a:srgbClr val="57534A"/>
                </a:solidFill>
                <a:latin typeface="Inter"/>
              </a:rPr>
              <a:t> Calculates Tarjan SCC cycles and finds unreachable symbols.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PageRank Hubs:</a:t>
            </a:r>
            <a:r>
              <a:rPr sz="1200" b="0">
                <a:solidFill>
                  <a:srgbClr val="57534A"/>
                </a:solidFill>
                <a:latin typeface="Inter"/>
              </a:rPr>
              <a:t> Ranks the top 10 most influential backbone components.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PageRank Hubs &amp; Bus Factor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11 • INTEGRATION &amp; PRIVACY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The Graph Follows Your Editor. 100% Local-First Privacy.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Real-time IDE intelligence without sending a single line of proprietary code to external clouds.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38528"/>
            <a:ext cx="11002975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0B981"/>
                </a:solidFill>
                <a:latin typeface="Inter"/>
              </a:rPr>
              <a:t>1. Native VS Code / Cursor Extension (open-vsx.org/extension/adityapatel5912/reposcope)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Live Status Bar:</a:t>
            </a:r>
            <a:r>
              <a:rPr sz="1100" b="0">
                <a:solidFill>
                  <a:srgbClr val="57534A"/>
                </a:solidFill>
                <a:latin typeface="Inter"/>
              </a:rPr>
              <a:t> Real-time dependent count and risk level for active file.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CodeLens Callers:</a:t>
            </a:r>
            <a:r>
              <a:rPr sz="1100" b="0">
                <a:solidFill>
                  <a:srgbClr val="57534A"/>
                </a:solidFill>
                <a:latin typeface="Inter"/>
              </a:rPr>
              <a:t> Click 'View Callers (6)' directly above exported functions.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Activity Bar Mini-Graph:</a:t>
            </a:r>
            <a:r>
              <a:rPr sz="1100" b="0">
                <a:solidFill>
                  <a:srgbClr val="57534A"/>
                </a:solidFill>
                <a:latin typeface="Inter"/>
              </a:rPr>
              <a:t> Renders 2-hop neighborhood around open file.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Open VSX Registry:</a:t>
            </a:r>
            <a:r>
              <a:rPr sz="1100" b="0">
                <a:solidFill>
                  <a:srgbClr val="57534A"/>
                </a:solidFill>
                <a:latin typeface="Inter"/>
              </a:rPr>
              <a:t> Packaged and distributed on Open VSX (adityapatel5912.reposcope).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Live Status Bar &amp; CodeLens Callers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069080"/>
            <a:ext cx="5358384" cy="201168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A1A1A"/>
                </a:solidFill>
                <a:latin typeface="Inter"/>
              </a:rPr>
              <a:t>2. Zero-Upload Local Privacy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Localhost Architecture:</a:t>
            </a:r>
            <a:r>
              <a:rPr sz="1100" b="0">
                <a:solidFill>
                  <a:srgbClr val="57534A"/>
                </a:solidFill>
                <a:latin typeface="Inter"/>
              </a:rPr>
              <a:t> reposcope run . executes 100% on localhost (127.0.0.1:4100).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Air-Gapped Compliance:</a:t>
            </a:r>
            <a:r>
              <a:rPr sz="1100" b="0">
                <a:solidFill>
                  <a:srgbClr val="57534A"/>
                </a:solidFill>
                <a:latin typeface="Inter"/>
              </a:rPr>
              <a:t> Run safely on sensitive enterprise codebases with zero leakage.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In-Memory AST Caching:</a:t>
            </a:r>
            <a:r>
              <a:rPr sz="1100" b="0">
                <a:solidFill>
                  <a:srgbClr val="57534A"/>
                </a:solidFill>
                <a:latin typeface="Inter"/>
              </a:rPr>
              <a:t> Sub-millisecond graph queries served from local memory.</a:t>
            </a:r>
          </a:p>
          <a:p>
            <a:pPr algn="l"/>
            <a:r>
              <a:rPr sz="1080" b="1">
                <a:solidFill>
                  <a:srgbClr val="10B981"/>
                </a:solidFill>
                <a:latin typeface="JetBrains Mono"/>
              </a:rPr>
              <a:t>[ 100% Localhost Zero Telemetry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4069080"/>
            <a:ext cx="5358384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73152" bIns="73152"/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9A7B1C"/>
                </a:solidFill>
                <a:latin typeface="Inter"/>
              </a:rPr>
              <a:t>3. Browser-Local WASM Engine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showDirectoryPicker API:</a:t>
            </a:r>
            <a:r>
              <a:rPr sz="1100" b="0">
                <a:solidFill>
                  <a:srgbClr val="57534A"/>
                </a:solidFill>
                <a:latin typeface="Inter"/>
              </a:rPr>
              <a:t> Open repository folders in Chrome/Edge directly.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Tree-sitter WASM:</a:t>
            </a:r>
            <a:r>
              <a:rPr sz="1100" b="0">
                <a:solidFill>
                  <a:srgbClr val="57534A"/>
                </a:solidFill>
                <a:latin typeface="Inter"/>
              </a:rPr>
              <a:t> Parses code directly inside the browser sandbox: 75+ files in &lt;2s.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• Zero-Install Demos:</a:t>
            </a:r>
            <a:r>
              <a:rPr sz="1100" b="0">
                <a:solidFill>
                  <a:srgbClr val="57534A"/>
                </a:solidFill>
                <a:latin typeface="Inter"/>
              </a:rPr>
              <a:t> Test RepoScope instantly on sample repos without terminal setup.</a:t>
            </a:r>
          </a:p>
          <a:p>
            <a:pPr algn="l"/>
            <a:r>
              <a:rPr sz="1080" b="1">
                <a:solidFill>
                  <a:srgbClr val="9A7B1C"/>
                </a:solidFill>
                <a:latin typeface="JetBrains Mono"/>
              </a:rPr>
              <a:t>[ In-Browser Tree-sitter WASM Engine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12 • PROOF &amp; VALIDATION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1A"/>
                </a:solidFill>
                <a:latin typeface="Inter"/>
              </a:rPr>
              <a:t>Empirical Evidence: 92% Token Reduction and 4.3× Faster Tasks.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57534A"/>
                </a:solidFill>
                <a:latin typeface="Inter"/>
              </a:rPr>
              <a:t>Rigorous automated testing and benchmark validation across speed, accuracy, and token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3483864" cy="960120"/>
          </a:xfrm>
          <a:prstGeom prst="roundRect">
            <a:avLst>
              <a:gd name="adj" fmla="val 3500"/>
            </a:avLst>
          </a:prstGeom>
          <a:solidFill>
            <a:srgbClr val="1E222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10B981"/>
                </a:solidFill>
                <a:latin typeface="JetBrains Mono"/>
              </a:rPr>
              <a:t>92%  —  Agent Token Savings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108960"/>
            <a:ext cx="3483864" cy="2971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Inter"/>
              </a:rPr>
              <a:t>Agent Token Savings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45k → 3.6k Tokens:</a:t>
            </a:r>
            <a:r>
              <a:rPr sz="1200" b="0">
                <a:solidFill>
                  <a:srgbClr val="57534A"/>
                </a:solidFill>
                <a:latin typeface="Inter"/>
              </a:rPr>
              <a:t> Feature Slice reverse-prompts eliminate 92% of redundant context tokens.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$1,400+ Cost Savings:</a:t>
            </a:r>
            <a:r>
              <a:rPr sz="1200" b="0">
                <a:solidFill>
                  <a:srgbClr val="57534A"/>
                </a:solidFill>
                <a:latin typeface="Inter"/>
              </a:rPr>
              <a:t> Massive token reduction drastically cuts LLM API spend across teams.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Eliminates Context Drift:</a:t>
            </a:r>
            <a:r>
              <a:rPr sz="1200" b="0">
                <a:solidFill>
                  <a:srgbClr val="57534A"/>
                </a:solidFill>
                <a:latin typeface="Inter"/>
              </a:rPr>
              <a:t> Focusing strictly on 2-hop closures prevents hallucinations.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[ 45,000 → 3,600 Tokens (92% Cut)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920240"/>
            <a:ext cx="3483864" cy="96012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9A7B1C"/>
                </a:solidFill>
                <a:latin typeface="JetBrains Mono"/>
              </a:rPr>
              <a:t>4.3×  —  Faster Task Completion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3108960"/>
            <a:ext cx="3483864" cy="2971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Inter"/>
              </a:rPr>
              <a:t>Faster Task Completion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Sub-Second Navigation:</a:t>
            </a:r>
            <a:r>
              <a:rPr sz="1200" b="0">
                <a:solidFill>
                  <a:srgbClr val="57534A"/>
                </a:solidFill>
                <a:latin typeface="Inter"/>
              </a:rPr>
              <a:t> calculate_blast_radius and get_repo_map target symbols instantly.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12.8s vs. 54.2s Bug Fixes:</a:t>
            </a:r>
            <a:r>
              <a:rPr sz="1200" b="0">
                <a:solidFill>
                  <a:srgbClr val="57534A"/>
                </a:solidFill>
                <a:latin typeface="Inter"/>
              </a:rPr>
              <a:t> Agents fix multi-file bugs 4.3× faster than with flat search.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Zero Broken PR Merges:</a:t>
            </a:r>
            <a:r>
              <a:rPr sz="1200" b="0">
                <a:solidFill>
                  <a:srgbClr val="57534A"/>
                </a:solidFill>
                <a:latin typeface="Inter"/>
              </a:rPr>
              <a:t> Contract break checks catch 100% of breaking changes.</a:t>
            </a:r>
          </a:p>
          <a:p>
            <a:pPr algn="l"/>
            <a:r>
              <a:rPr sz="1150" b="1">
                <a:solidFill>
                  <a:srgbClr val="9A7B1C"/>
                </a:solidFill>
                <a:latin typeface="JetBrains Mono"/>
              </a:rPr>
              <a:t>[ 12.8s vs. 54.2s Multi-File Resolution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8" y="1920240"/>
            <a:ext cx="3483864" cy="960120"/>
          </a:xfrm>
          <a:prstGeom prst="roundRect">
            <a:avLst>
              <a:gd name="adj" fmla="val 3500"/>
            </a:avLst>
          </a:prstGeom>
          <a:solidFill>
            <a:srgbClr val="F2EDE2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900" b="1">
                <a:solidFill>
                  <a:srgbClr val="1A1A1A"/>
                </a:solidFill>
                <a:latin typeface="JetBrains Mono"/>
              </a:rPr>
              <a:t>335+  —  Verified 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0728" y="3108960"/>
            <a:ext cx="3483864" cy="2971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1440" bIns="9144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A1A1A"/>
                </a:solidFill>
                <a:latin typeface="Inter"/>
              </a:rPr>
              <a:t>Verified Automated Tests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Pytest Test Suite:</a:t>
            </a:r>
            <a:r>
              <a:rPr sz="1200" b="0">
                <a:solidFill>
                  <a:srgbClr val="57534A"/>
                </a:solidFill>
                <a:latin typeface="Inter"/>
              </a:rPr>
              <a:t> 335 passing backend unit, integration, and security tests.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Playwright E2E Suite:</a:t>
            </a:r>
            <a:r>
              <a:rPr sz="1200" b="0">
                <a:solidFill>
                  <a:srgbClr val="57534A"/>
                </a:solidFill>
                <a:latin typeface="Inter"/>
              </a:rPr>
              <a:t> End-to-end browser tests verifying graph at 2x Retina DPI.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• Source-Available 1.0:</a:t>
            </a:r>
            <a:r>
              <a:rPr sz="1200" b="0">
                <a:solidFill>
                  <a:srgbClr val="57534A"/>
                </a:solidFill>
                <a:latin typeface="Inter"/>
              </a:rPr>
              <a:t> Free to inspect, customize, and self-host for internal teams.</a:t>
            </a:r>
          </a:p>
          <a:p>
            <a:pPr algn="l"/>
            <a:r>
              <a:rPr sz="1150" b="1">
                <a:solidFill>
                  <a:srgbClr val="10B981"/>
                </a:solidFill>
                <a:latin typeface="JetBrains Mono"/>
              </a:rPr>
              <a:t>[ 335+ Pytest &amp; Playwright Tests Pass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7534A"/>
                </a:solidFill>
                <a:latin typeface="JetBrains Mono"/>
              </a:rPr>
              <a:t>RepoScope v2.8 • The Graph Operating System for AI Coding Agents &amp; Human Engineers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329184"/>
            <a:ext cx="438912" cy="4389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94360" y="310896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0B981"/>
                </a:solidFill>
                <a:latin typeface="JetBrains Mono"/>
              </a:rPr>
              <a:t>13 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Get Started with RepoScope in 30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7534A"/>
                </a:solidFill>
                <a:latin typeface="Inter"/>
              </a:rPr>
              <a:t>Turn your codebase into a living, queryable code graph today.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011680"/>
          <a:ext cx="1100297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JetBrains Mono"/>
                        </a:rPr>
                        <a:t>1. QUICKSTART INSTALL</a:t>
                      </a:r>
                    </a:p>
                  </a:txBody>
                  <a:tcPr anchor="ctr" marL="164592" marR="164592" marT="109728" marB="109728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JetBrains Mono"/>
                        </a:rPr>
                        <a:t>2. CONNECT YOUR AGENTS</a:t>
                      </a:r>
                    </a:p>
                  </a:txBody>
                  <a:tcPr anchor="ctr" marL="164592" marR="164592" marT="109728" marB="109728"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50" b="1">
                          <a:solidFill>
                            <a:srgbClr val="1A1A1A"/>
                          </a:solidFill>
                          <a:latin typeface="JetBrains Mono"/>
                        </a:rPr>
                        <a:t>3. JOIN THE COMMUNITY</a:t>
                      </a:r>
                    </a:p>
                  </a:txBody>
                  <a:tcPr anchor="ctr" marL="164592" marR="164592" marT="109728" marB="109728">
                    <a:solidFill>
                      <a:srgbClr val="10B981"/>
                    </a:solidFill>
                  </a:tcPr>
                </a:tc>
              </a:tr>
              <a:tr h="150876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50" b="0">
                          <a:solidFill>
                            <a:srgbClr val="89DDFF"/>
                          </a:solidFill>
                          <a:latin typeface="JetBrains Mono"/>
                        </a:rPr>
                        <a:t>$ pip install reposcope
$ reposcope run .
# Or via npm:
$ npx @reposcope/cli run .</a:t>
                      </a:r>
                    </a:p>
                  </a:txBody>
                  <a:tcPr anchor="ctr" marL="164592" marR="164592" marT="109728" marB="109728">
                    <a:solidFill>
                      <a:srgbClr val="1E22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50" b="0">
                          <a:solidFill>
                            <a:srgbClr val="89DDFF"/>
                          </a:solidFill>
                          <a:latin typeface="JetBrains Mono"/>
                        </a:rPr>
                        <a:t>$ reposcope mcp . --apply-all
# Auto-configures 9 agents:
# Claude, Cursor, OpenCode, Codex...</a:t>
                      </a:r>
                    </a:p>
                  </a:txBody>
                  <a:tcPr anchor="ctr" marL="164592" marR="164592" marT="109728" marB="109728">
                    <a:solidFill>
                      <a:srgbClr val="1E22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00" b="0">
                          <a:solidFill>
                            <a:srgbClr val="89DDFF"/>
                          </a:solidFill>
                          <a:latin typeface="JetBrains Mono"/>
                        </a:rPr>
                        <a:t>GitHub:
github.com/adityapatel5912/RepoScope
VS Code / Open VSX:
adityapatel5912.reposcope</a:t>
                      </a:r>
                    </a:p>
                  </a:txBody>
                  <a:tcPr anchor="ctr" marL="164592" marR="164592" marT="109728" marB="109728">
                    <a:solidFill>
                      <a:srgbClr val="1E222B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Inter"/>
                        </a:rPr>
                        <a:t>Serves on 127.0.0.1:4100 with zero cloud configuration.
[ Terminal In-Place Runner ]</a:t>
                      </a:r>
                    </a:p>
                  </a:txBody>
                  <a:tcPr anchor="ctr"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Inter"/>
                        </a:rPr>
                        <a:t>Writes verified MCP configs for Claude Code, Cursor, OpenCode, Codex &amp; Windsurf.
[ Universal Multi-Agent MCP ]</a:t>
                      </a:r>
                    </a:p>
                  </a:txBody>
                  <a:tcPr anchor="ctr" marL="164592" marR="164592" marT="109728" marB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Inter"/>
                        </a:rPr>
                        <a:t>License: Source-Available License 1.0 (free to inspect, customize &amp; self-host).
[ Free Source-Available 1.0 ]</a:t>
                      </a:r>
                    </a:p>
                  </a:txBody>
                  <a:tcPr anchor="ctr" marL="164592" marR="164592" marT="109728" marB="109728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00" b="1">
                          <a:solidFill>
                            <a:srgbClr val="1A1A1A"/>
                          </a:solidFill>
                          <a:latin typeface="JetBrains Mono"/>
                        </a:rPr>
                        <a:t>RepoScope v2.8  •  One Code Graph.</a:t>
                      </a:r>
                    </a:p>
                  </a:txBody>
                  <a:tcPr anchor="ctr" marL="164592" marR="164592" marT="109728" marB="109728">
                    <a:solidFill>
                      <a:srgbClr val="F2ED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00" b="1">
                          <a:solidFill>
                            <a:srgbClr val="10B981"/>
                          </a:solidFill>
                          <a:latin typeface="JetBrains Mono"/>
                        </a:rPr>
                        <a:t>Shared Across Humans &amp; AI Coding Agents.</a:t>
                      </a:r>
                    </a:p>
                  </a:txBody>
                  <a:tcPr anchor="ctr" marL="164592" marR="164592" marT="109728" marB="109728">
                    <a:solidFill>
                      <a:srgbClr val="F2ED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300" b="1">
                          <a:solidFill>
                            <a:srgbClr val="9A7B1C"/>
                          </a:solidFill>
                          <a:latin typeface="JetBrains Mono"/>
                        </a:rPr>
                        <a:t>100% Local Privacy  •  Zero Context Waste.</a:t>
                      </a:r>
                    </a:p>
                  </a:txBody>
                  <a:tcPr anchor="ctr" marL="164592" marR="164592" marT="109728" marB="109728">
                    <a:solidFill>
                      <a:srgbClr val="F2ED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4360" y="6302044"/>
            <a:ext cx="11002975" cy="14630"/>
          </a:xfrm>
          <a:prstGeom prst="rect">
            <a:avLst/>
          </a:prstGeom>
          <a:solidFill>
            <a:srgbClr val="D6C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85655" y="638251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>
                <a:solidFill>
                  <a:srgbClr val="1A1A1A"/>
                </a:solidFill>
                <a:latin typeface="JetBrains Mono"/>
              </a:rPr>
              <a:t>Slide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